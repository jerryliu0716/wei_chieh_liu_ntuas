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82" r:id="rId2"/>
    <p:sldId id="267" r:id="rId3"/>
    <p:sldId id="268" r:id="rId4"/>
    <p:sldId id="270" r:id="rId5"/>
    <p:sldId id="266" r:id="rId6"/>
    <p:sldId id="275" r:id="rId7"/>
    <p:sldId id="272" r:id="rId8"/>
    <p:sldId id="273" r:id="rId9"/>
    <p:sldId id="274" r:id="rId10"/>
    <p:sldId id="269" r:id="rId11"/>
    <p:sldId id="271" r:id="rId12"/>
    <p:sldId id="276" r:id="rId13"/>
    <p:sldId id="277" r:id="rId14"/>
    <p:sldId id="278" r:id="rId15"/>
    <p:sldId id="279" r:id="rId16"/>
    <p:sldId id="280" r:id="rId17"/>
    <p:sldId id="281" r:id="rId18"/>
    <p:sldId id="265" r:id="rId1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明翰 鍾" userId="e179c696-79c5-4450-b433-5edf96e4f145" providerId="ADAL" clId="{CAE8410F-90EF-4B99-B3DC-AAC755D2E0D3}"/>
    <pc:docChg chg="undo custSel addSld modSld">
      <pc:chgData name="明翰 鍾" userId="e179c696-79c5-4450-b433-5edf96e4f145" providerId="ADAL" clId="{CAE8410F-90EF-4B99-B3DC-AAC755D2E0D3}" dt="2022-04-19T13:31:09.866" v="44" actId="20577"/>
      <pc:docMkLst>
        <pc:docMk/>
      </pc:docMkLst>
      <pc:sldChg chg="addSp modSp">
        <pc:chgData name="明翰 鍾" userId="e179c696-79c5-4450-b433-5edf96e4f145" providerId="ADAL" clId="{CAE8410F-90EF-4B99-B3DC-AAC755D2E0D3}" dt="2022-04-19T13:24:09.972" v="3" actId="208"/>
        <pc:sldMkLst>
          <pc:docMk/>
          <pc:sldMk cId="2381221617" sldId="271"/>
        </pc:sldMkLst>
        <pc:spChg chg="add mod">
          <ac:chgData name="明翰 鍾" userId="e179c696-79c5-4450-b433-5edf96e4f145" providerId="ADAL" clId="{CAE8410F-90EF-4B99-B3DC-AAC755D2E0D3}" dt="2022-04-19T13:24:03.142" v="2" actId="207"/>
          <ac:spMkLst>
            <pc:docMk/>
            <pc:sldMk cId="2381221617" sldId="271"/>
            <ac:spMk id="2" creationId="{8B4D723D-0B30-4D5E-B33E-A3C03CF690E1}"/>
          </ac:spMkLst>
        </pc:spChg>
        <pc:spChg chg="add mod">
          <ac:chgData name="明翰 鍾" userId="e179c696-79c5-4450-b433-5edf96e4f145" providerId="ADAL" clId="{CAE8410F-90EF-4B99-B3DC-AAC755D2E0D3}" dt="2022-04-19T13:24:03.142" v="2" actId="207"/>
          <ac:spMkLst>
            <pc:docMk/>
            <pc:sldMk cId="2381221617" sldId="271"/>
            <ac:spMk id="3" creationId="{2F2C558B-5700-472E-AA01-D5BA163485C3}"/>
          </ac:spMkLst>
        </pc:spChg>
        <pc:spChg chg="add mod">
          <ac:chgData name="明翰 鍾" userId="e179c696-79c5-4450-b433-5edf96e4f145" providerId="ADAL" clId="{CAE8410F-90EF-4B99-B3DC-AAC755D2E0D3}" dt="2022-04-19T13:24:09.972" v="3" actId="208"/>
          <ac:spMkLst>
            <pc:docMk/>
            <pc:sldMk cId="2381221617" sldId="271"/>
            <ac:spMk id="4" creationId="{5DF741A2-AF9A-4764-BCAD-03BF33156BBF}"/>
          </ac:spMkLst>
        </pc:spChg>
      </pc:sldChg>
      <pc:sldChg chg="addSp modSp add">
        <pc:chgData name="明翰 鍾" userId="e179c696-79c5-4450-b433-5edf96e4f145" providerId="ADAL" clId="{CAE8410F-90EF-4B99-B3DC-AAC755D2E0D3}" dt="2022-04-19T13:26:24.320" v="14" actId="1076"/>
        <pc:sldMkLst>
          <pc:docMk/>
          <pc:sldMk cId="1403080677" sldId="276"/>
        </pc:sldMkLst>
        <pc:spChg chg="add mod">
          <ac:chgData name="明翰 鍾" userId="e179c696-79c5-4450-b433-5edf96e4f145" providerId="ADAL" clId="{CAE8410F-90EF-4B99-B3DC-AAC755D2E0D3}" dt="2022-04-19T13:24:34.462" v="5" actId="207"/>
          <ac:spMkLst>
            <pc:docMk/>
            <pc:sldMk cId="1403080677" sldId="276"/>
            <ac:spMk id="2" creationId="{94674BCA-512F-43FB-ABF8-0570A50CF05F}"/>
          </ac:spMkLst>
        </pc:spChg>
        <pc:picChg chg="add mod">
          <ac:chgData name="明翰 鍾" userId="e179c696-79c5-4450-b433-5edf96e4f145" providerId="ADAL" clId="{CAE8410F-90EF-4B99-B3DC-AAC755D2E0D3}" dt="2022-04-19T13:26:24.320" v="14" actId="1076"/>
          <ac:picMkLst>
            <pc:docMk/>
            <pc:sldMk cId="1403080677" sldId="276"/>
            <ac:picMk id="3" creationId="{8736FFE3-9386-4A99-9774-BEEFCC651DB5}"/>
          </ac:picMkLst>
        </pc:picChg>
        <pc:picChg chg="add mod">
          <ac:chgData name="明翰 鍾" userId="e179c696-79c5-4450-b433-5edf96e4f145" providerId="ADAL" clId="{CAE8410F-90EF-4B99-B3DC-AAC755D2E0D3}" dt="2022-04-19T13:26:24.320" v="14" actId="1076"/>
          <ac:picMkLst>
            <pc:docMk/>
            <pc:sldMk cId="1403080677" sldId="276"/>
            <ac:picMk id="4" creationId="{1BB4659E-F9C9-4469-B08D-19FEF95B4DC3}"/>
          </ac:picMkLst>
        </pc:picChg>
        <pc:picChg chg="add mod">
          <ac:chgData name="明翰 鍾" userId="e179c696-79c5-4450-b433-5edf96e4f145" providerId="ADAL" clId="{CAE8410F-90EF-4B99-B3DC-AAC755D2E0D3}" dt="2022-04-19T13:26:24.320" v="14" actId="1076"/>
          <ac:picMkLst>
            <pc:docMk/>
            <pc:sldMk cId="1403080677" sldId="276"/>
            <ac:picMk id="5" creationId="{BD06E769-485D-49A5-94EE-C889A6269DC1}"/>
          </ac:picMkLst>
        </pc:picChg>
        <pc:picChg chg="add mod">
          <ac:chgData name="明翰 鍾" userId="e179c696-79c5-4450-b433-5edf96e4f145" providerId="ADAL" clId="{CAE8410F-90EF-4B99-B3DC-AAC755D2E0D3}" dt="2022-04-19T13:26:14.326" v="11" actId="571"/>
          <ac:picMkLst>
            <pc:docMk/>
            <pc:sldMk cId="1403080677" sldId="276"/>
            <ac:picMk id="6" creationId="{1D83CCA2-516E-42D0-890D-48D971952998}"/>
          </ac:picMkLst>
        </pc:picChg>
        <pc:picChg chg="add mod">
          <ac:chgData name="明翰 鍾" userId="e179c696-79c5-4450-b433-5edf96e4f145" providerId="ADAL" clId="{CAE8410F-90EF-4B99-B3DC-AAC755D2E0D3}" dt="2022-04-19T13:26:14.326" v="11" actId="571"/>
          <ac:picMkLst>
            <pc:docMk/>
            <pc:sldMk cId="1403080677" sldId="276"/>
            <ac:picMk id="7" creationId="{C94D311C-0DFB-430D-94EB-EB4C3FBA9288}"/>
          </ac:picMkLst>
        </pc:picChg>
      </pc:sldChg>
      <pc:sldChg chg="addSp delSp modSp add">
        <pc:chgData name="明翰 鍾" userId="e179c696-79c5-4450-b433-5edf96e4f145" providerId="ADAL" clId="{CAE8410F-90EF-4B99-B3DC-AAC755D2E0D3}" dt="2022-04-19T13:27:30.522" v="19" actId="1076"/>
        <pc:sldMkLst>
          <pc:docMk/>
          <pc:sldMk cId="3242990942" sldId="277"/>
        </pc:sldMkLst>
        <pc:spChg chg="del">
          <ac:chgData name="明翰 鍾" userId="e179c696-79c5-4450-b433-5edf96e4f145" providerId="ADAL" clId="{CAE8410F-90EF-4B99-B3DC-AAC755D2E0D3}" dt="2022-04-19T13:25:09.893" v="7" actId="478"/>
          <ac:spMkLst>
            <pc:docMk/>
            <pc:sldMk cId="3242990942" sldId="277"/>
            <ac:spMk id="2" creationId="{94674BCA-512F-43FB-ABF8-0570A50CF05F}"/>
          </ac:spMkLst>
        </pc:spChg>
        <pc:spChg chg="add mod">
          <ac:chgData name="明翰 鍾" userId="e179c696-79c5-4450-b433-5edf96e4f145" providerId="ADAL" clId="{CAE8410F-90EF-4B99-B3DC-AAC755D2E0D3}" dt="2022-04-19T13:25:14.997" v="9" actId="207"/>
          <ac:spMkLst>
            <pc:docMk/>
            <pc:sldMk cId="3242990942" sldId="277"/>
            <ac:spMk id="6" creationId="{9205BC33-5586-4AB9-B94D-9F0C9C8B91F7}"/>
          </ac:spMkLst>
        </pc:spChg>
        <pc:grpChg chg="add mod">
          <ac:chgData name="明翰 鍾" userId="e179c696-79c5-4450-b433-5edf96e4f145" providerId="ADAL" clId="{CAE8410F-90EF-4B99-B3DC-AAC755D2E0D3}" dt="2022-04-19T13:27:30.522" v="19" actId="1076"/>
          <ac:grpSpMkLst>
            <pc:docMk/>
            <pc:sldMk cId="3242990942" sldId="277"/>
            <ac:grpSpMk id="8" creationId="{38E78363-B64F-4391-B2A7-DDC289C16797}"/>
          </ac:grpSpMkLst>
        </pc:grpChg>
        <pc:picChg chg="del">
          <ac:chgData name="明翰 鍾" userId="e179c696-79c5-4450-b433-5edf96e4f145" providerId="ADAL" clId="{CAE8410F-90EF-4B99-B3DC-AAC755D2E0D3}" dt="2022-04-19T13:25:09.893" v="7" actId="478"/>
          <ac:picMkLst>
            <pc:docMk/>
            <pc:sldMk cId="3242990942" sldId="277"/>
            <ac:picMk id="3" creationId="{8736FFE3-9386-4A99-9774-BEEFCC651DB5}"/>
          </ac:picMkLst>
        </pc:picChg>
        <pc:picChg chg="del">
          <ac:chgData name="明翰 鍾" userId="e179c696-79c5-4450-b433-5edf96e4f145" providerId="ADAL" clId="{CAE8410F-90EF-4B99-B3DC-AAC755D2E0D3}" dt="2022-04-19T13:25:09.893" v="7" actId="478"/>
          <ac:picMkLst>
            <pc:docMk/>
            <pc:sldMk cId="3242990942" sldId="277"/>
            <ac:picMk id="4" creationId="{1BB4659E-F9C9-4469-B08D-19FEF95B4DC3}"/>
          </ac:picMkLst>
        </pc:picChg>
        <pc:picChg chg="del">
          <ac:chgData name="明翰 鍾" userId="e179c696-79c5-4450-b433-5edf96e4f145" providerId="ADAL" clId="{CAE8410F-90EF-4B99-B3DC-AAC755D2E0D3}" dt="2022-04-19T13:25:09.893" v="7" actId="478"/>
          <ac:picMkLst>
            <pc:docMk/>
            <pc:sldMk cId="3242990942" sldId="277"/>
            <ac:picMk id="5" creationId="{BD06E769-485D-49A5-94EE-C889A6269DC1}"/>
          </ac:picMkLst>
        </pc:picChg>
        <pc:picChg chg="add mod">
          <ac:chgData name="明翰 鍾" userId="e179c696-79c5-4450-b433-5edf96e4f145" providerId="ADAL" clId="{CAE8410F-90EF-4B99-B3DC-AAC755D2E0D3}" dt="2022-04-19T13:26:51.272" v="16" actId="1076"/>
          <ac:picMkLst>
            <pc:docMk/>
            <pc:sldMk cId="3242990942" sldId="277"/>
            <ac:picMk id="7" creationId="{D225493D-6E9E-4DB5-8812-1C863895C8A3}"/>
          </ac:picMkLst>
        </pc:picChg>
      </pc:sldChg>
      <pc:sldChg chg="addSp delSp modSp add">
        <pc:chgData name="明翰 鍾" userId="e179c696-79c5-4450-b433-5edf96e4f145" providerId="ADAL" clId="{CAE8410F-90EF-4B99-B3DC-AAC755D2E0D3}" dt="2022-04-19T13:28:42.500" v="30" actId="14100"/>
        <pc:sldMkLst>
          <pc:docMk/>
          <pc:sldMk cId="1649208115" sldId="278"/>
        </pc:sldMkLst>
        <pc:spChg chg="del">
          <ac:chgData name="明翰 鍾" userId="e179c696-79c5-4450-b433-5edf96e4f145" providerId="ADAL" clId="{CAE8410F-90EF-4B99-B3DC-AAC755D2E0D3}" dt="2022-04-19T13:27:47.901" v="21" actId="478"/>
          <ac:spMkLst>
            <pc:docMk/>
            <pc:sldMk cId="1649208115" sldId="278"/>
            <ac:spMk id="6" creationId="{9205BC33-5586-4AB9-B94D-9F0C9C8B91F7}"/>
          </ac:spMkLst>
        </pc:spChg>
        <pc:spChg chg="add mod">
          <ac:chgData name="明翰 鍾" userId="e179c696-79c5-4450-b433-5edf96e4f145" providerId="ADAL" clId="{CAE8410F-90EF-4B99-B3DC-AAC755D2E0D3}" dt="2022-04-19T13:28:11.580" v="25" actId="207"/>
          <ac:spMkLst>
            <pc:docMk/>
            <pc:sldMk cId="1649208115" sldId="278"/>
            <ac:spMk id="11" creationId="{CE9B5A8F-29EC-432C-B7FC-F715B0D5CED5}"/>
          </ac:spMkLst>
        </pc:spChg>
        <pc:grpChg chg="del">
          <ac:chgData name="明翰 鍾" userId="e179c696-79c5-4450-b433-5edf96e4f145" providerId="ADAL" clId="{CAE8410F-90EF-4B99-B3DC-AAC755D2E0D3}" dt="2022-04-19T13:27:47.901" v="21" actId="478"/>
          <ac:grpSpMkLst>
            <pc:docMk/>
            <pc:sldMk cId="1649208115" sldId="278"/>
            <ac:grpSpMk id="8" creationId="{38E78363-B64F-4391-B2A7-DDC289C16797}"/>
          </ac:grpSpMkLst>
        </pc:grpChg>
        <pc:grpChg chg="add mod">
          <ac:chgData name="明翰 鍾" userId="e179c696-79c5-4450-b433-5edf96e4f145" providerId="ADAL" clId="{CAE8410F-90EF-4B99-B3DC-AAC755D2E0D3}" dt="2022-04-19T13:28:42.500" v="30" actId="14100"/>
          <ac:grpSpMkLst>
            <pc:docMk/>
            <pc:sldMk cId="1649208115" sldId="278"/>
            <ac:grpSpMk id="12" creationId="{A9978300-981C-4F51-9C55-D93ED9F511A5}"/>
          </ac:grpSpMkLst>
        </pc:grpChg>
        <pc:picChg chg="del">
          <ac:chgData name="明翰 鍾" userId="e179c696-79c5-4450-b433-5edf96e4f145" providerId="ADAL" clId="{CAE8410F-90EF-4B99-B3DC-AAC755D2E0D3}" dt="2022-04-19T13:27:48.772" v="22" actId="478"/>
          <ac:picMkLst>
            <pc:docMk/>
            <pc:sldMk cId="1649208115" sldId="278"/>
            <ac:picMk id="7" creationId="{D225493D-6E9E-4DB5-8812-1C863895C8A3}"/>
          </ac:picMkLst>
        </pc:picChg>
      </pc:sldChg>
      <pc:sldChg chg="addSp modSp add">
        <pc:chgData name="明翰 鍾" userId="e179c696-79c5-4450-b433-5edf96e4f145" providerId="ADAL" clId="{CAE8410F-90EF-4B99-B3DC-AAC755D2E0D3}" dt="2022-04-19T13:29:33.512" v="34" actId="14100"/>
        <pc:sldMkLst>
          <pc:docMk/>
          <pc:sldMk cId="1524997349" sldId="279"/>
        </pc:sldMkLst>
        <pc:spChg chg="add mod">
          <ac:chgData name="明翰 鍾" userId="e179c696-79c5-4450-b433-5edf96e4f145" providerId="ADAL" clId="{CAE8410F-90EF-4B99-B3DC-AAC755D2E0D3}" dt="2022-04-19T13:29:18.581" v="32" actId="207"/>
          <ac:spMkLst>
            <pc:docMk/>
            <pc:sldMk cId="1524997349" sldId="279"/>
            <ac:spMk id="2" creationId="{9868C36C-B156-4BF6-9546-4F30F33130F0}"/>
          </ac:spMkLst>
        </pc:spChg>
        <pc:grpChg chg="add mod">
          <ac:chgData name="明翰 鍾" userId="e179c696-79c5-4450-b433-5edf96e4f145" providerId="ADAL" clId="{CAE8410F-90EF-4B99-B3DC-AAC755D2E0D3}" dt="2022-04-19T13:29:33.512" v="34" actId="14100"/>
          <ac:grpSpMkLst>
            <pc:docMk/>
            <pc:sldMk cId="1524997349" sldId="279"/>
            <ac:grpSpMk id="3" creationId="{99E2E0DD-A187-453A-8DBF-AD8B175B78FD}"/>
          </ac:grpSpMkLst>
        </pc:grpChg>
      </pc:sldChg>
      <pc:sldChg chg="addSp delSp modSp add">
        <pc:chgData name="明翰 鍾" userId="e179c696-79c5-4450-b433-5edf96e4f145" providerId="ADAL" clId="{CAE8410F-90EF-4B99-B3DC-AAC755D2E0D3}" dt="2022-04-19T13:30:44.700" v="41" actId="207"/>
        <pc:sldMkLst>
          <pc:docMk/>
          <pc:sldMk cId="2845231297" sldId="280"/>
        </pc:sldMkLst>
        <pc:spChg chg="del mod">
          <ac:chgData name="明翰 鍾" userId="e179c696-79c5-4450-b433-5edf96e4f145" providerId="ADAL" clId="{CAE8410F-90EF-4B99-B3DC-AAC755D2E0D3}" dt="2022-04-19T13:30:25.188" v="38" actId="478"/>
          <ac:spMkLst>
            <pc:docMk/>
            <pc:sldMk cId="2845231297" sldId="280"/>
            <ac:spMk id="2" creationId="{9868C36C-B156-4BF6-9546-4F30F33130F0}"/>
          </ac:spMkLst>
        </pc:spChg>
        <pc:spChg chg="add mod">
          <ac:chgData name="明翰 鍾" userId="e179c696-79c5-4450-b433-5edf96e4f145" providerId="ADAL" clId="{CAE8410F-90EF-4B99-B3DC-AAC755D2E0D3}" dt="2022-04-19T13:30:44.700" v="41" actId="207"/>
          <ac:spMkLst>
            <pc:docMk/>
            <pc:sldMk cId="2845231297" sldId="280"/>
            <ac:spMk id="6" creationId="{0B021679-243D-4B53-B726-FC971E1AEC81}"/>
          </ac:spMkLst>
        </pc:spChg>
        <pc:grpChg chg="del">
          <ac:chgData name="明翰 鍾" userId="e179c696-79c5-4450-b433-5edf96e4f145" providerId="ADAL" clId="{CAE8410F-90EF-4B99-B3DC-AAC755D2E0D3}" dt="2022-04-19T13:30:17.589" v="36" actId="478"/>
          <ac:grpSpMkLst>
            <pc:docMk/>
            <pc:sldMk cId="2845231297" sldId="280"/>
            <ac:grpSpMk id="3" creationId="{99E2E0DD-A187-453A-8DBF-AD8B175B78FD}"/>
          </ac:grpSpMkLst>
        </pc:grpChg>
        <pc:grpChg chg="add mod">
          <ac:chgData name="明翰 鍾" userId="e179c696-79c5-4450-b433-5edf96e4f145" providerId="ADAL" clId="{CAE8410F-90EF-4B99-B3DC-AAC755D2E0D3}" dt="2022-04-19T13:30:44.700" v="41" actId="207"/>
          <ac:grpSpMkLst>
            <pc:docMk/>
            <pc:sldMk cId="2845231297" sldId="280"/>
            <ac:grpSpMk id="7" creationId="{51B5948D-30F8-408F-A9CE-14002AD3D9DA}"/>
          </ac:grpSpMkLst>
        </pc:grpChg>
      </pc:sldChg>
      <pc:sldChg chg="addSp modSp add">
        <pc:chgData name="明翰 鍾" userId="e179c696-79c5-4450-b433-5edf96e4f145" providerId="ADAL" clId="{CAE8410F-90EF-4B99-B3DC-AAC755D2E0D3}" dt="2022-04-19T13:31:09.866" v="44" actId="20577"/>
        <pc:sldMkLst>
          <pc:docMk/>
          <pc:sldMk cId="1900133618" sldId="281"/>
        </pc:sldMkLst>
        <pc:spChg chg="add mod">
          <ac:chgData name="明翰 鍾" userId="e179c696-79c5-4450-b433-5edf96e4f145" providerId="ADAL" clId="{CAE8410F-90EF-4B99-B3DC-AAC755D2E0D3}" dt="2022-04-19T13:31:00.917" v="43" actId="207"/>
          <ac:spMkLst>
            <pc:docMk/>
            <pc:sldMk cId="1900133618" sldId="281"/>
            <ac:spMk id="2" creationId="{3D206666-3261-491F-B24D-2EB303AE5F5B}"/>
          </ac:spMkLst>
        </pc:spChg>
        <pc:spChg chg="add mod">
          <ac:chgData name="明翰 鍾" userId="e179c696-79c5-4450-b433-5edf96e4f145" providerId="ADAL" clId="{CAE8410F-90EF-4B99-B3DC-AAC755D2E0D3}" dt="2022-04-19T13:31:09.866" v="44" actId="20577"/>
          <ac:spMkLst>
            <pc:docMk/>
            <pc:sldMk cId="1900133618" sldId="281"/>
            <ac:spMk id="6" creationId="{6D9E3C23-9EBB-4F63-ABB1-6FC35F78BD0F}"/>
          </ac:spMkLst>
        </pc:spChg>
        <pc:grpChg chg="add mod">
          <ac:chgData name="明翰 鍾" userId="e179c696-79c5-4450-b433-5edf96e4f145" providerId="ADAL" clId="{CAE8410F-90EF-4B99-B3DC-AAC755D2E0D3}" dt="2022-04-19T13:31:00.917" v="43" actId="207"/>
          <ac:grpSpMkLst>
            <pc:docMk/>
            <pc:sldMk cId="1900133618" sldId="281"/>
            <ac:grpSpMk id="3" creationId="{2FF63422-54AE-40EB-A8FC-7283C05052FB}"/>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450A5B-274C-4C0B-B667-D23CEAACEBC0}" type="datetimeFigureOut">
              <a:rPr lang="zh-TW" altLang="en-US" smtClean="0"/>
              <a:t>2023/5/1</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0342E0-8927-4A2A-9F90-19682ADDFC7A}" type="slidenum">
              <a:rPr lang="zh-TW" altLang="en-US" smtClean="0"/>
              <a:t>‹#›</a:t>
            </a:fld>
            <a:endParaRPr lang="zh-TW" altLang="en-US"/>
          </a:p>
        </p:txBody>
      </p:sp>
    </p:spTree>
    <p:extLst>
      <p:ext uri="{BB962C8B-B14F-4D97-AF65-F5344CB8AC3E}">
        <p14:creationId xmlns:p14="http://schemas.microsoft.com/office/powerpoint/2010/main" val="3392422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B0342E0-8927-4A2A-9F90-19682ADDFC7A}" type="slidenum">
              <a:rPr lang="zh-TW" altLang="en-US" smtClean="0"/>
              <a:t>18</a:t>
            </a:fld>
            <a:endParaRPr lang="zh-TW" altLang="en-US"/>
          </a:p>
        </p:txBody>
      </p:sp>
    </p:spTree>
    <p:extLst>
      <p:ext uri="{BB962C8B-B14F-4D97-AF65-F5344CB8AC3E}">
        <p14:creationId xmlns:p14="http://schemas.microsoft.com/office/powerpoint/2010/main" val="734966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925821-9A40-44D5-A988-80BEA9F5209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A5DB8C9E-2FC0-493D-87F1-63FBE5C967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915D7BFB-66DD-42D3-8341-126942E5E690}"/>
              </a:ext>
            </a:extLst>
          </p:cNvPr>
          <p:cNvSpPr>
            <a:spLocks noGrp="1"/>
          </p:cNvSpPr>
          <p:nvPr>
            <p:ph type="dt" sz="half" idx="10"/>
          </p:nvPr>
        </p:nvSpPr>
        <p:spPr/>
        <p:txBody>
          <a:bodyPr/>
          <a:lstStyle/>
          <a:p>
            <a:fld id="{E8513108-09E2-4540-B393-B82C0159D61B}" type="datetimeFigureOut">
              <a:rPr lang="zh-TW" altLang="en-US" smtClean="0"/>
              <a:t>2023/5/1</a:t>
            </a:fld>
            <a:endParaRPr lang="zh-TW" altLang="en-US"/>
          </a:p>
        </p:txBody>
      </p:sp>
      <p:sp>
        <p:nvSpPr>
          <p:cNvPr id="5" name="頁尾版面配置區 4">
            <a:extLst>
              <a:ext uri="{FF2B5EF4-FFF2-40B4-BE49-F238E27FC236}">
                <a16:creationId xmlns:a16="http://schemas.microsoft.com/office/drawing/2014/main" id="{B5F31C19-6D6E-4096-A639-84A0F3DFCFA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CF78841-860D-47F8-AF47-4DD5E109EC32}"/>
              </a:ext>
            </a:extLst>
          </p:cNvPr>
          <p:cNvSpPr>
            <a:spLocks noGrp="1"/>
          </p:cNvSpPr>
          <p:nvPr>
            <p:ph type="sldNum" sz="quarter" idx="12"/>
          </p:nvPr>
        </p:nvSpPr>
        <p:spPr/>
        <p:txBody>
          <a:bodyPr/>
          <a:lstStyle/>
          <a:p>
            <a:fld id="{125F32FA-CB75-458C-9D98-14100D9DE5F0}" type="slidenum">
              <a:rPr lang="zh-TW" altLang="en-US" smtClean="0"/>
              <a:t>‹#›</a:t>
            </a:fld>
            <a:endParaRPr lang="zh-TW" altLang="en-US"/>
          </a:p>
        </p:txBody>
      </p:sp>
    </p:spTree>
    <p:extLst>
      <p:ext uri="{BB962C8B-B14F-4D97-AF65-F5344CB8AC3E}">
        <p14:creationId xmlns:p14="http://schemas.microsoft.com/office/powerpoint/2010/main" val="906322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C02659-22F9-493B-987C-CB5AE311474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6AAD1F02-7ED0-48C1-85DD-729A0232821D}"/>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F19DDE9-2150-4A18-BD24-197AE14D63A4}"/>
              </a:ext>
            </a:extLst>
          </p:cNvPr>
          <p:cNvSpPr>
            <a:spLocks noGrp="1"/>
          </p:cNvSpPr>
          <p:nvPr>
            <p:ph type="dt" sz="half" idx="10"/>
          </p:nvPr>
        </p:nvSpPr>
        <p:spPr/>
        <p:txBody>
          <a:bodyPr/>
          <a:lstStyle/>
          <a:p>
            <a:fld id="{E8513108-09E2-4540-B393-B82C0159D61B}" type="datetimeFigureOut">
              <a:rPr lang="zh-TW" altLang="en-US" smtClean="0"/>
              <a:t>2023/5/1</a:t>
            </a:fld>
            <a:endParaRPr lang="zh-TW" altLang="en-US"/>
          </a:p>
        </p:txBody>
      </p:sp>
      <p:sp>
        <p:nvSpPr>
          <p:cNvPr id="5" name="頁尾版面配置區 4">
            <a:extLst>
              <a:ext uri="{FF2B5EF4-FFF2-40B4-BE49-F238E27FC236}">
                <a16:creationId xmlns:a16="http://schemas.microsoft.com/office/drawing/2014/main" id="{BE0626DF-2931-417C-BC4D-14B080BD9EE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C3BF807-FAB2-4272-8250-FC3E6B70D298}"/>
              </a:ext>
            </a:extLst>
          </p:cNvPr>
          <p:cNvSpPr>
            <a:spLocks noGrp="1"/>
          </p:cNvSpPr>
          <p:nvPr>
            <p:ph type="sldNum" sz="quarter" idx="12"/>
          </p:nvPr>
        </p:nvSpPr>
        <p:spPr/>
        <p:txBody>
          <a:bodyPr/>
          <a:lstStyle/>
          <a:p>
            <a:fld id="{125F32FA-CB75-458C-9D98-14100D9DE5F0}" type="slidenum">
              <a:rPr lang="zh-TW" altLang="en-US" smtClean="0"/>
              <a:t>‹#›</a:t>
            </a:fld>
            <a:endParaRPr lang="zh-TW" altLang="en-US"/>
          </a:p>
        </p:txBody>
      </p:sp>
    </p:spTree>
    <p:extLst>
      <p:ext uri="{BB962C8B-B14F-4D97-AF65-F5344CB8AC3E}">
        <p14:creationId xmlns:p14="http://schemas.microsoft.com/office/powerpoint/2010/main" val="1416172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07770D-E1B2-4FDB-AE15-10FBBF3E5C74}"/>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7984FD46-5718-4611-A61A-B8BCC059AF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465149C6-D752-477A-9ABD-1FE99B3AB9B5}"/>
              </a:ext>
            </a:extLst>
          </p:cNvPr>
          <p:cNvSpPr>
            <a:spLocks noGrp="1"/>
          </p:cNvSpPr>
          <p:nvPr>
            <p:ph type="dt" sz="half" idx="10"/>
          </p:nvPr>
        </p:nvSpPr>
        <p:spPr/>
        <p:txBody>
          <a:bodyPr/>
          <a:lstStyle/>
          <a:p>
            <a:fld id="{E8513108-09E2-4540-B393-B82C0159D61B}" type="datetimeFigureOut">
              <a:rPr lang="zh-TW" altLang="en-US" smtClean="0"/>
              <a:t>2023/5/1</a:t>
            </a:fld>
            <a:endParaRPr lang="zh-TW" altLang="en-US"/>
          </a:p>
        </p:txBody>
      </p:sp>
      <p:sp>
        <p:nvSpPr>
          <p:cNvPr id="5" name="頁尾版面配置區 4">
            <a:extLst>
              <a:ext uri="{FF2B5EF4-FFF2-40B4-BE49-F238E27FC236}">
                <a16:creationId xmlns:a16="http://schemas.microsoft.com/office/drawing/2014/main" id="{21C92AC0-3D77-43AB-A293-AE2766CC598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EA4BFA3-E694-4C7D-9E54-7AC0F487FD07}"/>
              </a:ext>
            </a:extLst>
          </p:cNvPr>
          <p:cNvSpPr>
            <a:spLocks noGrp="1"/>
          </p:cNvSpPr>
          <p:nvPr>
            <p:ph type="sldNum" sz="quarter" idx="12"/>
          </p:nvPr>
        </p:nvSpPr>
        <p:spPr/>
        <p:txBody>
          <a:bodyPr/>
          <a:lstStyle/>
          <a:p>
            <a:fld id="{125F32FA-CB75-458C-9D98-14100D9DE5F0}" type="slidenum">
              <a:rPr lang="zh-TW" altLang="en-US" smtClean="0"/>
              <a:t>‹#›</a:t>
            </a:fld>
            <a:endParaRPr lang="zh-TW" altLang="en-US"/>
          </a:p>
        </p:txBody>
      </p:sp>
    </p:spTree>
    <p:extLst>
      <p:ext uri="{BB962C8B-B14F-4D97-AF65-F5344CB8AC3E}">
        <p14:creationId xmlns:p14="http://schemas.microsoft.com/office/powerpoint/2010/main" val="2733112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B628CA-0D08-4D00-A834-21B9B69BBAD3}"/>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E3857E20-817A-4822-9268-95DC0BA4D639}"/>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1AA35DA-DF8F-4D0F-9149-33367CC2212A}"/>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A0548C0D-329E-45AB-9F50-CA138C881B7E}"/>
              </a:ext>
            </a:extLst>
          </p:cNvPr>
          <p:cNvSpPr>
            <a:spLocks noGrp="1"/>
          </p:cNvSpPr>
          <p:nvPr>
            <p:ph type="dt" sz="half" idx="10"/>
          </p:nvPr>
        </p:nvSpPr>
        <p:spPr/>
        <p:txBody>
          <a:bodyPr/>
          <a:lstStyle/>
          <a:p>
            <a:fld id="{E8513108-09E2-4540-B393-B82C0159D61B}" type="datetimeFigureOut">
              <a:rPr lang="zh-TW" altLang="en-US" smtClean="0"/>
              <a:t>2023/5/1</a:t>
            </a:fld>
            <a:endParaRPr lang="zh-TW" altLang="en-US"/>
          </a:p>
        </p:txBody>
      </p:sp>
      <p:sp>
        <p:nvSpPr>
          <p:cNvPr id="6" name="頁尾版面配置區 5">
            <a:extLst>
              <a:ext uri="{FF2B5EF4-FFF2-40B4-BE49-F238E27FC236}">
                <a16:creationId xmlns:a16="http://schemas.microsoft.com/office/drawing/2014/main" id="{E83CA0C7-C235-4B9F-9416-D1A1CD0DCE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7B08B6B-16FF-476B-BB48-503D3C2A2016}"/>
              </a:ext>
            </a:extLst>
          </p:cNvPr>
          <p:cNvSpPr>
            <a:spLocks noGrp="1"/>
          </p:cNvSpPr>
          <p:nvPr>
            <p:ph type="sldNum" sz="quarter" idx="12"/>
          </p:nvPr>
        </p:nvSpPr>
        <p:spPr/>
        <p:txBody>
          <a:bodyPr/>
          <a:lstStyle/>
          <a:p>
            <a:fld id="{125F32FA-CB75-458C-9D98-14100D9DE5F0}" type="slidenum">
              <a:rPr lang="zh-TW" altLang="en-US" smtClean="0"/>
              <a:t>‹#›</a:t>
            </a:fld>
            <a:endParaRPr lang="zh-TW" altLang="en-US"/>
          </a:p>
        </p:txBody>
      </p:sp>
    </p:spTree>
    <p:extLst>
      <p:ext uri="{BB962C8B-B14F-4D97-AF65-F5344CB8AC3E}">
        <p14:creationId xmlns:p14="http://schemas.microsoft.com/office/powerpoint/2010/main" val="3774866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A80B88-0E9A-420A-95C1-500A780E83A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FDAF921-F68F-4FF5-97EB-BAD575F071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9DE2CB98-3EB9-4B41-ABF3-151DB99F94BD}"/>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9C57F921-6FE0-4596-B79E-03BEDCCC74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1A2572F1-225D-4768-A779-9180A89A553C}"/>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A093C4AB-CC76-4932-B86C-A46B4CAD8D5C}"/>
              </a:ext>
            </a:extLst>
          </p:cNvPr>
          <p:cNvSpPr>
            <a:spLocks noGrp="1"/>
          </p:cNvSpPr>
          <p:nvPr>
            <p:ph type="dt" sz="half" idx="10"/>
          </p:nvPr>
        </p:nvSpPr>
        <p:spPr/>
        <p:txBody>
          <a:bodyPr/>
          <a:lstStyle/>
          <a:p>
            <a:fld id="{E8513108-09E2-4540-B393-B82C0159D61B}" type="datetimeFigureOut">
              <a:rPr lang="zh-TW" altLang="en-US" smtClean="0"/>
              <a:t>2023/5/1</a:t>
            </a:fld>
            <a:endParaRPr lang="zh-TW" altLang="en-US"/>
          </a:p>
        </p:txBody>
      </p:sp>
      <p:sp>
        <p:nvSpPr>
          <p:cNvPr id="8" name="頁尾版面配置區 7">
            <a:extLst>
              <a:ext uri="{FF2B5EF4-FFF2-40B4-BE49-F238E27FC236}">
                <a16:creationId xmlns:a16="http://schemas.microsoft.com/office/drawing/2014/main" id="{CD72663D-ED3C-4D2D-9874-4632D874AFB2}"/>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4544D5F7-2CE8-4BD9-9259-6C8C6501EE37}"/>
              </a:ext>
            </a:extLst>
          </p:cNvPr>
          <p:cNvSpPr>
            <a:spLocks noGrp="1"/>
          </p:cNvSpPr>
          <p:nvPr>
            <p:ph type="sldNum" sz="quarter" idx="12"/>
          </p:nvPr>
        </p:nvSpPr>
        <p:spPr/>
        <p:txBody>
          <a:bodyPr/>
          <a:lstStyle/>
          <a:p>
            <a:fld id="{125F32FA-CB75-458C-9D98-14100D9DE5F0}" type="slidenum">
              <a:rPr lang="zh-TW" altLang="en-US" smtClean="0"/>
              <a:t>‹#›</a:t>
            </a:fld>
            <a:endParaRPr lang="zh-TW" altLang="en-US"/>
          </a:p>
        </p:txBody>
      </p:sp>
    </p:spTree>
    <p:extLst>
      <p:ext uri="{BB962C8B-B14F-4D97-AF65-F5344CB8AC3E}">
        <p14:creationId xmlns:p14="http://schemas.microsoft.com/office/powerpoint/2010/main" val="314285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D1BC7F-3021-4B55-8076-1363DB201026}"/>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7BA1BA6-A5E4-412A-9567-FFD388F54585}"/>
              </a:ext>
            </a:extLst>
          </p:cNvPr>
          <p:cNvSpPr>
            <a:spLocks noGrp="1"/>
          </p:cNvSpPr>
          <p:nvPr>
            <p:ph type="dt" sz="half" idx="10"/>
          </p:nvPr>
        </p:nvSpPr>
        <p:spPr/>
        <p:txBody>
          <a:bodyPr/>
          <a:lstStyle/>
          <a:p>
            <a:fld id="{E8513108-09E2-4540-B393-B82C0159D61B}" type="datetimeFigureOut">
              <a:rPr lang="zh-TW" altLang="en-US" smtClean="0"/>
              <a:t>2023/5/1</a:t>
            </a:fld>
            <a:endParaRPr lang="zh-TW" altLang="en-US"/>
          </a:p>
        </p:txBody>
      </p:sp>
      <p:sp>
        <p:nvSpPr>
          <p:cNvPr id="4" name="頁尾版面配置區 3">
            <a:extLst>
              <a:ext uri="{FF2B5EF4-FFF2-40B4-BE49-F238E27FC236}">
                <a16:creationId xmlns:a16="http://schemas.microsoft.com/office/drawing/2014/main" id="{05C3ECE6-6C71-41BF-8904-F1A2137512CA}"/>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0C241C3-FD0F-4E08-832D-2BBBB0C9A03C}"/>
              </a:ext>
            </a:extLst>
          </p:cNvPr>
          <p:cNvSpPr>
            <a:spLocks noGrp="1"/>
          </p:cNvSpPr>
          <p:nvPr>
            <p:ph type="sldNum" sz="quarter" idx="12"/>
          </p:nvPr>
        </p:nvSpPr>
        <p:spPr/>
        <p:txBody>
          <a:bodyPr/>
          <a:lstStyle/>
          <a:p>
            <a:fld id="{125F32FA-CB75-458C-9D98-14100D9DE5F0}" type="slidenum">
              <a:rPr lang="zh-TW" altLang="en-US" smtClean="0"/>
              <a:t>‹#›</a:t>
            </a:fld>
            <a:endParaRPr lang="zh-TW" altLang="en-US"/>
          </a:p>
        </p:txBody>
      </p:sp>
    </p:spTree>
    <p:extLst>
      <p:ext uri="{BB962C8B-B14F-4D97-AF65-F5344CB8AC3E}">
        <p14:creationId xmlns:p14="http://schemas.microsoft.com/office/powerpoint/2010/main" val="2629968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8B96D1EC-9955-4356-855F-65C220626613}"/>
              </a:ext>
            </a:extLst>
          </p:cNvPr>
          <p:cNvSpPr>
            <a:spLocks noGrp="1"/>
          </p:cNvSpPr>
          <p:nvPr>
            <p:ph type="dt" sz="half" idx="10"/>
          </p:nvPr>
        </p:nvSpPr>
        <p:spPr/>
        <p:txBody>
          <a:bodyPr/>
          <a:lstStyle/>
          <a:p>
            <a:fld id="{E8513108-09E2-4540-B393-B82C0159D61B}" type="datetimeFigureOut">
              <a:rPr lang="zh-TW" altLang="en-US" smtClean="0"/>
              <a:t>2023/5/1</a:t>
            </a:fld>
            <a:endParaRPr lang="zh-TW" altLang="en-US"/>
          </a:p>
        </p:txBody>
      </p:sp>
      <p:sp>
        <p:nvSpPr>
          <p:cNvPr id="3" name="頁尾版面配置區 2">
            <a:extLst>
              <a:ext uri="{FF2B5EF4-FFF2-40B4-BE49-F238E27FC236}">
                <a16:creationId xmlns:a16="http://schemas.microsoft.com/office/drawing/2014/main" id="{66F7D4B8-0753-451B-BB79-6113BCD2878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06A6916A-47AE-4B8C-AF10-DAB92556B1AC}"/>
              </a:ext>
            </a:extLst>
          </p:cNvPr>
          <p:cNvSpPr>
            <a:spLocks noGrp="1"/>
          </p:cNvSpPr>
          <p:nvPr>
            <p:ph type="sldNum" sz="quarter" idx="12"/>
          </p:nvPr>
        </p:nvSpPr>
        <p:spPr/>
        <p:txBody>
          <a:bodyPr/>
          <a:lstStyle/>
          <a:p>
            <a:fld id="{125F32FA-CB75-458C-9D98-14100D9DE5F0}" type="slidenum">
              <a:rPr lang="zh-TW" altLang="en-US" smtClean="0"/>
              <a:t>‹#›</a:t>
            </a:fld>
            <a:endParaRPr lang="zh-TW" altLang="en-US"/>
          </a:p>
        </p:txBody>
      </p:sp>
    </p:spTree>
    <p:extLst>
      <p:ext uri="{BB962C8B-B14F-4D97-AF65-F5344CB8AC3E}">
        <p14:creationId xmlns:p14="http://schemas.microsoft.com/office/powerpoint/2010/main" val="2785914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41189D-BB46-4DF0-B19D-945C7D665A0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97BCB810-BB84-45B6-9486-1CBC343A12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8101A04-A4E2-4A63-AAC6-1FE83845DC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E559164B-FB9C-431E-8F6E-804F47DABBD2}"/>
              </a:ext>
            </a:extLst>
          </p:cNvPr>
          <p:cNvSpPr>
            <a:spLocks noGrp="1"/>
          </p:cNvSpPr>
          <p:nvPr>
            <p:ph type="dt" sz="half" idx="10"/>
          </p:nvPr>
        </p:nvSpPr>
        <p:spPr/>
        <p:txBody>
          <a:bodyPr/>
          <a:lstStyle/>
          <a:p>
            <a:fld id="{E8513108-09E2-4540-B393-B82C0159D61B}" type="datetimeFigureOut">
              <a:rPr lang="zh-TW" altLang="en-US" smtClean="0"/>
              <a:t>2023/5/1</a:t>
            </a:fld>
            <a:endParaRPr lang="zh-TW" altLang="en-US"/>
          </a:p>
        </p:txBody>
      </p:sp>
      <p:sp>
        <p:nvSpPr>
          <p:cNvPr id="6" name="頁尾版面配置區 5">
            <a:extLst>
              <a:ext uri="{FF2B5EF4-FFF2-40B4-BE49-F238E27FC236}">
                <a16:creationId xmlns:a16="http://schemas.microsoft.com/office/drawing/2014/main" id="{866B8CB2-D8CC-4F14-8296-8F02D01815C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EB0918E-426D-4864-ACCC-EC5B2392A310}"/>
              </a:ext>
            </a:extLst>
          </p:cNvPr>
          <p:cNvSpPr>
            <a:spLocks noGrp="1"/>
          </p:cNvSpPr>
          <p:nvPr>
            <p:ph type="sldNum" sz="quarter" idx="12"/>
          </p:nvPr>
        </p:nvSpPr>
        <p:spPr/>
        <p:txBody>
          <a:bodyPr/>
          <a:lstStyle/>
          <a:p>
            <a:fld id="{125F32FA-CB75-458C-9D98-14100D9DE5F0}" type="slidenum">
              <a:rPr lang="zh-TW" altLang="en-US" smtClean="0"/>
              <a:t>‹#›</a:t>
            </a:fld>
            <a:endParaRPr lang="zh-TW" altLang="en-US"/>
          </a:p>
        </p:txBody>
      </p:sp>
    </p:spTree>
    <p:extLst>
      <p:ext uri="{BB962C8B-B14F-4D97-AF65-F5344CB8AC3E}">
        <p14:creationId xmlns:p14="http://schemas.microsoft.com/office/powerpoint/2010/main" val="2971007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383BFF-BEB5-4E04-8C08-AA5CCA6D575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559B75A-DDC9-4E93-A5E6-E3AEAC38A6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F651F7D7-D5AA-417F-85E5-729AB5D823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53973DDC-2CF0-4241-B586-48F3733E9B94}"/>
              </a:ext>
            </a:extLst>
          </p:cNvPr>
          <p:cNvSpPr>
            <a:spLocks noGrp="1"/>
          </p:cNvSpPr>
          <p:nvPr>
            <p:ph type="dt" sz="half" idx="10"/>
          </p:nvPr>
        </p:nvSpPr>
        <p:spPr/>
        <p:txBody>
          <a:bodyPr/>
          <a:lstStyle/>
          <a:p>
            <a:fld id="{E8513108-09E2-4540-B393-B82C0159D61B}" type="datetimeFigureOut">
              <a:rPr lang="zh-TW" altLang="en-US" smtClean="0"/>
              <a:t>2023/5/1</a:t>
            </a:fld>
            <a:endParaRPr lang="zh-TW" altLang="en-US"/>
          </a:p>
        </p:txBody>
      </p:sp>
      <p:sp>
        <p:nvSpPr>
          <p:cNvPr id="6" name="頁尾版面配置區 5">
            <a:extLst>
              <a:ext uri="{FF2B5EF4-FFF2-40B4-BE49-F238E27FC236}">
                <a16:creationId xmlns:a16="http://schemas.microsoft.com/office/drawing/2014/main" id="{42357465-51A4-4D78-B043-A0F033F711C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A17B6C7-66A0-40A5-8D28-DE97DA27E65D}"/>
              </a:ext>
            </a:extLst>
          </p:cNvPr>
          <p:cNvSpPr>
            <a:spLocks noGrp="1"/>
          </p:cNvSpPr>
          <p:nvPr>
            <p:ph type="sldNum" sz="quarter" idx="12"/>
          </p:nvPr>
        </p:nvSpPr>
        <p:spPr/>
        <p:txBody>
          <a:bodyPr/>
          <a:lstStyle/>
          <a:p>
            <a:fld id="{125F32FA-CB75-458C-9D98-14100D9DE5F0}" type="slidenum">
              <a:rPr lang="zh-TW" altLang="en-US" smtClean="0"/>
              <a:t>‹#›</a:t>
            </a:fld>
            <a:endParaRPr lang="zh-TW" altLang="en-US"/>
          </a:p>
        </p:txBody>
      </p:sp>
    </p:spTree>
    <p:extLst>
      <p:ext uri="{BB962C8B-B14F-4D97-AF65-F5344CB8AC3E}">
        <p14:creationId xmlns:p14="http://schemas.microsoft.com/office/powerpoint/2010/main" val="1159339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2E55B9-7C66-46E9-A600-64BD6AB5E13F}"/>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C5A69094-B2BC-4BB9-92E7-EBB533975ACE}"/>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97CC1E6-DC52-477C-A064-682A46FFF54F}"/>
              </a:ext>
            </a:extLst>
          </p:cNvPr>
          <p:cNvSpPr>
            <a:spLocks noGrp="1"/>
          </p:cNvSpPr>
          <p:nvPr>
            <p:ph type="dt" sz="half" idx="10"/>
          </p:nvPr>
        </p:nvSpPr>
        <p:spPr/>
        <p:txBody>
          <a:bodyPr/>
          <a:lstStyle/>
          <a:p>
            <a:fld id="{E8513108-09E2-4540-B393-B82C0159D61B}" type="datetimeFigureOut">
              <a:rPr lang="zh-TW" altLang="en-US" smtClean="0"/>
              <a:t>2023/5/1</a:t>
            </a:fld>
            <a:endParaRPr lang="zh-TW" altLang="en-US"/>
          </a:p>
        </p:txBody>
      </p:sp>
      <p:sp>
        <p:nvSpPr>
          <p:cNvPr id="5" name="頁尾版面配置區 4">
            <a:extLst>
              <a:ext uri="{FF2B5EF4-FFF2-40B4-BE49-F238E27FC236}">
                <a16:creationId xmlns:a16="http://schemas.microsoft.com/office/drawing/2014/main" id="{B36A2E2E-EAF5-4A2C-B252-4ED7DA8280B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952E8D8-9C22-4935-B4B7-04F9A3CA49AD}"/>
              </a:ext>
            </a:extLst>
          </p:cNvPr>
          <p:cNvSpPr>
            <a:spLocks noGrp="1"/>
          </p:cNvSpPr>
          <p:nvPr>
            <p:ph type="sldNum" sz="quarter" idx="12"/>
          </p:nvPr>
        </p:nvSpPr>
        <p:spPr/>
        <p:txBody>
          <a:bodyPr/>
          <a:lstStyle/>
          <a:p>
            <a:fld id="{125F32FA-CB75-458C-9D98-14100D9DE5F0}" type="slidenum">
              <a:rPr lang="zh-TW" altLang="en-US" smtClean="0"/>
              <a:t>‹#›</a:t>
            </a:fld>
            <a:endParaRPr lang="zh-TW" altLang="en-US"/>
          </a:p>
        </p:txBody>
      </p:sp>
    </p:spTree>
    <p:extLst>
      <p:ext uri="{BB962C8B-B14F-4D97-AF65-F5344CB8AC3E}">
        <p14:creationId xmlns:p14="http://schemas.microsoft.com/office/powerpoint/2010/main" val="1378885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3D5D2DC-C06F-4ACD-B555-3AA780507887}"/>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44617650-8256-43FD-A336-93C6F3F0353B}"/>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75F44BC-3EBD-4A13-BEC2-779D7D77C26E}"/>
              </a:ext>
            </a:extLst>
          </p:cNvPr>
          <p:cNvSpPr>
            <a:spLocks noGrp="1"/>
          </p:cNvSpPr>
          <p:nvPr>
            <p:ph type="dt" sz="half" idx="10"/>
          </p:nvPr>
        </p:nvSpPr>
        <p:spPr/>
        <p:txBody>
          <a:bodyPr/>
          <a:lstStyle/>
          <a:p>
            <a:fld id="{E8513108-09E2-4540-B393-B82C0159D61B}" type="datetimeFigureOut">
              <a:rPr lang="zh-TW" altLang="en-US" smtClean="0"/>
              <a:t>2023/5/1</a:t>
            </a:fld>
            <a:endParaRPr lang="zh-TW" altLang="en-US"/>
          </a:p>
        </p:txBody>
      </p:sp>
      <p:sp>
        <p:nvSpPr>
          <p:cNvPr id="5" name="頁尾版面配置區 4">
            <a:extLst>
              <a:ext uri="{FF2B5EF4-FFF2-40B4-BE49-F238E27FC236}">
                <a16:creationId xmlns:a16="http://schemas.microsoft.com/office/drawing/2014/main" id="{29FA7059-2921-4B0F-B7C9-606E166C584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38F98B5-CD98-49BF-A785-353F01386C38}"/>
              </a:ext>
            </a:extLst>
          </p:cNvPr>
          <p:cNvSpPr>
            <a:spLocks noGrp="1"/>
          </p:cNvSpPr>
          <p:nvPr>
            <p:ph type="sldNum" sz="quarter" idx="12"/>
          </p:nvPr>
        </p:nvSpPr>
        <p:spPr/>
        <p:txBody>
          <a:bodyPr/>
          <a:lstStyle/>
          <a:p>
            <a:fld id="{125F32FA-CB75-458C-9D98-14100D9DE5F0}" type="slidenum">
              <a:rPr lang="zh-TW" altLang="en-US" smtClean="0"/>
              <a:t>‹#›</a:t>
            </a:fld>
            <a:endParaRPr lang="zh-TW" altLang="en-US"/>
          </a:p>
        </p:txBody>
      </p:sp>
    </p:spTree>
    <p:extLst>
      <p:ext uri="{BB962C8B-B14F-4D97-AF65-F5344CB8AC3E}">
        <p14:creationId xmlns:p14="http://schemas.microsoft.com/office/powerpoint/2010/main" val="1373341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54B5F07-D696-4898-AC69-10462B4FD5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7D5A6D5-E33E-411C-9F8B-5FB6DE2617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304CFB0-F2D5-4469-87FF-FD45BA9E37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13108-09E2-4540-B393-B82C0159D61B}" type="datetimeFigureOut">
              <a:rPr lang="zh-TW" altLang="en-US" smtClean="0"/>
              <a:t>2023/5/1</a:t>
            </a:fld>
            <a:endParaRPr lang="zh-TW" altLang="en-US"/>
          </a:p>
        </p:txBody>
      </p:sp>
      <p:sp>
        <p:nvSpPr>
          <p:cNvPr id="5" name="頁尾版面配置區 4">
            <a:extLst>
              <a:ext uri="{FF2B5EF4-FFF2-40B4-BE49-F238E27FC236}">
                <a16:creationId xmlns:a16="http://schemas.microsoft.com/office/drawing/2014/main" id="{2687F7E7-391F-4FA6-A33F-3182D92EAE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701BA2C-AD2D-442F-8ABC-31336ABC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5F32FA-CB75-458C-9D98-14100D9DE5F0}" type="slidenum">
              <a:rPr lang="zh-TW" altLang="en-US" smtClean="0"/>
              <a:t>‹#›</a:t>
            </a:fld>
            <a:endParaRPr lang="zh-TW" altLang="en-US"/>
          </a:p>
        </p:txBody>
      </p:sp>
    </p:spTree>
    <p:extLst>
      <p:ext uri="{BB962C8B-B14F-4D97-AF65-F5344CB8AC3E}">
        <p14:creationId xmlns:p14="http://schemas.microsoft.com/office/powerpoint/2010/main" val="1533948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1.png"/><Relationship Id="rId7" Type="http://schemas.openxmlformats.org/officeDocument/2006/relationships/image" Target="../media/image2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0.png"/><Relationship Id="rId4" Type="http://schemas.openxmlformats.org/officeDocument/2006/relationships/image" Target="../media/image110.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19667EC4-28BA-437E-B37D-FB6976DAA5FB}"/>
              </a:ext>
            </a:extLst>
          </p:cNvPr>
          <p:cNvSpPr>
            <a:spLocks noGrp="1"/>
          </p:cNvSpPr>
          <p:nvPr>
            <p:ph type="ctrTitle"/>
          </p:nvPr>
        </p:nvSpPr>
        <p:spPr>
          <a:xfrm>
            <a:off x="1524000" y="2169366"/>
            <a:ext cx="9144000" cy="2332654"/>
          </a:xfrm>
        </p:spPr>
        <p:txBody>
          <a:bodyPr>
            <a:normAutofit/>
          </a:bodyPr>
          <a:lstStyle/>
          <a:p>
            <a:r>
              <a:rPr lang="en-US" altLang="zh-TW" sz="4800" dirty="0" err="1">
                <a:effectLst>
                  <a:outerShdw blurRad="38100" dist="38100" dir="2700000" algn="tl">
                    <a:srgbClr val="000000">
                      <a:alpha val="43137"/>
                    </a:srgbClr>
                  </a:outerShdw>
                </a:effectLst>
                <a:latin typeface="Arial Black" panose="020B0A04020102020204" pitchFamily="34" charset="0"/>
                <a:ea typeface="微軟正黑體" panose="020B0604030504040204" pitchFamily="34" charset="-120"/>
                <a:cs typeface="Arial" panose="020B0604020202020204" pitchFamily="34" charset="0"/>
              </a:rPr>
              <a:t>Matlab</a:t>
            </a:r>
            <a:r>
              <a:rPr lang="en-US" altLang="zh-TW" sz="4800" dirty="0">
                <a:effectLst>
                  <a:outerShdw blurRad="38100" dist="38100" dir="2700000" algn="tl">
                    <a:srgbClr val="000000">
                      <a:alpha val="43137"/>
                    </a:srgbClr>
                  </a:outerShdw>
                </a:effectLst>
                <a:latin typeface="Arial Black" panose="020B0A04020102020204" pitchFamily="34" charset="0"/>
                <a:ea typeface="微軟正黑體" panose="020B0604030504040204" pitchFamily="34" charset="-120"/>
                <a:cs typeface="Arial" panose="020B0604020202020204" pitchFamily="34" charset="0"/>
              </a:rPr>
              <a:t> HW2</a:t>
            </a:r>
            <a:br>
              <a:rPr lang="en-US" altLang="zh-TW" sz="4800" dirty="0">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br>
            <a:br>
              <a:rPr lang="en-US" altLang="zh-TW" sz="4800" dirty="0">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br>
            <a:r>
              <a:rPr lang="en-US" altLang="zh-TW" sz="2800" b="1" dirty="0">
                <a:solidFill>
                  <a:schemeClr val="bg1">
                    <a:lumMod val="50000"/>
                  </a:schemeClr>
                </a:solidFill>
                <a:latin typeface="Arial" panose="020B0604020202020204" pitchFamily="34" charset="0"/>
                <a:ea typeface="微軟正黑體" panose="020B0604030504040204" pitchFamily="34" charset="-120"/>
                <a:cs typeface="Arial" panose="020B0604020202020204" pitchFamily="34" charset="0"/>
              </a:rPr>
              <a:t>2023.05.01</a:t>
            </a:r>
            <a:endParaRPr lang="zh-TW" altLang="en-US" sz="4800" b="1" dirty="0">
              <a:solidFill>
                <a:schemeClr val="bg1">
                  <a:lumMod val="50000"/>
                </a:schemeClr>
              </a:solidFill>
              <a:latin typeface="Arial" panose="020B0604020202020204" pitchFamily="34" charset="0"/>
              <a:ea typeface="微軟正黑體" panose="020B0604030504040204" pitchFamily="34" charset="-120"/>
              <a:cs typeface="Arial" panose="020B0604020202020204" pitchFamily="34" charset="0"/>
            </a:endParaRPr>
          </a:p>
        </p:txBody>
      </p:sp>
      <p:sp>
        <p:nvSpPr>
          <p:cNvPr id="2" name="文字方塊 1">
            <a:extLst>
              <a:ext uri="{FF2B5EF4-FFF2-40B4-BE49-F238E27FC236}">
                <a16:creationId xmlns:a16="http://schemas.microsoft.com/office/drawing/2014/main" id="{E904D4F4-813C-43D1-A9D8-581A87E0E82E}"/>
              </a:ext>
            </a:extLst>
          </p:cNvPr>
          <p:cNvSpPr txBox="1"/>
          <p:nvPr/>
        </p:nvSpPr>
        <p:spPr>
          <a:xfrm>
            <a:off x="3326167" y="1553593"/>
            <a:ext cx="5539666" cy="707886"/>
          </a:xfrm>
          <a:prstGeom prst="rect">
            <a:avLst/>
          </a:prstGeom>
          <a:noFill/>
        </p:spPr>
        <p:txBody>
          <a:bodyPr wrap="square" rtlCol="0">
            <a:spAutoFit/>
          </a:bodyPr>
          <a:lstStyle/>
          <a:p>
            <a:pPr algn="ctr"/>
            <a:r>
              <a:rPr lang="zh-TW" altLang="en-US" sz="4000" spc="300" dirty="0">
                <a:latin typeface="源泉圓體 H" panose="020B0A00000000000000" pitchFamily="34" charset="-120"/>
                <a:ea typeface="源泉圓體 H" panose="020B0A00000000000000" pitchFamily="34" charset="-120"/>
              </a:rPr>
              <a:t>大氣動力學 </a:t>
            </a:r>
            <a:r>
              <a:rPr lang="en-US" altLang="zh-TW" sz="4000" dirty="0">
                <a:latin typeface="源泉圓體 H" panose="020B0A00000000000000" pitchFamily="34" charset="-120"/>
                <a:ea typeface="源泉圓體 H" panose="020B0A00000000000000" pitchFamily="34" charset="-120"/>
              </a:rPr>
              <a:t>(I)</a:t>
            </a:r>
            <a:endParaRPr lang="zh-TW" altLang="en-US" sz="4000" dirty="0">
              <a:latin typeface="源泉圓體 H" panose="020B0A00000000000000" pitchFamily="34" charset="-120"/>
              <a:ea typeface="源泉圓體 H" panose="020B0A00000000000000" pitchFamily="34" charset="-120"/>
            </a:endParaRPr>
          </a:p>
        </p:txBody>
      </p:sp>
    </p:spTree>
    <p:extLst>
      <p:ext uri="{BB962C8B-B14F-4D97-AF65-F5344CB8AC3E}">
        <p14:creationId xmlns:p14="http://schemas.microsoft.com/office/powerpoint/2010/main" val="2531320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626778B0-F727-4B53-8323-BE09C2CFDA64}"/>
                  </a:ext>
                </a:extLst>
              </p:cNvPr>
              <p:cNvSpPr/>
              <p:nvPr/>
            </p:nvSpPr>
            <p:spPr>
              <a:xfrm>
                <a:off x="385011" y="648367"/>
                <a:ext cx="11421978" cy="5561266"/>
              </a:xfrm>
              <a:prstGeom prst="rect">
                <a:avLst/>
              </a:prstGeom>
            </p:spPr>
            <p:txBody>
              <a:bodyPr wrap="square">
                <a:spAutoFit/>
              </a:bodyPr>
              <a:lstStyle/>
              <a:p>
                <a:pPr algn="just">
                  <a:lnSpc>
                    <a:spcPct val="110000"/>
                  </a:lnSpc>
                </a:pPr>
                <a:r>
                  <a:rPr lang="en-US" altLang="zh-TW" sz="2000" b="1" dirty="0">
                    <a:latin typeface="Arial" panose="020B0604020202020204" pitchFamily="34" charset="0"/>
                    <a:ea typeface="微軟正黑體" panose="020B0604030504040204" pitchFamily="34" charset="-120"/>
                    <a:cs typeface="Arial" panose="020B0604020202020204" pitchFamily="34" charset="0"/>
                  </a:rPr>
                  <a:t>M3.2.</a:t>
                </a:r>
                <a:r>
                  <a:rPr lang="en-US" altLang="zh-TW" sz="2000" dirty="0">
                    <a:latin typeface="Arial" panose="020B0604020202020204" pitchFamily="34" charset="0"/>
                    <a:ea typeface="微軟正黑體" panose="020B0604030504040204" pitchFamily="34" charset="-120"/>
                    <a:cs typeface="Arial" panose="020B0604020202020204" pitchFamily="34" charset="0"/>
                  </a:rPr>
                  <a:t> The objective of this exercise is to gain an appreciation for the difference between trajectories and streamlines in synoptic-scale flows. An idealized representation of a midlatitude synoptic disturbance in an atmosphere with no zonal mean flow is given by the simple sinusoidal pattern of geopotential,</a:t>
                </a:r>
              </a:p>
              <a:p>
                <a:pPr algn="just">
                  <a:lnSpc>
                    <a:spcPct val="110000"/>
                  </a:lnSpc>
                </a:pPr>
                <a14:m>
                  <m:oMathPara xmlns:m="http://schemas.openxmlformats.org/officeDocument/2006/math">
                    <m:oMathParaPr>
                      <m:jc m:val="centerGroup"/>
                    </m:oMathParaPr>
                    <m:oMath xmlns:m="http://schemas.openxmlformats.org/officeDocument/2006/math">
                      <m:r>
                        <m:rPr>
                          <m:sty m:val="p"/>
                        </m:rPr>
                        <a:rPr lang="en-US" altLang="zh-TW" sz="2000" b="0" i="0" smtClean="0">
                          <a:latin typeface="Cambria Math" panose="02040503050406030204" pitchFamily="18" charset="0"/>
                          <a:ea typeface="微軟正黑體" panose="020B0604030504040204" pitchFamily="34" charset="-120"/>
                          <a:cs typeface="Arial" panose="020B0604020202020204" pitchFamily="34" charset="0"/>
                        </a:rPr>
                        <m:t>Φ</m:t>
                      </m:r>
                      <m:d>
                        <m:d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𝑥</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 </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𝑦</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 </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𝑡</m:t>
                          </m:r>
                        </m:e>
                      </m:d>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sSub>
                        <m:sSub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sSubPr>
                        <m:e>
                          <m:r>
                            <m:rPr>
                              <m:sty m:val="p"/>
                            </m:rPr>
                            <a:rPr lang="en-US" altLang="zh-TW" sz="2000" b="0" i="0" smtClean="0">
                              <a:latin typeface="Cambria Math" panose="02040503050406030204" pitchFamily="18" charset="0"/>
                              <a:ea typeface="微軟正黑體" panose="020B0604030504040204" pitchFamily="34" charset="-120"/>
                              <a:cs typeface="Arial" panose="020B0604020202020204" pitchFamily="34" charset="0"/>
                            </a:rPr>
                            <m:t>Φ</m:t>
                          </m:r>
                        </m:e>
                        <m:sub>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0</m:t>
                          </m:r>
                        </m:sub>
                      </m:sSub>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sSup>
                        <m:sSup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sSupPr>
                        <m:e>
                          <m:r>
                            <m:rPr>
                              <m:sty m:val="p"/>
                            </m:rPr>
                            <a:rPr lang="en-US" altLang="zh-TW" sz="2000" b="0" i="0" smtClean="0">
                              <a:latin typeface="Cambria Math" panose="02040503050406030204" pitchFamily="18" charset="0"/>
                              <a:ea typeface="微軟正黑體" panose="020B0604030504040204" pitchFamily="34" charset="-120"/>
                              <a:cs typeface="Arial" panose="020B0604020202020204" pitchFamily="34" charset="0"/>
                            </a:rPr>
                            <m:t>Φ</m:t>
                          </m:r>
                        </m:e>
                        <m:sup>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sup>
                      </m:sSup>
                      <m:func>
                        <m:func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b="0" i="0" smtClean="0">
                              <a:latin typeface="Cambria Math" panose="02040503050406030204" pitchFamily="18" charset="0"/>
                              <a:ea typeface="微軟正黑體" panose="020B0604030504040204" pitchFamily="34" charset="-120"/>
                              <a:cs typeface="Arial" panose="020B0604020202020204" pitchFamily="34" charset="0"/>
                            </a:rPr>
                            <m:t>sin</m:t>
                          </m:r>
                        </m:fName>
                        <m:e>
                          <m:d>
                            <m:dPr>
                              <m:begChr m:val="["/>
                              <m:endChr m:val="]"/>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𝑘</m:t>
                              </m:r>
                              <m:d>
                                <m:d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𝑥</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𝑐𝑡</m:t>
                                  </m:r>
                                </m:e>
                              </m:d>
                            </m:e>
                          </m:d>
                          <m:func>
                            <m:func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b="0" i="0" smtClean="0">
                                  <a:latin typeface="Cambria Math" panose="02040503050406030204" pitchFamily="18" charset="0"/>
                                  <a:ea typeface="微軟正黑體" panose="020B0604030504040204" pitchFamily="34" charset="-120"/>
                                  <a:cs typeface="Arial" panose="020B0604020202020204" pitchFamily="34" charset="0"/>
                                </a:rPr>
                                <m:t>cos</m:t>
                              </m:r>
                            </m:fName>
                            <m:e>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𝑙𝑦</m:t>
                              </m:r>
                            </m:e>
                          </m:func>
                        </m:e>
                      </m:func>
                    </m:oMath>
                  </m:oMathPara>
                </a14:m>
                <a:endParaRPr lang="en-US" altLang="zh-TW" sz="2000" b="0" dirty="0">
                  <a:latin typeface="Arial" panose="020B0604020202020204" pitchFamily="34" charset="0"/>
                  <a:ea typeface="微軟正黑體" panose="020B0604030504040204" pitchFamily="34" charset="-120"/>
                  <a:cs typeface="Arial" panose="020B0604020202020204" pitchFamily="34" charset="0"/>
                </a:endParaRPr>
              </a:p>
              <a:p>
                <a:pPr algn="just">
                  <a:lnSpc>
                    <a:spcPct val="110000"/>
                  </a:lnSpc>
                </a:pPr>
                <a:r>
                  <a:rPr lang="en-US" altLang="zh-TW" sz="2000" dirty="0">
                    <a:latin typeface="Arial" panose="020B0604020202020204" pitchFamily="34" charset="0"/>
                    <a:ea typeface="微軟正黑體" panose="020B0604030504040204" pitchFamily="34" charset="-120"/>
                    <a:cs typeface="Arial" panose="020B0604020202020204" pitchFamily="34" charset="0"/>
                  </a:rPr>
                  <a:t>where </a:t>
                </a:r>
                <a14:m>
                  <m:oMath xmlns:m="http://schemas.openxmlformats.org/officeDocument/2006/math">
                    <m:sSub>
                      <m:sSub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sSubPr>
                      <m:e>
                        <m:r>
                          <m:rPr>
                            <m:sty m:val="p"/>
                          </m:rPr>
                          <a:rPr lang="en-US" altLang="zh-TW" sz="2000" b="0" i="0" smtClean="0">
                            <a:latin typeface="Cambria Math" panose="02040503050406030204" pitchFamily="18" charset="0"/>
                            <a:ea typeface="微軟正黑體" panose="020B0604030504040204" pitchFamily="34" charset="-120"/>
                            <a:cs typeface="Arial" panose="020B0604020202020204" pitchFamily="34" charset="0"/>
                          </a:rPr>
                          <m:t>Φ</m:t>
                        </m:r>
                      </m:e>
                      <m:sub>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0</m:t>
                        </m:r>
                      </m:sub>
                    </m:sSub>
                    <m:d>
                      <m:d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𝑝</m:t>
                        </m:r>
                      </m:e>
                    </m:d>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is the standard atmosphere geopotential dependent only on pressure, </a:t>
                </a:r>
                <a14:m>
                  <m:oMath xmlns:m="http://schemas.openxmlformats.org/officeDocument/2006/math">
                    <m:sSup>
                      <m:sSup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sSupPr>
                      <m:e>
                        <m:r>
                          <m:rPr>
                            <m:sty m:val="p"/>
                          </m:rPr>
                          <a:rPr lang="en-US" altLang="zh-TW" sz="2000" b="0" i="0" smtClean="0">
                            <a:latin typeface="Cambria Math" panose="02040503050406030204" pitchFamily="18" charset="0"/>
                            <a:ea typeface="微軟正黑體" panose="020B0604030504040204" pitchFamily="34" charset="-120"/>
                            <a:cs typeface="Arial" panose="020B0604020202020204" pitchFamily="34" charset="0"/>
                          </a:rPr>
                          <m:t>Φ</m:t>
                        </m:r>
                      </m:e>
                      <m:sup>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sup>
                    </m:sSup>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is the magnitude of the geopotential wave disturbance, </a:t>
                </a:r>
                <a14:m>
                  <m:oMath xmlns:m="http://schemas.openxmlformats.org/officeDocument/2006/math">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𝑐</m:t>
                    </m:r>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is the phase speed of zonal propagation of the wave pattern, and </a:t>
                </a:r>
                <a14:m>
                  <m:oMath xmlns:m="http://schemas.openxmlformats.org/officeDocument/2006/math">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𝑘</m:t>
                    </m:r>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and </a:t>
                </a:r>
                <a14:m>
                  <m:oMath xmlns:m="http://schemas.openxmlformats.org/officeDocument/2006/math">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𝑙</m:t>
                    </m:r>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are the wave numbers in the </a:t>
                </a:r>
                <a14:m>
                  <m:oMath xmlns:m="http://schemas.openxmlformats.org/officeDocument/2006/math">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𝑥</m:t>
                    </m:r>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and </a:t>
                </a:r>
                <a14:m>
                  <m:oMath xmlns:m="http://schemas.openxmlformats.org/officeDocument/2006/math">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𝑦</m:t>
                    </m:r>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directions, respectively. If it is assumed that the flow is in geostrophic balance, then the geopotential is proportional to the stream function. Let the zonal and meridional wave numbers be equal (</a:t>
                </a:r>
                <a14:m>
                  <m:oMath xmlns:m="http://schemas.openxmlformats.org/officeDocument/2006/math">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𝑘</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𝑙</m:t>
                    </m:r>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and define a perturbation wind amplitude </a:t>
                </a:r>
                <a14:m>
                  <m:oMath xmlns:m="http://schemas.openxmlformats.org/officeDocument/2006/math">
                    <m:sSup>
                      <m:sSup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sSupPr>
                      <m:e>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𝑈</m:t>
                        </m:r>
                      </m:e>
                      <m:sup>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sup>
                    </m:sSup>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Sup>
                      <m:sSup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sSupPr>
                      <m:e>
                        <m:r>
                          <m:rPr>
                            <m:sty m:val="p"/>
                          </m:rPr>
                          <a:rPr lang="en-US" altLang="zh-TW" sz="2000" b="0" i="0" smtClean="0">
                            <a:latin typeface="Cambria Math" panose="02040503050406030204" pitchFamily="18" charset="0"/>
                            <a:ea typeface="微軟正黑體" panose="020B0604030504040204" pitchFamily="34" charset="-120"/>
                            <a:cs typeface="Arial" panose="020B0604020202020204" pitchFamily="34" charset="0"/>
                          </a:rPr>
                          <m:t>Φ</m:t>
                        </m:r>
                      </m:e>
                      <m:sup>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sup>
                    </m:sSup>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𝑘</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sSub>
                      <m:sSub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sSubPr>
                      <m:e>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𝑓</m:t>
                        </m:r>
                      </m:e>
                      <m:sub>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0</m:t>
                        </m:r>
                      </m:sub>
                    </m:sSub>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where </a:t>
                </a:r>
                <a14:m>
                  <m:oMath xmlns:m="http://schemas.openxmlformats.org/officeDocument/2006/math">
                    <m:sSub>
                      <m:sSub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sSubPr>
                      <m:e>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𝑓</m:t>
                        </m:r>
                      </m:e>
                      <m:sub>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0</m:t>
                        </m:r>
                      </m:sub>
                    </m:sSub>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is a constant Coriolis parameter. Trajectories are then given by the paths in (</a:t>
                </a:r>
                <a14:m>
                  <m:oMath xmlns:m="http://schemas.openxmlformats.org/officeDocument/2006/math">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𝑥</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 </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𝑦</m:t>
                    </m:r>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space obtained by solving the coupled set of ordinary differential equations:</a:t>
                </a:r>
              </a:p>
              <a:p>
                <a:pPr algn="just">
                  <a:lnSpc>
                    <a:spcPct val="110000"/>
                  </a:lnSpc>
                </a:pPr>
                <a14:m>
                  <m:oMathPara xmlns:m="http://schemas.openxmlformats.org/officeDocument/2006/math">
                    <m:oMathParaPr>
                      <m:jc m:val="centerGroup"/>
                    </m:oMathParaPr>
                    <m:oMath xmlns:m="http://schemas.openxmlformats.org/officeDocument/2006/math">
                      <m:f>
                        <m:f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𝐷𝑥</m:t>
                          </m:r>
                        </m:num>
                        <m:den>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𝐷𝑡</m:t>
                          </m:r>
                        </m:den>
                      </m:f>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𝑢</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f>
                        <m:f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1</m:t>
                          </m:r>
                        </m:num>
                        <m:den>
                          <m:sSub>
                            <m:sSub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sSubPr>
                            <m:e>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𝑓</m:t>
                              </m:r>
                            </m:e>
                            <m:sub>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0</m:t>
                              </m:r>
                            </m:sub>
                          </m:sSub>
                        </m:den>
                      </m:f>
                      <m:f>
                        <m:f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r>
                            <m:rPr>
                              <m:sty m:val="p"/>
                            </m:rPr>
                            <a:rPr lang="en-US" altLang="zh-TW" sz="2000" b="0" i="0" smtClean="0">
                              <a:latin typeface="Cambria Math" panose="02040503050406030204" pitchFamily="18" charset="0"/>
                              <a:ea typeface="微軟正黑體" panose="020B0604030504040204" pitchFamily="34" charset="-120"/>
                              <a:cs typeface="Arial" panose="020B0604020202020204" pitchFamily="34" charset="0"/>
                            </a:rPr>
                            <m:t>Φ</m:t>
                          </m:r>
                        </m:num>
                        <m:den>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𝑦</m:t>
                          </m:r>
                        </m:den>
                      </m:f>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sSup>
                        <m:sSup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sSupPr>
                        <m:e>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𝑈</m:t>
                          </m:r>
                        </m:e>
                        <m:sup>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sup>
                      </m:sSup>
                      <m:func>
                        <m:func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b="0" i="0" smtClean="0">
                              <a:latin typeface="Cambria Math" panose="02040503050406030204" pitchFamily="18" charset="0"/>
                              <a:ea typeface="微軟正黑體" panose="020B0604030504040204" pitchFamily="34" charset="-120"/>
                              <a:cs typeface="Arial" panose="020B0604020202020204" pitchFamily="34" charset="0"/>
                            </a:rPr>
                            <m:t>sin</m:t>
                          </m:r>
                        </m:fName>
                        <m:e>
                          <m:d>
                            <m:dPr>
                              <m:begChr m:val="["/>
                              <m:endChr m:val="]"/>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𝑘</m:t>
                              </m:r>
                              <m:d>
                                <m:d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𝑥</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𝑐𝑡</m:t>
                                  </m:r>
                                </m:e>
                              </m:d>
                            </m:e>
                          </m:d>
                        </m:e>
                      </m:func>
                      <m:func>
                        <m:func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b="0" i="0" smtClean="0">
                              <a:latin typeface="Cambria Math" panose="02040503050406030204" pitchFamily="18" charset="0"/>
                              <a:ea typeface="微軟正黑體" panose="020B0604030504040204" pitchFamily="34" charset="-120"/>
                              <a:cs typeface="Arial" panose="020B0604020202020204" pitchFamily="34" charset="0"/>
                            </a:rPr>
                            <m:t>sin</m:t>
                          </m:r>
                        </m:fName>
                        <m:e>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𝑙𝑦</m:t>
                          </m:r>
                        </m:e>
                      </m:func>
                    </m:oMath>
                  </m:oMathPara>
                </a14:m>
                <a:endParaRPr lang="en-US" altLang="zh-TW" sz="2000" dirty="0">
                  <a:latin typeface="Arial" panose="020B0604020202020204" pitchFamily="34" charset="0"/>
                  <a:ea typeface="微軟正黑體" panose="020B0604030504040204" pitchFamily="34" charset="-120"/>
                  <a:cs typeface="Arial" panose="020B0604020202020204" pitchFamily="34" charset="0"/>
                </a:endParaRPr>
              </a:p>
              <a:p>
                <a:pPr algn="just">
                  <a:lnSpc>
                    <a:spcPct val="110000"/>
                  </a:lnSpc>
                </a:pPr>
                <a14:m>
                  <m:oMathPara xmlns:m="http://schemas.openxmlformats.org/officeDocument/2006/math">
                    <m:oMathParaPr>
                      <m:jc m:val="centerGroup"/>
                    </m:oMathParaPr>
                    <m:oMath xmlns:m="http://schemas.openxmlformats.org/officeDocument/2006/math">
                      <m:f>
                        <m:f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i="1">
                              <a:latin typeface="Cambria Math" panose="02040503050406030204" pitchFamily="18" charset="0"/>
                              <a:ea typeface="微軟正黑體" panose="020B0604030504040204" pitchFamily="34" charset="-120"/>
                              <a:cs typeface="Arial" panose="020B0604020202020204" pitchFamily="34" charset="0"/>
                            </a:rPr>
                            <m:t>𝐷</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𝑦</m:t>
                          </m:r>
                        </m:num>
                        <m:den>
                          <m:r>
                            <a:rPr lang="en-US" altLang="zh-TW" sz="2000" i="1">
                              <a:latin typeface="Cambria Math" panose="02040503050406030204" pitchFamily="18" charset="0"/>
                              <a:ea typeface="微軟正黑體" panose="020B0604030504040204" pitchFamily="34" charset="-120"/>
                              <a:cs typeface="Arial" panose="020B0604020202020204" pitchFamily="34" charset="0"/>
                            </a:rPr>
                            <m:t>𝐷𝑡</m:t>
                          </m:r>
                        </m:den>
                      </m:f>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𝑣</m:t>
                      </m:r>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f>
                        <m:f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i="1">
                              <a:latin typeface="Cambria Math" panose="02040503050406030204" pitchFamily="18" charset="0"/>
                              <a:ea typeface="微軟正黑體" panose="020B0604030504040204" pitchFamily="34" charset="-120"/>
                              <a:cs typeface="Arial" panose="020B0604020202020204" pitchFamily="34" charset="0"/>
                            </a:rPr>
                            <m:t>1</m:t>
                          </m:r>
                        </m:num>
                        <m:den>
                          <m:sSub>
                            <m:sSub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b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𝑓</m:t>
                              </m:r>
                            </m:e>
                            <m:sub>
                              <m:r>
                                <a:rPr lang="en-US" altLang="zh-TW" sz="2000" i="1">
                                  <a:latin typeface="Cambria Math" panose="02040503050406030204" pitchFamily="18" charset="0"/>
                                  <a:ea typeface="微軟正黑體" panose="020B0604030504040204" pitchFamily="34" charset="-120"/>
                                  <a:cs typeface="Arial" panose="020B0604020202020204" pitchFamily="34" charset="0"/>
                                </a:rPr>
                                <m:t>0</m:t>
                              </m:r>
                            </m:sub>
                          </m:sSub>
                        </m:den>
                      </m:f>
                      <m:f>
                        <m:f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Φ</m:t>
                          </m:r>
                        </m:num>
                        <m:den>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𝑥</m:t>
                          </m:r>
                        </m:den>
                      </m:f>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Sup>
                        <m:sSup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p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𝑈</m:t>
                          </m:r>
                        </m:e>
                        <m:sup>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up>
                      </m:sSup>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b="0" i="0" smtClean="0">
                              <a:latin typeface="Cambria Math" panose="02040503050406030204" pitchFamily="18" charset="0"/>
                              <a:ea typeface="微軟正黑體" panose="020B0604030504040204" pitchFamily="34" charset="-120"/>
                              <a:cs typeface="Arial" panose="020B0604020202020204" pitchFamily="34" charset="0"/>
                            </a:rPr>
                            <m:t>cos</m:t>
                          </m:r>
                        </m:fName>
                        <m:e>
                          <m:d>
                            <m:dPr>
                              <m:begChr m:val="["/>
                              <m:endChr m:val="]"/>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𝑘</m:t>
                              </m:r>
                              <m:d>
                                <m:d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𝑥</m:t>
                                  </m:r>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𝑐𝑡</m:t>
                                  </m:r>
                                </m:e>
                              </m:d>
                            </m:e>
                          </m:d>
                        </m:e>
                      </m:func>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b="0" i="0" smtClean="0">
                              <a:latin typeface="Cambria Math" panose="02040503050406030204" pitchFamily="18" charset="0"/>
                              <a:ea typeface="微軟正黑體" panose="020B0604030504040204" pitchFamily="34" charset="-120"/>
                              <a:cs typeface="Arial" panose="020B0604020202020204" pitchFamily="34" charset="0"/>
                            </a:rPr>
                            <m:t>cos</m:t>
                          </m:r>
                        </m:fName>
                        <m:e>
                          <m:r>
                            <a:rPr lang="en-US" altLang="zh-TW" sz="2000" i="1">
                              <a:latin typeface="Cambria Math" panose="02040503050406030204" pitchFamily="18" charset="0"/>
                              <a:ea typeface="微軟正黑體" panose="020B0604030504040204" pitchFamily="34" charset="-120"/>
                              <a:cs typeface="Arial" panose="020B0604020202020204" pitchFamily="34" charset="0"/>
                            </a:rPr>
                            <m:t>𝑙𝑦</m:t>
                          </m:r>
                        </m:e>
                      </m:func>
                    </m:oMath>
                  </m:oMathPara>
                </a14:m>
                <a:endParaRPr lang="en-US" altLang="zh-TW" sz="2000" dirty="0">
                  <a:latin typeface="Arial" panose="020B0604020202020204" pitchFamily="34" charset="0"/>
                  <a:ea typeface="微軟正黑體" panose="020B0604030504040204" pitchFamily="34" charset="-120"/>
                  <a:cs typeface="Arial" panose="020B0604020202020204" pitchFamily="34" charset="0"/>
                </a:endParaRPr>
              </a:p>
            </p:txBody>
          </p:sp>
        </mc:Choice>
        <mc:Fallback xmlns="">
          <p:sp>
            <p:nvSpPr>
              <p:cNvPr id="4" name="矩形 3">
                <a:extLst>
                  <a:ext uri="{FF2B5EF4-FFF2-40B4-BE49-F238E27FC236}">
                    <a16:creationId xmlns:a16="http://schemas.microsoft.com/office/drawing/2014/main" id="{626778B0-F727-4B53-8323-BE09C2CFDA64}"/>
                  </a:ext>
                </a:extLst>
              </p:cNvPr>
              <p:cNvSpPr>
                <a:spLocks noRot="1" noChangeAspect="1" noMove="1" noResize="1" noEditPoints="1" noAdjustHandles="1" noChangeArrowheads="1" noChangeShapeType="1" noTextEdit="1"/>
              </p:cNvSpPr>
              <p:nvPr/>
            </p:nvSpPr>
            <p:spPr>
              <a:xfrm>
                <a:off x="385011" y="648367"/>
                <a:ext cx="11421978" cy="5561266"/>
              </a:xfrm>
              <a:prstGeom prst="rect">
                <a:avLst/>
              </a:prstGeom>
              <a:blipFill>
                <a:blip r:embed="rId2"/>
                <a:stretch>
                  <a:fillRect l="-534" t="-438" r="-53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82737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626778B0-F727-4B53-8323-BE09C2CFDA64}"/>
                  </a:ext>
                </a:extLst>
              </p:cNvPr>
              <p:cNvSpPr/>
              <p:nvPr/>
            </p:nvSpPr>
            <p:spPr>
              <a:xfrm>
                <a:off x="385011" y="2211006"/>
                <a:ext cx="11421978" cy="2435988"/>
              </a:xfrm>
              <a:prstGeom prst="rect">
                <a:avLst/>
              </a:prstGeom>
            </p:spPr>
            <p:txBody>
              <a:bodyPr wrap="square">
                <a:spAutoFit/>
              </a:bodyPr>
              <a:lstStyle/>
              <a:p>
                <a:pPr algn="just">
                  <a:lnSpc>
                    <a:spcPct val="110000"/>
                  </a:lnSpc>
                </a:pPr>
                <a:r>
                  <a:rPr lang="en-US" altLang="zh-TW" sz="2000" dirty="0">
                    <a:latin typeface="Arial" panose="020B0604020202020204" pitchFamily="34" charset="0"/>
                    <a:ea typeface="微軟正黑體" panose="020B0604030504040204" pitchFamily="34" charset="-120"/>
                    <a:cs typeface="Arial" panose="020B0604020202020204" pitchFamily="34" charset="0"/>
                  </a:rPr>
                  <a:t>[Note that </a:t>
                </a:r>
                <a14:m>
                  <m:oMath xmlns:m="http://schemas.openxmlformats.org/officeDocument/2006/math">
                    <m:sSup>
                      <m:sSup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sSupPr>
                      <m:e>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𝑈</m:t>
                        </m:r>
                      </m:e>
                      <m:sup>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sup>
                    </m:sSup>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(taken to be a positive constant) denotes the amplitude of both the </a:t>
                </a:r>
                <a14:m>
                  <m:oMath xmlns:m="http://schemas.openxmlformats.org/officeDocument/2006/math">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𝑥</m:t>
                    </m:r>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and </a:t>
                </a:r>
                <a14:m>
                  <m:oMath xmlns:m="http://schemas.openxmlformats.org/officeDocument/2006/math">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𝑦</m:t>
                    </m:r>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components of the disturbance wind.] the MATLAB script </a:t>
                </a:r>
                <a:r>
                  <a:rPr lang="en-US" altLang="zh-TW" sz="2000" b="1" dirty="0">
                    <a:latin typeface="Arial" panose="020B0604020202020204" pitchFamily="34" charset="0"/>
                    <a:ea typeface="微軟正黑體" panose="020B0604030504040204" pitchFamily="34" charset="-120"/>
                    <a:cs typeface="Arial" panose="020B0604020202020204" pitchFamily="34" charset="0"/>
                  </a:rPr>
                  <a:t>trajectory_1.m</a:t>
                </a:r>
                <a:r>
                  <a:rPr lang="en-US" altLang="zh-TW" sz="2000" dirty="0">
                    <a:latin typeface="Arial" panose="020B0604020202020204" pitchFamily="34" charset="0"/>
                    <a:ea typeface="微軟正黑體" panose="020B0604030504040204" pitchFamily="34" charset="-120"/>
                    <a:cs typeface="Arial" panose="020B0604020202020204" pitchFamily="34" charset="0"/>
                  </a:rPr>
                  <a:t> provides an accurate numerical solution to these equations for the special case in which the zonal mean wind vanishes. Three separate trajectories are plotted in the code. Run this script letting </a:t>
                </a:r>
                <a14:m>
                  <m:oMath xmlns:m="http://schemas.openxmlformats.org/officeDocument/2006/math">
                    <m:sSup>
                      <m:sSup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sSupPr>
                      <m:e>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𝑈</m:t>
                        </m:r>
                      </m:e>
                      <m:sup>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sup>
                    </m:sSup>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 10 m s</a:t>
                </a:r>
                <a:r>
                  <a:rPr lang="en-US" altLang="zh-TW" sz="2000" baseline="30000" dirty="0">
                    <a:latin typeface="Arial" panose="020B0604020202020204" pitchFamily="34" charset="0"/>
                    <a:ea typeface="微軟正黑體" panose="020B0604030504040204" pitchFamily="34" charset="-120"/>
                    <a:cs typeface="Arial" panose="020B0604020202020204" pitchFamily="34" charset="0"/>
                  </a:rPr>
                  <a:t>-1</a:t>
                </a:r>
                <a:r>
                  <a:rPr lang="en-US" altLang="zh-TW" sz="2000" dirty="0">
                    <a:latin typeface="Arial" panose="020B0604020202020204" pitchFamily="34" charset="0"/>
                    <a:ea typeface="微軟正黑體" panose="020B0604030504040204" pitchFamily="34" charset="-120"/>
                    <a:cs typeface="Arial" panose="020B0604020202020204" pitchFamily="34" charset="0"/>
                  </a:rPr>
                  <a:t> for cases with </a:t>
                </a:r>
                <a14:m>
                  <m:oMath xmlns:m="http://schemas.openxmlformats.org/officeDocument/2006/math">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𝑐</m:t>
                    </m:r>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 5, 10, and 15 m s</a:t>
                </a:r>
                <a:r>
                  <a:rPr lang="en-US" altLang="zh-TW" sz="2000" baseline="30000" dirty="0">
                    <a:latin typeface="Arial" panose="020B0604020202020204" pitchFamily="34" charset="0"/>
                    <a:ea typeface="微軟正黑體" panose="020B0604030504040204" pitchFamily="34" charset="-120"/>
                    <a:cs typeface="Arial" panose="020B0604020202020204" pitchFamily="34" charset="0"/>
                  </a:rPr>
                  <a:t>-1</a:t>
                </a:r>
                <a:r>
                  <a:rPr lang="en-US" altLang="zh-TW" sz="2000" dirty="0">
                    <a:latin typeface="Arial" panose="020B0604020202020204" pitchFamily="34" charset="0"/>
                    <a:ea typeface="微軟正黑體" panose="020B0604030504040204" pitchFamily="34" charset="-120"/>
                    <a:cs typeface="Arial" panose="020B0604020202020204" pitchFamily="34" charset="0"/>
                  </a:rPr>
                  <a:t>. Describe the behavior of the three trajectories for each of these cases. Why do the trajectories have their observed dependence on the phase speed </a:t>
                </a:r>
                <a14:m>
                  <m:oMath xmlns:m="http://schemas.openxmlformats.org/officeDocument/2006/math">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𝑐</m:t>
                    </m:r>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at which the geopotential height pattern propagates?</a:t>
                </a:r>
              </a:p>
            </p:txBody>
          </p:sp>
        </mc:Choice>
        <mc:Fallback xmlns="">
          <p:sp>
            <p:nvSpPr>
              <p:cNvPr id="4" name="矩形 3">
                <a:extLst>
                  <a:ext uri="{FF2B5EF4-FFF2-40B4-BE49-F238E27FC236}">
                    <a16:creationId xmlns:a16="http://schemas.microsoft.com/office/drawing/2014/main" id="{626778B0-F727-4B53-8323-BE09C2CFDA64}"/>
                  </a:ext>
                </a:extLst>
              </p:cNvPr>
              <p:cNvSpPr>
                <a:spLocks noRot="1" noChangeAspect="1" noMove="1" noResize="1" noEditPoints="1" noAdjustHandles="1" noChangeArrowheads="1" noChangeShapeType="1" noTextEdit="1"/>
              </p:cNvSpPr>
              <p:nvPr/>
            </p:nvSpPr>
            <p:spPr>
              <a:xfrm>
                <a:off x="385011" y="2211006"/>
                <a:ext cx="11421978" cy="2435988"/>
              </a:xfrm>
              <a:prstGeom prst="rect">
                <a:avLst/>
              </a:prstGeom>
              <a:blipFill>
                <a:blip r:embed="rId2"/>
                <a:stretch>
                  <a:fillRect l="-534" t="-1253" r="-534" b="-375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35881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橢圓 1">
            <a:extLst>
              <a:ext uri="{FF2B5EF4-FFF2-40B4-BE49-F238E27FC236}">
                <a16:creationId xmlns:a16="http://schemas.microsoft.com/office/drawing/2014/main" id="{F8C0C749-2A03-4FF3-BE58-478244AB7C89}"/>
              </a:ext>
            </a:extLst>
          </p:cNvPr>
          <p:cNvSpPr/>
          <p:nvPr/>
        </p:nvSpPr>
        <p:spPr>
          <a:xfrm>
            <a:off x="3571596" y="1818013"/>
            <a:ext cx="1440000" cy="1440000"/>
          </a:xfrm>
          <a:prstGeom prst="ellipse">
            <a:avLst/>
          </a:prstGeom>
          <a:solidFill>
            <a:schemeClr val="accent1">
              <a:alpha val="3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rgbClr val="0070C0"/>
                </a:solidFill>
                <a:latin typeface="Arial" panose="020B0604020202020204" pitchFamily="34" charset="0"/>
                <a:cs typeface="Arial" panose="020B0604020202020204" pitchFamily="34" charset="0"/>
              </a:rPr>
              <a:t>L</a:t>
            </a:r>
            <a:endParaRPr lang="zh-TW" altLang="en-US" sz="2400" dirty="0">
              <a:solidFill>
                <a:srgbClr val="0070C0"/>
              </a:solidFill>
              <a:latin typeface="Arial" panose="020B0604020202020204" pitchFamily="34" charset="0"/>
              <a:cs typeface="Arial" panose="020B0604020202020204" pitchFamily="34" charset="0"/>
            </a:endParaRPr>
          </a:p>
        </p:txBody>
      </p:sp>
      <p:sp>
        <p:nvSpPr>
          <p:cNvPr id="5" name="橢圓 4">
            <a:extLst>
              <a:ext uri="{FF2B5EF4-FFF2-40B4-BE49-F238E27FC236}">
                <a16:creationId xmlns:a16="http://schemas.microsoft.com/office/drawing/2014/main" id="{2BDA893D-E8C4-4C72-BB11-D48013D07050}"/>
              </a:ext>
            </a:extLst>
          </p:cNvPr>
          <p:cNvSpPr/>
          <p:nvPr/>
        </p:nvSpPr>
        <p:spPr>
          <a:xfrm>
            <a:off x="1776920" y="1818013"/>
            <a:ext cx="1440000" cy="1440000"/>
          </a:xfrm>
          <a:prstGeom prst="ellipse">
            <a:avLst/>
          </a:prstGeom>
          <a:solidFill>
            <a:schemeClr val="accent2">
              <a:alpha val="3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a:solidFill>
                  <a:srgbClr val="FF0000"/>
                </a:solidFill>
                <a:latin typeface="Arial" panose="020B0604020202020204" pitchFamily="34" charset="0"/>
                <a:cs typeface="Arial" panose="020B0604020202020204" pitchFamily="34" charset="0"/>
              </a:rPr>
              <a:t>H</a:t>
            </a:r>
            <a:endParaRPr lang="zh-TW" altLang="en-US" sz="2400" dirty="0">
              <a:solidFill>
                <a:srgbClr val="FF0000"/>
              </a:solidFill>
              <a:latin typeface="Arial" panose="020B0604020202020204" pitchFamily="34" charset="0"/>
              <a:cs typeface="Arial" panose="020B0604020202020204" pitchFamily="34" charset="0"/>
            </a:endParaRPr>
          </a:p>
        </p:txBody>
      </p:sp>
      <p:sp>
        <p:nvSpPr>
          <p:cNvPr id="6" name="橢圓 5">
            <a:extLst>
              <a:ext uri="{FF2B5EF4-FFF2-40B4-BE49-F238E27FC236}">
                <a16:creationId xmlns:a16="http://schemas.microsoft.com/office/drawing/2014/main" id="{62CD9964-4220-4086-98E5-1E1EAB576493}"/>
              </a:ext>
            </a:extLst>
          </p:cNvPr>
          <p:cNvSpPr/>
          <p:nvPr/>
        </p:nvSpPr>
        <p:spPr>
          <a:xfrm>
            <a:off x="5366273" y="1818013"/>
            <a:ext cx="1440000" cy="1440000"/>
          </a:xfrm>
          <a:prstGeom prst="ellipse">
            <a:avLst/>
          </a:prstGeom>
          <a:solidFill>
            <a:schemeClr val="accent2">
              <a:alpha val="3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rgbClr val="FF0000"/>
                </a:solidFill>
                <a:latin typeface="Arial" panose="020B0604020202020204" pitchFamily="34" charset="0"/>
                <a:cs typeface="Arial" panose="020B0604020202020204" pitchFamily="34" charset="0"/>
              </a:rPr>
              <a:t>H</a:t>
            </a:r>
            <a:endParaRPr lang="zh-TW" altLang="en-US" sz="2400" dirty="0">
              <a:solidFill>
                <a:srgbClr val="FF0000"/>
              </a:solidFill>
              <a:latin typeface="Arial" panose="020B0604020202020204" pitchFamily="34" charset="0"/>
              <a:cs typeface="Arial" panose="020B0604020202020204" pitchFamily="34" charset="0"/>
            </a:endParaRPr>
          </a:p>
        </p:txBody>
      </p:sp>
      <p:sp>
        <p:nvSpPr>
          <p:cNvPr id="7" name="橢圓 6">
            <a:extLst>
              <a:ext uri="{FF2B5EF4-FFF2-40B4-BE49-F238E27FC236}">
                <a16:creationId xmlns:a16="http://schemas.microsoft.com/office/drawing/2014/main" id="{1BF1204B-12BB-4879-B4F5-817B1B1FF99B}"/>
              </a:ext>
            </a:extLst>
          </p:cNvPr>
          <p:cNvSpPr/>
          <p:nvPr/>
        </p:nvSpPr>
        <p:spPr>
          <a:xfrm>
            <a:off x="7160950" y="1818013"/>
            <a:ext cx="1440000" cy="1440000"/>
          </a:xfrm>
          <a:prstGeom prst="ellipse">
            <a:avLst/>
          </a:prstGeom>
          <a:solidFill>
            <a:schemeClr val="accent1">
              <a:alpha val="3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rgbClr val="0070C0"/>
                </a:solidFill>
                <a:latin typeface="Arial" panose="020B0604020202020204" pitchFamily="34" charset="0"/>
                <a:cs typeface="Arial" panose="020B0604020202020204" pitchFamily="34" charset="0"/>
              </a:rPr>
              <a:t>L</a:t>
            </a:r>
            <a:endParaRPr lang="zh-TW" altLang="en-US" sz="2400" dirty="0">
              <a:solidFill>
                <a:srgbClr val="0070C0"/>
              </a:solidFill>
              <a:latin typeface="Arial" panose="020B0604020202020204" pitchFamily="34" charset="0"/>
              <a:cs typeface="Arial" panose="020B0604020202020204" pitchFamily="34" charset="0"/>
            </a:endParaRPr>
          </a:p>
        </p:txBody>
      </p:sp>
      <p:sp>
        <p:nvSpPr>
          <p:cNvPr id="8" name="橢圓 7">
            <a:extLst>
              <a:ext uri="{FF2B5EF4-FFF2-40B4-BE49-F238E27FC236}">
                <a16:creationId xmlns:a16="http://schemas.microsoft.com/office/drawing/2014/main" id="{2615057E-7944-43E9-AA64-47B1FE8CC4DE}"/>
              </a:ext>
            </a:extLst>
          </p:cNvPr>
          <p:cNvSpPr/>
          <p:nvPr/>
        </p:nvSpPr>
        <p:spPr>
          <a:xfrm>
            <a:off x="8955626" y="1818013"/>
            <a:ext cx="1440000" cy="1440000"/>
          </a:xfrm>
          <a:prstGeom prst="ellipse">
            <a:avLst/>
          </a:prstGeom>
          <a:solidFill>
            <a:schemeClr val="accent2">
              <a:alpha val="3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rgbClr val="FF0000"/>
                </a:solidFill>
                <a:latin typeface="Arial" panose="020B0604020202020204" pitchFamily="34" charset="0"/>
                <a:cs typeface="Arial" panose="020B0604020202020204" pitchFamily="34" charset="0"/>
              </a:rPr>
              <a:t>H</a:t>
            </a:r>
            <a:endParaRPr lang="zh-TW" altLang="en-US" sz="2400" dirty="0">
              <a:solidFill>
                <a:srgbClr val="FF0000"/>
              </a:solidFill>
              <a:latin typeface="Arial" panose="020B0604020202020204" pitchFamily="34" charset="0"/>
              <a:cs typeface="Arial" panose="020B0604020202020204" pitchFamily="34" charset="0"/>
            </a:endParaRPr>
          </a:p>
        </p:txBody>
      </p:sp>
      <p:cxnSp>
        <p:nvCxnSpPr>
          <p:cNvPr id="9" name="直線單箭頭接點 8">
            <a:extLst>
              <a:ext uri="{FF2B5EF4-FFF2-40B4-BE49-F238E27FC236}">
                <a16:creationId xmlns:a16="http://schemas.microsoft.com/office/drawing/2014/main" id="{8ACA3CDC-2D50-4B2F-85A3-9CB39931612E}"/>
              </a:ext>
            </a:extLst>
          </p:cNvPr>
          <p:cNvCxnSpPr/>
          <p:nvPr/>
        </p:nvCxnSpPr>
        <p:spPr>
          <a:xfrm>
            <a:off x="1515486" y="1491855"/>
            <a:ext cx="10800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213B4F80-5D5C-4A32-96EA-A34DE329B71A}"/>
              </a:ext>
            </a:extLst>
          </p:cNvPr>
          <p:cNvCxnSpPr/>
          <p:nvPr/>
        </p:nvCxnSpPr>
        <p:spPr>
          <a:xfrm>
            <a:off x="1105558" y="3508765"/>
            <a:ext cx="5400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9FE7274E-5D72-416A-81ED-7154FB49F749}"/>
              </a:ext>
            </a:extLst>
          </p:cNvPr>
          <p:cNvCxnSpPr>
            <a:cxnSpLocks/>
          </p:cNvCxnSpPr>
          <p:nvPr/>
        </p:nvCxnSpPr>
        <p:spPr>
          <a:xfrm rot="10800000">
            <a:off x="1105558" y="2968765"/>
            <a:ext cx="0" cy="540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9E0F8B7A-A1E0-4D19-806F-771A01AB3E40}"/>
                  </a:ext>
                </a:extLst>
              </p:cNvPr>
              <p:cNvSpPr/>
              <p:nvPr/>
            </p:nvSpPr>
            <p:spPr>
              <a:xfrm>
                <a:off x="1527092" y="3512130"/>
                <a:ext cx="399212"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TW" sz="2000" b="0" i="1" dirty="0" smtClean="0">
                          <a:latin typeface="Cambria Math" panose="02040503050406030204" pitchFamily="18" charset="0"/>
                          <a:cs typeface="Arial" panose="020B0604020202020204" pitchFamily="34" charset="0"/>
                        </a:rPr>
                        <m:t>𝑥</m:t>
                      </m:r>
                    </m:oMath>
                  </m:oMathPara>
                </a14:m>
                <a:endParaRPr lang="zh-TW" altLang="en-US" sz="2000" dirty="0">
                  <a:latin typeface="Arial" panose="020B0604020202020204" pitchFamily="34" charset="0"/>
                  <a:cs typeface="Arial" panose="020B0604020202020204" pitchFamily="34" charset="0"/>
                </a:endParaRPr>
              </a:p>
            </p:txBody>
          </p:sp>
        </mc:Choice>
        <mc:Fallback xmlns="">
          <p:sp>
            <p:nvSpPr>
              <p:cNvPr id="13" name="矩形 12">
                <a:extLst>
                  <a:ext uri="{FF2B5EF4-FFF2-40B4-BE49-F238E27FC236}">
                    <a16:creationId xmlns:a16="http://schemas.microsoft.com/office/drawing/2014/main" id="{9E0F8B7A-A1E0-4D19-806F-771A01AB3E40}"/>
                  </a:ext>
                </a:extLst>
              </p:cNvPr>
              <p:cNvSpPr>
                <a:spLocks noRot="1" noChangeAspect="1" noMove="1" noResize="1" noEditPoints="1" noAdjustHandles="1" noChangeArrowheads="1" noChangeShapeType="1" noTextEdit="1"/>
              </p:cNvSpPr>
              <p:nvPr/>
            </p:nvSpPr>
            <p:spPr>
              <a:xfrm>
                <a:off x="1527092" y="3512130"/>
                <a:ext cx="399212" cy="400110"/>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A88068CA-E474-4480-8520-17773F257CE4}"/>
                  </a:ext>
                </a:extLst>
              </p:cNvPr>
              <p:cNvSpPr/>
              <p:nvPr/>
            </p:nvSpPr>
            <p:spPr>
              <a:xfrm>
                <a:off x="831859" y="2565291"/>
                <a:ext cx="403828"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TW" sz="2000" b="0" i="1" dirty="0" smtClean="0">
                          <a:latin typeface="Cambria Math" panose="02040503050406030204" pitchFamily="18" charset="0"/>
                          <a:cs typeface="Arial" panose="020B0604020202020204" pitchFamily="34" charset="0"/>
                        </a:rPr>
                        <m:t>𝑦</m:t>
                      </m:r>
                    </m:oMath>
                  </m:oMathPara>
                </a14:m>
                <a:endParaRPr lang="zh-TW" altLang="en-US" sz="2000" dirty="0">
                  <a:latin typeface="Arial" panose="020B0604020202020204" pitchFamily="34" charset="0"/>
                  <a:cs typeface="Arial" panose="020B0604020202020204" pitchFamily="34" charset="0"/>
                </a:endParaRPr>
              </a:p>
            </p:txBody>
          </p:sp>
        </mc:Choice>
        <mc:Fallback xmlns="">
          <p:sp>
            <p:nvSpPr>
              <p:cNvPr id="14" name="矩形 13">
                <a:extLst>
                  <a:ext uri="{FF2B5EF4-FFF2-40B4-BE49-F238E27FC236}">
                    <a16:creationId xmlns:a16="http://schemas.microsoft.com/office/drawing/2014/main" id="{A88068CA-E474-4480-8520-17773F257CE4}"/>
                  </a:ext>
                </a:extLst>
              </p:cNvPr>
              <p:cNvSpPr>
                <a:spLocks noRot="1" noChangeAspect="1" noMove="1" noResize="1" noEditPoints="1" noAdjustHandles="1" noChangeArrowheads="1" noChangeShapeType="1" noTextEdit="1"/>
              </p:cNvSpPr>
              <p:nvPr/>
            </p:nvSpPr>
            <p:spPr>
              <a:xfrm>
                <a:off x="831859" y="2565291"/>
                <a:ext cx="403828" cy="400110"/>
              </a:xfrm>
              <a:prstGeom prst="rect">
                <a:avLst/>
              </a:prstGeom>
              <a:blipFill>
                <a:blip r:embed="rId3"/>
                <a:stretch>
                  <a:fillRect b="-1076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2EC9DFDE-F2D2-4AFB-A8A8-C2088A2CD4C3}"/>
                  </a:ext>
                </a:extLst>
              </p:cNvPr>
              <p:cNvSpPr/>
              <p:nvPr/>
            </p:nvSpPr>
            <p:spPr>
              <a:xfrm>
                <a:off x="5871819" y="1073789"/>
                <a:ext cx="475668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Φ</m:t>
                      </m:r>
                      <m:d>
                        <m:d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𝑥</m:t>
                          </m:r>
                          <m:r>
                            <a:rPr lang="en-US" altLang="zh-TW" sz="2000" i="1">
                              <a:latin typeface="Cambria Math" panose="02040503050406030204" pitchFamily="18" charset="0"/>
                              <a:ea typeface="微軟正黑體" panose="020B0604030504040204" pitchFamily="34" charset="-120"/>
                              <a:cs typeface="Arial" panose="020B0604020202020204" pitchFamily="34" charset="0"/>
                            </a:rPr>
                            <m:t>, </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𝑦</m:t>
                          </m:r>
                          <m:r>
                            <a:rPr lang="en-US" altLang="zh-TW" sz="2000" i="1">
                              <a:latin typeface="Cambria Math" panose="02040503050406030204" pitchFamily="18" charset="0"/>
                              <a:ea typeface="微軟正黑體" panose="020B0604030504040204" pitchFamily="34" charset="-120"/>
                              <a:cs typeface="Arial" panose="020B0604020202020204" pitchFamily="34" charset="0"/>
                            </a:rPr>
                            <m:t>, </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𝑡</m:t>
                          </m:r>
                        </m:e>
                      </m:d>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Sub>
                        <m:sSub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bPr>
                        <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Φ</m:t>
                          </m:r>
                        </m:e>
                        <m:sub>
                          <m:r>
                            <a:rPr lang="en-US" altLang="zh-TW" sz="2000" i="1">
                              <a:latin typeface="Cambria Math" panose="02040503050406030204" pitchFamily="18" charset="0"/>
                              <a:ea typeface="微軟正黑體" panose="020B0604030504040204" pitchFamily="34" charset="-120"/>
                              <a:cs typeface="Arial" panose="020B0604020202020204" pitchFamily="34" charset="0"/>
                            </a:rPr>
                            <m:t>0</m:t>
                          </m:r>
                        </m:sub>
                      </m:sSub>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Sup>
                        <m:sSup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pPr>
                        <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Φ</m:t>
                          </m:r>
                        </m:e>
                        <m:sup>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up>
                      </m:sSup>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sin</m:t>
                          </m:r>
                        </m:fName>
                        <m:e>
                          <m:d>
                            <m:dPr>
                              <m:begChr m:val="["/>
                              <m:endChr m:val="]"/>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𝑘</m:t>
                              </m:r>
                              <m:d>
                                <m:d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𝑥</m:t>
                                  </m:r>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𝑐𝑡</m:t>
                                  </m:r>
                                </m:e>
                              </m:d>
                            </m:e>
                          </m:d>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cos</m:t>
                              </m:r>
                            </m:fName>
                            <m:e>
                              <m:r>
                                <a:rPr lang="en-US" altLang="zh-TW" sz="2000" i="1">
                                  <a:latin typeface="Cambria Math" panose="02040503050406030204" pitchFamily="18" charset="0"/>
                                  <a:ea typeface="微軟正黑體" panose="020B0604030504040204" pitchFamily="34" charset="-120"/>
                                  <a:cs typeface="Arial" panose="020B0604020202020204" pitchFamily="34" charset="0"/>
                                </a:rPr>
                                <m:t>𝑙𝑦</m:t>
                              </m:r>
                            </m:e>
                          </m:func>
                        </m:e>
                      </m:func>
                    </m:oMath>
                  </m:oMathPara>
                </a14:m>
                <a:endParaRPr lang="zh-TW" altLang="en-US" sz="2000" dirty="0"/>
              </a:p>
            </p:txBody>
          </p:sp>
        </mc:Choice>
        <mc:Fallback xmlns="">
          <p:sp>
            <p:nvSpPr>
              <p:cNvPr id="15" name="矩形 14">
                <a:extLst>
                  <a:ext uri="{FF2B5EF4-FFF2-40B4-BE49-F238E27FC236}">
                    <a16:creationId xmlns:a16="http://schemas.microsoft.com/office/drawing/2014/main" id="{2EC9DFDE-F2D2-4AFB-A8A8-C2088A2CD4C3}"/>
                  </a:ext>
                </a:extLst>
              </p:cNvPr>
              <p:cNvSpPr>
                <a:spLocks noRot="1" noChangeAspect="1" noMove="1" noResize="1" noEditPoints="1" noAdjustHandles="1" noChangeArrowheads="1" noChangeShapeType="1" noTextEdit="1"/>
              </p:cNvSpPr>
              <p:nvPr/>
            </p:nvSpPr>
            <p:spPr>
              <a:xfrm>
                <a:off x="5871819" y="1073789"/>
                <a:ext cx="4756687" cy="400110"/>
              </a:xfrm>
              <a:prstGeom prst="rect">
                <a:avLst/>
              </a:prstGeom>
              <a:blipFill>
                <a:blip r:embed="rId4"/>
                <a:stretch>
                  <a:fillRect b="-1363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B492BE7A-EF9C-4749-AC92-1D69A7B37404}"/>
                  </a:ext>
                </a:extLst>
              </p:cNvPr>
              <p:cNvSpPr/>
              <p:nvPr/>
            </p:nvSpPr>
            <p:spPr>
              <a:xfrm>
                <a:off x="2727226" y="4656902"/>
                <a:ext cx="6771483" cy="1498615"/>
              </a:xfrm>
              <a:prstGeom prst="rect">
                <a:avLst/>
              </a:prstGeom>
            </p:spPr>
            <p:txBody>
              <a:bodyPr wrap="square">
                <a:spAutoFit/>
              </a:bodyPr>
              <a:lstStyle/>
              <a:p>
                <a:pPr algn="just">
                  <a:lnSpc>
                    <a:spcPct val="110000"/>
                  </a:lnSpc>
                </a:pPr>
                <a14:m>
                  <m:oMathPara xmlns:m="http://schemas.openxmlformats.org/officeDocument/2006/math">
                    <m:oMathParaPr>
                      <m:jc m:val="centerGroup"/>
                    </m:oMathParaPr>
                    <m:oMath xmlns:m="http://schemas.openxmlformats.org/officeDocument/2006/math">
                      <m:f>
                        <m:f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i="1">
                              <a:latin typeface="Cambria Math" panose="02040503050406030204" pitchFamily="18" charset="0"/>
                              <a:ea typeface="微軟正黑體" panose="020B0604030504040204" pitchFamily="34" charset="-120"/>
                              <a:cs typeface="Arial" panose="020B0604020202020204" pitchFamily="34" charset="0"/>
                            </a:rPr>
                            <m:t>𝐷𝑥</m:t>
                          </m:r>
                        </m:num>
                        <m:den>
                          <m:r>
                            <a:rPr lang="en-US" altLang="zh-TW" sz="2000" i="1">
                              <a:latin typeface="Cambria Math" panose="02040503050406030204" pitchFamily="18" charset="0"/>
                              <a:ea typeface="微軟正黑體" panose="020B0604030504040204" pitchFamily="34" charset="-120"/>
                              <a:cs typeface="Arial" panose="020B0604020202020204" pitchFamily="34" charset="0"/>
                            </a:rPr>
                            <m:t>𝐷𝑡</m:t>
                          </m:r>
                        </m:den>
                      </m:f>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𝑢</m:t>
                      </m:r>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f>
                        <m:f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i="1">
                              <a:latin typeface="Cambria Math" panose="02040503050406030204" pitchFamily="18" charset="0"/>
                              <a:ea typeface="微軟正黑體" panose="020B0604030504040204" pitchFamily="34" charset="-120"/>
                              <a:cs typeface="Arial" panose="020B0604020202020204" pitchFamily="34" charset="0"/>
                            </a:rPr>
                            <m:t>1</m:t>
                          </m:r>
                        </m:num>
                        <m:den>
                          <m:sSub>
                            <m:sSub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b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𝑓</m:t>
                              </m:r>
                            </m:e>
                            <m:sub>
                              <m:r>
                                <a:rPr lang="en-US" altLang="zh-TW" sz="2000" i="1">
                                  <a:latin typeface="Cambria Math" panose="02040503050406030204" pitchFamily="18" charset="0"/>
                                  <a:ea typeface="微軟正黑體" panose="020B0604030504040204" pitchFamily="34" charset="-120"/>
                                  <a:cs typeface="Arial" panose="020B0604020202020204" pitchFamily="34" charset="0"/>
                                </a:rPr>
                                <m:t>0</m:t>
                              </m:r>
                            </m:sub>
                          </m:sSub>
                        </m:den>
                      </m:f>
                      <m:f>
                        <m:f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Φ</m:t>
                          </m:r>
                        </m:num>
                        <m:den>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𝑦</m:t>
                          </m:r>
                        </m:den>
                      </m:f>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Sup>
                        <m:sSup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p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𝑈</m:t>
                          </m:r>
                        </m:e>
                        <m:sup>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up>
                      </m:sSup>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sin</m:t>
                          </m:r>
                        </m:fName>
                        <m:e>
                          <m:d>
                            <m:dPr>
                              <m:begChr m:val="["/>
                              <m:endChr m:val="]"/>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𝑘</m:t>
                              </m:r>
                              <m:d>
                                <m:d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𝑥</m:t>
                                  </m:r>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𝑐𝑡</m:t>
                                  </m:r>
                                </m:e>
                              </m:d>
                            </m:e>
                          </m:d>
                        </m:e>
                      </m:func>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sin</m:t>
                          </m:r>
                        </m:fName>
                        <m:e>
                          <m:r>
                            <a:rPr lang="en-US" altLang="zh-TW" sz="2000" i="1">
                              <a:latin typeface="Cambria Math" panose="02040503050406030204" pitchFamily="18" charset="0"/>
                              <a:ea typeface="微軟正黑體" panose="020B0604030504040204" pitchFamily="34" charset="-120"/>
                              <a:cs typeface="Arial" panose="020B0604020202020204" pitchFamily="34" charset="0"/>
                            </a:rPr>
                            <m:t>𝑙𝑦</m:t>
                          </m:r>
                        </m:e>
                      </m:func>
                    </m:oMath>
                  </m:oMathPara>
                </a14:m>
                <a:endParaRPr lang="en-US" altLang="zh-TW" sz="2000" dirty="0">
                  <a:latin typeface="Arial" panose="020B0604020202020204" pitchFamily="34" charset="0"/>
                  <a:ea typeface="微軟正黑體" panose="020B0604030504040204" pitchFamily="34" charset="-120"/>
                  <a:cs typeface="Arial" panose="020B0604020202020204" pitchFamily="34" charset="0"/>
                </a:endParaRPr>
              </a:p>
              <a:p>
                <a:pPr algn="just">
                  <a:lnSpc>
                    <a:spcPct val="110000"/>
                  </a:lnSpc>
                </a:pPr>
                <a14:m>
                  <m:oMathPara xmlns:m="http://schemas.openxmlformats.org/officeDocument/2006/math">
                    <m:oMathParaPr>
                      <m:jc m:val="centerGroup"/>
                    </m:oMathParaPr>
                    <m:oMath xmlns:m="http://schemas.openxmlformats.org/officeDocument/2006/math">
                      <m:f>
                        <m:f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i="1">
                              <a:latin typeface="Cambria Math" panose="02040503050406030204" pitchFamily="18" charset="0"/>
                              <a:ea typeface="微軟正黑體" panose="020B0604030504040204" pitchFamily="34" charset="-120"/>
                              <a:cs typeface="Arial" panose="020B0604020202020204" pitchFamily="34" charset="0"/>
                            </a:rPr>
                            <m:t>𝐷𝑦</m:t>
                          </m:r>
                        </m:num>
                        <m:den>
                          <m:r>
                            <a:rPr lang="en-US" altLang="zh-TW" sz="2000" i="1">
                              <a:latin typeface="Cambria Math" panose="02040503050406030204" pitchFamily="18" charset="0"/>
                              <a:ea typeface="微軟正黑體" panose="020B0604030504040204" pitchFamily="34" charset="-120"/>
                              <a:cs typeface="Arial" panose="020B0604020202020204" pitchFamily="34" charset="0"/>
                            </a:rPr>
                            <m:t>𝐷𝑡</m:t>
                          </m:r>
                        </m:den>
                      </m:f>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𝑣</m:t>
                      </m:r>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f>
                        <m:f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i="1">
                              <a:latin typeface="Cambria Math" panose="02040503050406030204" pitchFamily="18" charset="0"/>
                              <a:ea typeface="微軟正黑體" panose="020B0604030504040204" pitchFamily="34" charset="-120"/>
                              <a:cs typeface="Arial" panose="020B0604020202020204" pitchFamily="34" charset="0"/>
                            </a:rPr>
                            <m:t>1</m:t>
                          </m:r>
                        </m:num>
                        <m:den>
                          <m:sSub>
                            <m:sSub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b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𝑓</m:t>
                              </m:r>
                            </m:e>
                            <m:sub>
                              <m:r>
                                <a:rPr lang="en-US" altLang="zh-TW" sz="2000" i="1">
                                  <a:latin typeface="Cambria Math" panose="02040503050406030204" pitchFamily="18" charset="0"/>
                                  <a:ea typeface="微軟正黑體" panose="020B0604030504040204" pitchFamily="34" charset="-120"/>
                                  <a:cs typeface="Arial" panose="020B0604020202020204" pitchFamily="34" charset="0"/>
                                </a:rPr>
                                <m:t>0</m:t>
                              </m:r>
                            </m:sub>
                          </m:sSub>
                        </m:den>
                      </m:f>
                      <m:f>
                        <m:f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Φ</m:t>
                          </m:r>
                        </m:num>
                        <m:den>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𝑥</m:t>
                          </m:r>
                        </m:den>
                      </m:f>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Sup>
                        <m:sSup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p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𝑈</m:t>
                          </m:r>
                        </m:e>
                        <m:sup>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up>
                      </m:sSup>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cos</m:t>
                          </m:r>
                        </m:fName>
                        <m:e>
                          <m:d>
                            <m:dPr>
                              <m:begChr m:val="["/>
                              <m:endChr m:val="]"/>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𝑘</m:t>
                              </m:r>
                              <m:d>
                                <m:d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𝑥</m:t>
                                  </m:r>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𝑐𝑡</m:t>
                                  </m:r>
                                </m:e>
                              </m:d>
                            </m:e>
                          </m:d>
                        </m:e>
                      </m:func>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cos</m:t>
                          </m:r>
                        </m:fName>
                        <m:e>
                          <m:r>
                            <a:rPr lang="en-US" altLang="zh-TW" sz="2000" i="1">
                              <a:latin typeface="Cambria Math" panose="02040503050406030204" pitchFamily="18" charset="0"/>
                              <a:ea typeface="微軟正黑體" panose="020B0604030504040204" pitchFamily="34" charset="-120"/>
                              <a:cs typeface="Arial" panose="020B0604020202020204" pitchFamily="34" charset="0"/>
                            </a:rPr>
                            <m:t>𝑙𝑦</m:t>
                          </m:r>
                        </m:e>
                      </m:func>
                    </m:oMath>
                  </m:oMathPara>
                </a14:m>
                <a:endParaRPr lang="en-US" altLang="zh-TW" sz="2000" dirty="0">
                  <a:latin typeface="Arial" panose="020B0604020202020204" pitchFamily="34" charset="0"/>
                  <a:ea typeface="微軟正黑體" panose="020B0604030504040204" pitchFamily="34" charset="-120"/>
                  <a:cs typeface="Arial" panose="020B0604020202020204" pitchFamily="34" charset="0"/>
                </a:endParaRPr>
              </a:p>
            </p:txBody>
          </p:sp>
        </mc:Choice>
        <mc:Fallback xmlns="">
          <p:sp>
            <p:nvSpPr>
              <p:cNvPr id="16" name="矩形 15">
                <a:extLst>
                  <a:ext uri="{FF2B5EF4-FFF2-40B4-BE49-F238E27FC236}">
                    <a16:creationId xmlns:a16="http://schemas.microsoft.com/office/drawing/2014/main" id="{B492BE7A-EF9C-4749-AC92-1D69A7B37404}"/>
                  </a:ext>
                </a:extLst>
              </p:cNvPr>
              <p:cNvSpPr>
                <a:spLocks noRot="1" noChangeAspect="1" noMove="1" noResize="1" noEditPoints="1" noAdjustHandles="1" noChangeArrowheads="1" noChangeShapeType="1" noTextEdit="1"/>
              </p:cNvSpPr>
              <p:nvPr/>
            </p:nvSpPr>
            <p:spPr>
              <a:xfrm>
                <a:off x="2727226" y="4656902"/>
                <a:ext cx="6771483" cy="1498615"/>
              </a:xfrm>
              <a:prstGeom prst="rect">
                <a:avLst/>
              </a:prstGeom>
              <a:blipFill>
                <a:blip r:embed="rId5"/>
                <a:stretch>
                  <a:fillRect/>
                </a:stretch>
              </a:blipFill>
            </p:spPr>
            <p:txBody>
              <a:bodyPr/>
              <a:lstStyle/>
              <a:p>
                <a:r>
                  <a:rPr lang="zh-TW" altLang="en-US">
                    <a:noFill/>
                  </a:rPr>
                  <a:t> </a:t>
                </a:r>
              </a:p>
            </p:txBody>
          </p:sp>
        </mc:Fallback>
      </mc:AlternateContent>
      <p:sp>
        <p:nvSpPr>
          <p:cNvPr id="17" name="矩形 16">
            <a:extLst>
              <a:ext uri="{FF2B5EF4-FFF2-40B4-BE49-F238E27FC236}">
                <a16:creationId xmlns:a16="http://schemas.microsoft.com/office/drawing/2014/main" id="{8F46499B-2F8E-416D-947F-E4A8FB946261}"/>
              </a:ext>
            </a:extLst>
          </p:cNvPr>
          <p:cNvSpPr/>
          <p:nvPr/>
        </p:nvSpPr>
        <p:spPr>
          <a:xfrm>
            <a:off x="4595566" y="679588"/>
            <a:ext cx="3034805" cy="400110"/>
          </a:xfrm>
          <a:prstGeom prst="rect">
            <a:avLst/>
          </a:prstGeom>
        </p:spPr>
        <p:txBody>
          <a:bodyPr wrap="none">
            <a:spAutoFit/>
          </a:bodyPr>
          <a:lstStyle/>
          <a:p>
            <a:r>
              <a:rPr lang="en-US" altLang="zh-TW" sz="2000" dirty="0">
                <a:latin typeface="Arial" panose="020B0604020202020204" pitchFamily="34" charset="0"/>
                <a:ea typeface="微軟正黑體" panose="020B0604030504040204" pitchFamily="34" charset="-120"/>
                <a:cs typeface="Arial" panose="020B0604020202020204" pitchFamily="34" charset="0"/>
              </a:rPr>
              <a:t>Geopotential disturbance</a:t>
            </a:r>
            <a:endParaRPr lang="zh-TW" altLang="en-US" sz="2000" dirty="0"/>
          </a:p>
        </p:txBody>
      </p:sp>
      <p:sp>
        <p:nvSpPr>
          <p:cNvPr id="18" name="矩形 17">
            <a:extLst>
              <a:ext uri="{FF2B5EF4-FFF2-40B4-BE49-F238E27FC236}">
                <a16:creationId xmlns:a16="http://schemas.microsoft.com/office/drawing/2014/main" id="{01D46639-B689-4AF5-99A7-6412984469D8}"/>
              </a:ext>
            </a:extLst>
          </p:cNvPr>
          <p:cNvSpPr/>
          <p:nvPr/>
        </p:nvSpPr>
        <p:spPr>
          <a:xfrm>
            <a:off x="2206574" y="4314025"/>
            <a:ext cx="1314912" cy="400110"/>
          </a:xfrm>
          <a:prstGeom prst="rect">
            <a:avLst/>
          </a:prstGeom>
        </p:spPr>
        <p:txBody>
          <a:bodyPr wrap="none">
            <a:spAutoFit/>
          </a:bodyPr>
          <a:lstStyle/>
          <a:p>
            <a:r>
              <a:rPr lang="en-US" altLang="zh-TW" sz="2000" dirty="0">
                <a:latin typeface="Arial" panose="020B0604020202020204" pitchFamily="34" charset="0"/>
                <a:ea typeface="微軟正黑體" panose="020B0604030504040204" pitchFamily="34" charset="-120"/>
                <a:cs typeface="Arial" panose="020B0604020202020204" pitchFamily="34" charset="0"/>
              </a:rPr>
              <a:t>Trajectory</a:t>
            </a:r>
            <a:endParaRPr lang="zh-TW" altLang="en-US" sz="2000" dirty="0"/>
          </a:p>
        </p:txBody>
      </p:sp>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06B5479C-7B38-4580-A0FB-19A3F1359A28}"/>
                  </a:ext>
                </a:extLst>
              </p:cNvPr>
              <p:cNvSpPr/>
              <p:nvPr/>
            </p:nvSpPr>
            <p:spPr>
              <a:xfrm>
                <a:off x="1235687" y="893686"/>
                <a:ext cx="1879169" cy="400110"/>
              </a:xfrm>
              <a:prstGeom prst="rect">
                <a:avLst/>
              </a:prstGeom>
            </p:spPr>
            <p:txBody>
              <a:bodyPr wrap="none">
                <a:spAutoFit/>
              </a:bodyPr>
              <a:lstStyle/>
              <a:p>
                <a:r>
                  <a:rPr lang="en-US" altLang="zh-TW" sz="2000" dirty="0">
                    <a:latin typeface="Arial" panose="020B0604020202020204" pitchFamily="34" charset="0"/>
                    <a:ea typeface="微軟正黑體" panose="020B0604030504040204" pitchFamily="34" charset="-120"/>
                    <a:cs typeface="Arial" panose="020B0604020202020204" pitchFamily="34" charset="0"/>
                  </a:rPr>
                  <a:t>Phase speed </a:t>
                </a:r>
                <a14:m>
                  <m:oMath xmlns:m="http://schemas.openxmlformats.org/officeDocument/2006/math">
                    <m:r>
                      <a:rPr lang="en-US" altLang="zh-TW" sz="2000" i="1" dirty="0">
                        <a:latin typeface="Cambria Math" panose="02040503050406030204" pitchFamily="18" charset="0"/>
                        <a:cs typeface="Arial" panose="020B0604020202020204" pitchFamily="34" charset="0"/>
                      </a:rPr>
                      <m:t>𝑐</m:t>
                    </m:r>
                  </m:oMath>
                </a14:m>
                <a:endParaRPr lang="zh-TW" altLang="en-US" sz="2000" dirty="0">
                  <a:latin typeface="Arial" panose="020B0604020202020204" pitchFamily="34" charset="0"/>
                  <a:cs typeface="Arial" panose="020B0604020202020204" pitchFamily="34" charset="0"/>
                </a:endParaRPr>
              </a:p>
            </p:txBody>
          </p:sp>
        </mc:Choice>
        <mc:Fallback xmlns="">
          <p:sp>
            <p:nvSpPr>
              <p:cNvPr id="19" name="矩形 18">
                <a:extLst>
                  <a:ext uri="{FF2B5EF4-FFF2-40B4-BE49-F238E27FC236}">
                    <a16:creationId xmlns:a16="http://schemas.microsoft.com/office/drawing/2014/main" id="{06B5479C-7B38-4580-A0FB-19A3F1359A28}"/>
                  </a:ext>
                </a:extLst>
              </p:cNvPr>
              <p:cNvSpPr>
                <a:spLocks noRot="1" noChangeAspect="1" noMove="1" noResize="1" noEditPoints="1" noAdjustHandles="1" noChangeArrowheads="1" noChangeShapeType="1" noTextEdit="1"/>
              </p:cNvSpPr>
              <p:nvPr/>
            </p:nvSpPr>
            <p:spPr>
              <a:xfrm>
                <a:off x="1235687" y="893686"/>
                <a:ext cx="1879169" cy="400110"/>
              </a:xfrm>
              <a:prstGeom prst="rect">
                <a:avLst/>
              </a:prstGeom>
              <a:blipFill>
                <a:blip r:embed="rId6"/>
                <a:stretch>
                  <a:fillRect l="-3571" t="-7692" b="-2923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3E9F2746-A990-435E-890C-0093F3EA9B4C}"/>
                  </a:ext>
                </a:extLst>
              </p:cNvPr>
              <p:cNvSpPr/>
              <p:nvPr/>
            </p:nvSpPr>
            <p:spPr>
              <a:xfrm>
                <a:off x="7684696" y="3484795"/>
                <a:ext cx="3981859" cy="707886"/>
              </a:xfrm>
              <a:prstGeom prst="rect">
                <a:avLst/>
              </a:prstGeom>
            </p:spPr>
            <p:txBody>
              <a:bodyPr wrap="none">
                <a:spAutoFit/>
              </a:bodyPr>
              <a:lstStyle/>
              <a:p>
                <a14:m>
                  <m:oMath xmlns:m="http://schemas.openxmlformats.org/officeDocument/2006/math">
                    <m:r>
                      <a:rPr lang="en-US" altLang="zh-TW" sz="2000" i="1" smtClean="0">
                        <a:latin typeface="Cambria Math" panose="02040503050406030204" pitchFamily="18" charset="0"/>
                        <a:ea typeface="微軟正黑體" panose="020B0604030504040204" pitchFamily="34" charset="-120"/>
                        <a:cs typeface="Arial" panose="020B0604020202020204" pitchFamily="34" charset="0"/>
                      </a:rPr>
                      <m:t>𝑘</m:t>
                    </m:r>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wave number in the </a:t>
                </a:r>
                <a14:m>
                  <m:oMath xmlns:m="http://schemas.openxmlformats.org/officeDocument/2006/math">
                    <m:r>
                      <a:rPr lang="en-US" altLang="zh-TW" sz="2000" i="1">
                        <a:latin typeface="Cambria Math" panose="02040503050406030204" pitchFamily="18" charset="0"/>
                        <a:ea typeface="微軟正黑體" panose="020B0604030504040204" pitchFamily="34" charset="-120"/>
                        <a:cs typeface="Arial" panose="020B0604020202020204" pitchFamily="34" charset="0"/>
                      </a:rPr>
                      <m:t>𝑥</m:t>
                    </m:r>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direction</a:t>
                </a:r>
              </a:p>
              <a:p>
                <a14:m>
                  <m:oMath xmlns:m="http://schemas.openxmlformats.org/officeDocument/2006/math">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𝑙</m:t>
                    </m:r>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wave number in the </a:t>
                </a:r>
                <a14:m>
                  <m:oMath xmlns:m="http://schemas.openxmlformats.org/officeDocument/2006/math">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𝑦</m:t>
                    </m:r>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direction</a:t>
                </a:r>
              </a:p>
            </p:txBody>
          </p:sp>
        </mc:Choice>
        <mc:Fallback xmlns="">
          <p:sp>
            <p:nvSpPr>
              <p:cNvPr id="20" name="矩形 19">
                <a:extLst>
                  <a:ext uri="{FF2B5EF4-FFF2-40B4-BE49-F238E27FC236}">
                    <a16:creationId xmlns:a16="http://schemas.microsoft.com/office/drawing/2014/main" id="{3E9F2746-A990-435E-890C-0093F3EA9B4C}"/>
                  </a:ext>
                </a:extLst>
              </p:cNvPr>
              <p:cNvSpPr>
                <a:spLocks noRot="1" noChangeAspect="1" noMove="1" noResize="1" noEditPoints="1" noAdjustHandles="1" noChangeArrowheads="1" noChangeShapeType="1" noTextEdit="1"/>
              </p:cNvSpPr>
              <p:nvPr/>
            </p:nvSpPr>
            <p:spPr>
              <a:xfrm>
                <a:off x="7684696" y="3484795"/>
                <a:ext cx="3981859" cy="707886"/>
              </a:xfrm>
              <a:prstGeom prst="rect">
                <a:avLst/>
              </a:prstGeom>
              <a:blipFill>
                <a:blip r:embed="rId7"/>
                <a:stretch>
                  <a:fillRect t="-4310" r="-919" b="-1551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26290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568802" y="465029"/>
                <a:ext cx="9528567" cy="5270863"/>
              </a:xfrm>
            </p:spPr>
            <p:txBody>
              <a:bodyPr/>
              <a:lstStyle/>
              <a:p>
                <a:pPr>
                  <a:lnSpc>
                    <a:spcPct val="150000"/>
                  </a:lnSpc>
                </a:pPr>
                <a:r>
                  <a:rPr lang="zh-TW" altLang="en-US" sz="2400" dirty="0">
                    <a:latin typeface="源泉圓體 B" panose="020B0800000000000000" pitchFamily="34" charset="-120"/>
                    <a:ea typeface="源泉圓體 B" panose="020B0800000000000000" pitchFamily="34" charset="-120"/>
                    <a:cs typeface="Arial" panose="020B0604020202020204" pitchFamily="34" charset="0"/>
                  </a:rPr>
                  <a:t>時間與空間具週期性的重力位擾動，對氣塊軌跡的影響</a:t>
                </a:r>
                <a:endParaRPr lang="en-US" altLang="zh-TW" sz="2400" dirty="0">
                  <a:latin typeface="源泉圓體 B" panose="020B0800000000000000" pitchFamily="34" charset="-120"/>
                  <a:ea typeface="源泉圓體 B" panose="020B0800000000000000" pitchFamily="34" charset="-120"/>
                  <a:cs typeface="Arial" panose="020B0604020202020204" pitchFamily="34" charset="0"/>
                </a:endParaRPr>
              </a:p>
              <a:p>
                <a:pPr>
                  <a:lnSpc>
                    <a:spcPct val="150000"/>
                  </a:lnSpc>
                </a:pPr>
                <a14:m>
                  <m:oMath xmlns:m="http://schemas.openxmlformats.org/officeDocument/2006/math">
                    <m:r>
                      <m:rPr>
                        <m:sty m:val="p"/>
                      </m:rPr>
                      <a:rPr lang="el-GR" altLang="zh-TW" i="1" smtClean="0">
                        <a:latin typeface="Cambria Math" panose="02040503050406030204" pitchFamily="18" charset="0"/>
                        <a:ea typeface="Cambria Math" panose="02040503050406030204" pitchFamily="18" charset="0"/>
                      </a:rPr>
                      <m:t>Φ</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𝑥</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𝑦</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𝑡</m:t>
                    </m:r>
                    <m:r>
                      <a:rPr lang="en-US" altLang="zh-TW" b="0"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ea typeface="Cambria Math" panose="02040503050406030204" pitchFamily="18" charset="0"/>
                          </a:rPr>
                        </m:ctrlPr>
                      </m:sSubPr>
                      <m:e>
                        <m:r>
                          <m:rPr>
                            <m:sty m:val="p"/>
                          </m:rPr>
                          <a:rPr lang="el-GR" altLang="zh-TW" i="1" smtClean="0">
                            <a:latin typeface="Cambria Math" panose="02040503050406030204" pitchFamily="18" charset="0"/>
                            <a:ea typeface="Cambria Math" panose="02040503050406030204" pitchFamily="18" charset="0"/>
                          </a:rPr>
                          <m:t>Φ</m:t>
                        </m:r>
                      </m:e>
                      <m:sub>
                        <m:r>
                          <a:rPr lang="en-US" altLang="zh-TW" b="0" i="1" smtClean="0">
                            <a:latin typeface="Cambria Math" panose="02040503050406030204" pitchFamily="18" charset="0"/>
                            <a:ea typeface="Cambria Math" panose="02040503050406030204" pitchFamily="18" charset="0"/>
                          </a:rPr>
                          <m:t>0</m:t>
                        </m:r>
                      </m:sub>
                    </m:sSub>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r>
                          <m:rPr>
                            <m:sty m:val="p"/>
                          </m:rPr>
                          <a:rPr lang="el-GR" altLang="zh-TW" b="0" i="1" smtClean="0">
                            <a:latin typeface="Cambria Math" panose="02040503050406030204" pitchFamily="18" charset="0"/>
                            <a:ea typeface="Cambria Math" panose="02040503050406030204" pitchFamily="18" charset="0"/>
                          </a:rPr>
                          <m:t>Φ</m:t>
                        </m:r>
                      </m:e>
                      <m:sup>
                        <m:r>
                          <a:rPr lang="en-US" altLang="zh-TW" b="0" i="1" smtClean="0">
                            <a:latin typeface="Cambria Math" panose="02040503050406030204" pitchFamily="18" charset="0"/>
                            <a:ea typeface="Cambria Math" panose="02040503050406030204" pitchFamily="18" charset="0"/>
                          </a:rPr>
                          <m:t>′</m:t>
                        </m:r>
                      </m:sup>
                    </m:sSup>
                    <m:func>
                      <m:funcPr>
                        <m:ctrlPr>
                          <a:rPr lang="en-US" altLang="zh-TW" b="0" i="1" smtClean="0">
                            <a:latin typeface="Cambria Math" panose="02040503050406030204" pitchFamily="18" charset="0"/>
                            <a:ea typeface="Cambria Math" panose="02040503050406030204" pitchFamily="18" charset="0"/>
                          </a:rPr>
                        </m:ctrlPr>
                      </m:funcPr>
                      <m:fName>
                        <m:r>
                          <m:rPr>
                            <m:sty m:val="p"/>
                          </m:rPr>
                          <a:rPr lang="en-US" altLang="zh-TW" b="0" i="0" smtClean="0">
                            <a:latin typeface="Cambria Math" panose="02040503050406030204" pitchFamily="18" charset="0"/>
                            <a:ea typeface="Cambria Math" panose="02040503050406030204" pitchFamily="18" charset="0"/>
                          </a:rPr>
                          <m:t>sin</m:t>
                        </m:r>
                      </m:fName>
                      <m:e>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𝑘</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𝑥</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𝑐𝑡</m:t>
                                </m:r>
                              </m:e>
                            </m:d>
                          </m:e>
                        </m:d>
                      </m:e>
                    </m:func>
                    <m:r>
                      <m:rPr>
                        <m:sty m:val="p"/>
                      </m:rPr>
                      <a:rPr lang="en-US" altLang="zh-TW" b="0" i="0" smtClean="0">
                        <a:latin typeface="Cambria Math" panose="02040503050406030204" pitchFamily="18" charset="0"/>
                        <a:ea typeface="Cambria Math" panose="02040503050406030204" pitchFamily="18" charset="0"/>
                      </a:rPr>
                      <m:t>cos</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𝑙𝑦</m:t>
                    </m:r>
                    <m:r>
                      <a:rPr lang="en-US" altLang="zh-TW" b="0" i="1" smtClean="0">
                        <a:latin typeface="Cambria Math" panose="02040503050406030204" pitchFamily="18" charset="0"/>
                        <a:ea typeface="Cambria Math" panose="02040503050406030204" pitchFamily="18" charset="0"/>
                      </a:rPr>
                      <m:t>)</m:t>
                    </m:r>
                  </m:oMath>
                </a14:m>
                <a:endParaRPr lang="en-US" altLang="zh-TW" dirty="0">
                  <a:latin typeface="Times New Roman" panose="02020603050405020304" pitchFamily="18" charset="0"/>
                  <a:cs typeface="Times New Roman" panose="02020603050405020304" pitchFamily="18" charset="0"/>
                </a:endParaRPr>
              </a:p>
              <a:p>
                <a:pPr>
                  <a:lnSpc>
                    <a:spcPct val="150000"/>
                  </a:lnSpc>
                </a:pPr>
                <a:r>
                  <a:rPr lang="zh-TW" altLang="en-US" sz="2400" dirty="0">
                    <a:latin typeface="源泉圓體 B" panose="020B0800000000000000" pitchFamily="34" charset="-120"/>
                    <a:ea typeface="源泉圓體 B" panose="020B0800000000000000" pitchFamily="34" charset="-120"/>
                  </a:rPr>
                  <a:t>地轉平衡下，重力位和流函數成正比</a:t>
                </a:r>
                <a:endParaRPr lang="en-US" altLang="zh-TW" sz="2400" dirty="0">
                  <a:latin typeface="源泉圓體 B" panose="020B0800000000000000" pitchFamily="34" charset="-120"/>
                  <a:ea typeface="源泉圓體 B" panose="020B0800000000000000" pitchFamily="34" charset="-120"/>
                </a:endParaRPr>
              </a:p>
              <a:p>
                <a:pPr>
                  <a:lnSpc>
                    <a:spcPct val="150000"/>
                  </a:lnSpc>
                </a:pPr>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𝑑𝑥</m:t>
                        </m:r>
                      </m:num>
                      <m:den>
                        <m:r>
                          <a:rPr lang="en-US" altLang="zh-TW" b="0" i="1" smtClean="0">
                            <a:latin typeface="Cambria Math" panose="02040503050406030204" pitchFamily="18" charset="0"/>
                          </a:rPr>
                          <m:t>𝑑𝑡</m:t>
                        </m:r>
                      </m:den>
                    </m:f>
                    <m:r>
                      <a:rPr lang="en-US" altLang="zh-TW" b="0" i="1" smtClean="0">
                        <a:latin typeface="Cambria Math" panose="02040503050406030204" pitchFamily="18" charset="0"/>
                      </a:rPr>
                      <m:t>=</m:t>
                    </m:r>
                    <m:r>
                      <a:rPr lang="en-US" altLang="zh-TW" b="0" i="1" smtClean="0">
                        <a:latin typeface="Cambria Math" panose="02040503050406030204" pitchFamily="18" charset="0"/>
                      </a:rPr>
                      <m:t>𝑢</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𝑓</m:t>
                        </m:r>
                      </m:e>
                      <m:sub>
                        <m:r>
                          <a:rPr lang="en-US" altLang="zh-TW" b="0" i="1" smtClean="0">
                            <a:latin typeface="Cambria Math" panose="02040503050406030204" pitchFamily="18" charset="0"/>
                          </a:rPr>
                          <m:t>0</m:t>
                        </m:r>
                      </m:sub>
                    </m:sSub>
                    <m:f>
                      <m:fPr>
                        <m:ctrlPr>
                          <a:rPr lang="en-US" altLang="zh-TW" b="0" i="1" smtClean="0">
                            <a:latin typeface="Cambria Math" panose="02040503050406030204" pitchFamily="18" charset="0"/>
                          </a:rPr>
                        </m:ctrlPr>
                      </m:fPr>
                      <m:num>
                        <m:r>
                          <a:rPr lang="zh-TW" altLang="en-US" b="0" i="1" smtClean="0">
                            <a:latin typeface="Cambria Math" panose="02040503050406030204" pitchFamily="18" charset="0"/>
                          </a:rPr>
                          <m:t>𝜕</m:t>
                        </m:r>
                        <m:r>
                          <m:rPr>
                            <m:sty m:val="p"/>
                          </m:rPr>
                          <a:rPr lang="el-GR" altLang="zh-TW" b="0" i="1" smtClean="0">
                            <a:latin typeface="Cambria Math" panose="02040503050406030204" pitchFamily="18" charset="0"/>
                            <a:ea typeface="Cambria Math" panose="02040503050406030204" pitchFamily="18" charset="0"/>
                          </a:rPr>
                          <m:t>Φ</m:t>
                        </m:r>
                      </m:num>
                      <m:den>
                        <m:r>
                          <a:rPr lang="zh-TW" altLang="en-US" b="0" i="1" smtClean="0">
                            <a:latin typeface="Cambria Math" panose="02040503050406030204" pitchFamily="18" charset="0"/>
                          </a:rPr>
                          <m:t>𝜕</m:t>
                        </m:r>
                        <m:r>
                          <a:rPr lang="en-US" altLang="zh-TW" b="0" i="1" smtClean="0">
                            <a:latin typeface="Cambria Math" panose="02040503050406030204" pitchFamily="18" charset="0"/>
                          </a:rPr>
                          <m:t>𝑦</m:t>
                        </m:r>
                      </m:den>
                    </m:f>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𝑈</m:t>
                        </m:r>
                      </m:e>
                      <m:sup>
                        <m:r>
                          <a:rPr lang="en-US" altLang="zh-TW" b="0" i="1" smtClean="0">
                            <a:latin typeface="Cambria Math" panose="02040503050406030204" pitchFamily="18" charset="0"/>
                          </a:rPr>
                          <m:t>′</m:t>
                        </m:r>
                      </m:sup>
                    </m:sSup>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sin</m:t>
                        </m:r>
                      </m:fName>
                      <m:e>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𝑘</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a:rPr lang="en-US" altLang="zh-TW" b="0" i="1" smtClean="0">
                                    <a:latin typeface="Cambria Math" panose="02040503050406030204" pitchFamily="18" charset="0"/>
                                  </a:rPr>
                                  <m:t>𝑐𝑡</m:t>
                                </m:r>
                              </m:e>
                            </m:d>
                          </m:e>
                        </m:d>
                      </m:e>
                    </m:func>
                    <m:r>
                      <m:rPr>
                        <m:sty m:val="p"/>
                      </m:rPr>
                      <a:rPr lang="en-US" altLang="zh-TW" b="0" i="0" smtClean="0">
                        <a:latin typeface="Cambria Math" panose="02040503050406030204" pitchFamily="18" charset="0"/>
                      </a:rPr>
                      <m:t>sin</m:t>
                    </m:r>
                    <m:r>
                      <a:rPr lang="en-US" altLang="zh-TW" b="0" i="1" smtClean="0">
                        <a:latin typeface="Cambria Math" panose="02040503050406030204" pitchFamily="18" charset="0"/>
                      </a:rPr>
                      <m:t>⁡(</m:t>
                    </m:r>
                    <m:r>
                      <a:rPr lang="en-US" altLang="zh-TW" b="0" i="1" smtClean="0">
                        <a:latin typeface="Cambria Math" panose="02040503050406030204" pitchFamily="18" charset="0"/>
                      </a:rPr>
                      <m:t>𝑙𝑦</m:t>
                    </m:r>
                    <m:r>
                      <a:rPr lang="en-US" altLang="zh-TW" b="0" i="1" smtClean="0">
                        <a:latin typeface="Cambria Math" panose="02040503050406030204" pitchFamily="18" charset="0"/>
                      </a:rPr>
                      <m:t>)</m:t>
                    </m:r>
                  </m:oMath>
                </a14:m>
                <a:endParaRPr lang="en-US" altLang="zh-TW" dirty="0">
                  <a:latin typeface="Times New Roman" panose="02020603050405020304" pitchFamily="18" charset="0"/>
                  <a:cs typeface="Times New Roman" panose="02020603050405020304" pitchFamily="18" charset="0"/>
                </a:endParaRPr>
              </a:p>
              <a:p>
                <a:pPr>
                  <a:lnSpc>
                    <a:spcPct val="150000"/>
                  </a:lnSpc>
                </a:pPr>
                <a14:m>
                  <m:oMath xmlns:m="http://schemas.openxmlformats.org/officeDocument/2006/math">
                    <m:f>
                      <m:fPr>
                        <m:ctrlPr>
                          <a:rPr lang="en-US" altLang="zh-TW" i="1">
                            <a:latin typeface="Cambria Math" panose="02040503050406030204" pitchFamily="18" charset="0"/>
                          </a:rPr>
                        </m:ctrlPr>
                      </m:fPr>
                      <m:num>
                        <m:r>
                          <a:rPr lang="en-US" altLang="zh-TW" i="1">
                            <a:latin typeface="Cambria Math" panose="02040503050406030204" pitchFamily="18" charset="0"/>
                          </a:rPr>
                          <m:t>𝑑</m:t>
                        </m:r>
                        <m:r>
                          <a:rPr lang="en-US" altLang="zh-TW" b="0" i="1" smtClean="0">
                            <a:latin typeface="Cambria Math" panose="02040503050406030204" pitchFamily="18" charset="0"/>
                          </a:rPr>
                          <m:t>𝑦</m:t>
                        </m:r>
                      </m:num>
                      <m:den>
                        <m:r>
                          <a:rPr lang="en-US" altLang="zh-TW" i="1">
                            <a:latin typeface="Cambria Math" panose="02040503050406030204" pitchFamily="18" charset="0"/>
                          </a:rPr>
                          <m:t>𝑑𝑡</m:t>
                        </m:r>
                      </m:den>
                    </m:f>
                    <m:r>
                      <a:rPr lang="en-US" altLang="zh-TW" b="0" i="1" smtClean="0">
                        <a:latin typeface="Cambria Math" panose="02040503050406030204" pitchFamily="18" charset="0"/>
                      </a:rPr>
                      <m:t>=</m:t>
                    </m:r>
                    <m:r>
                      <a:rPr lang="en-US" altLang="zh-TW" b="0" i="1" smtClean="0">
                        <a:latin typeface="Cambria Math" panose="02040503050406030204" pitchFamily="18" charset="0"/>
                      </a:rPr>
                      <m:t>𝑣</m:t>
                    </m: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𝑓</m:t>
                        </m:r>
                      </m:e>
                      <m:sub>
                        <m:r>
                          <a:rPr lang="en-US" altLang="zh-TW" i="1">
                            <a:latin typeface="Cambria Math" panose="02040503050406030204" pitchFamily="18" charset="0"/>
                          </a:rPr>
                          <m:t>0</m:t>
                        </m:r>
                      </m:sub>
                    </m:sSub>
                    <m:f>
                      <m:fPr>
                        <m:ctrlPr>
                          <a:rPr lang="en-US" altLang="zh-TW" i="1">
                            <a:latin typeface="Cambria Math" panose="02040503050406030204" pitchFamily="18" charset="0"/>
                          </a:rPr>
                        </m:ctrlPr>
                      </m:fPr>
                      <m:num>
                        <m:r>
                          <a:rPr lang="zh-TW" altLang="en-US" i="1">
                            <a:latin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Φ</m:t>
                        </m:r>
                      </m:num>
                      <m:den>
                        <m:r>
                          <a:rPr lang="zh-TW" altLang="en-US" i="1">
                            <a:latin typeface="Cambria Math" panose="02040503050406030204" pitchFamily="18" charset="0"/>
                          </a:rPr>
                          <m:t>𝜕</m:t>
                        </m:r>
                        <m:r>
                          <a:rPr lang="en-US" altLang="zh-TW" b="0" i="1" smtClean="0">
                            <a:latin typeface="Cambria Math" panose="02040503050406030204" pitchFamily="18" charset="0"/>
                          </a:rPr>
                          <m:t>𝑥</m:t>
                        </m:r>
                      </m:den>
                    </m:f>
                    <m:r>
                      <a:rPr lang="en-US" altLang="zh-TW" i="1">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𝑈</m:t>
                        </m:r>
                      </m:e>
                      <m:sup>
                        <m:r>
                          <a:rPr lang="en-US" altLang="zh-TW" i="1">
                            <a:latin typeface="Cambria Math" panose="02040503050406030204" pitchFamily="18" charset="0"/>
                          </a:rPr>
                          <m:t>′</m:t>
                        </m:r>
                      </m:sup>
                    </m:sSup>
                    <m:func>
                      <m:funcPr>
                        <m:ctrlPr>
                          <a:rPr lang="en-US" altLang="zh-TW" i="1">
                            <a:latin typeface="Cambria Math" panose="02040503050406030204" pitchFamily="18" charset="0"/>
                          </a:rPr>
                        </m:ctrlPr>
                      </m:funcPr>
                      <m:fName>
                        <m:r>
                          <m:rPr>
                            <m:sty m:val="p"/>
                          </m:rPr>
                          <a:rPr lang="en-US" altLang="zh-TW" b="0" i="0" smtClean="0">
                            <a:latin typeface="Cambria Math" panose="02040503050406030204" pitchFamily="18" charset="0"/>
                          </a:rPr>
                          <m:t>cos</m:t>
                        </m:r>
                      </m:fName>
                      <m:e>
                        <m:d>
                          <m:dPr>
                            <m:begChr m:val="["/>
                            <m:endChr m:val="]"/>
                            <m:ctrlPr>
                              <a:rPr lang="en-US" altLang="zh-TW" i="1">
                                <a:latin typeface="Cambria Math" panose="02040503050406030204" pitchFamily="18" charset="0"/>
                              </a:rPr>
                            </m:ctrlPr>
                          </m:dPr>
                          <m:e>
                            <m:r>
                              <a:rPr lang="en-US" altLang="zh-TW" i="1">
                                <a:latin typeface="Cambria Math" panose="02040503050406030204" pitchFamily="18" charset="0"/>
                              </a:rPr>
                              <m:t>𝑘</m:t>
                            </m:r>
                            <m:d>
                              <m:dPr>
                                <m:ctrlPr>
                                  <a:rPr lang="en-US" altLang="zh-TW" i="1">
                                    <a:latin typeface="Cambria Math" panose="02040503050406030204" pitchFamily="18" charset="0"/>
                                  </a:rPr>
                                </m:ctrlPr>
                              </m:dPr>
                              <m:e>
                                <m:r>
                                  <a:rPr lang="en-US" altLang="zh-TW" i="1">
                                    <a:latin typeface="Cambria Math" panose="02040503050406030204" pitchFamily="18" charset="0"/>
                                  </a:rPr>
                                  <m:t>𝑥</m:t>
                                </m:r>
                                <m:r>
                                  <a:rPr lang="en-US" altLang="zh-TW" i="1">
                                    <a:latin typeface="Cambria Math" panose="02040503050406030204" pitchFamily="18" charset="0"/>
                                  </a:rPr>
                                  <m:t>−</m:t>
                                </m:r>
                                <m:r>
                                  <a:rPr lang="en-US" altLang="zh-TW" i="1">
                                    <a:latin typeface="Cambria Math" panose="02040503050406030204" pitchFamily="18" charset="0"/>
                                  </a:rPr>
                                  <m:t>𝑐𝑡</m:t>
                                </m:r>
                              </m:e>
                            </m:d>
                          </m:e>
                        </m:d>
                      </m:e>
                    </m:func>
                    <m:r>
                      <m:rPr>
                        <m:sty m:val="p"/>
                      </m:rPr>
                      <a:rPr lang="en-US" altLang="zh-TW" b="0" i="0" smtClean="0">
                        <a:latin typeface="Cambria Math" panose="02040503050406030204" pitchFamily="18" charset="0"/>
                      </a:rPr>
                      <m:t>cos</m:t>
                    </m:r>
                    <m:r>
                      <a:rPr lang="en-US" altLang="zh-TW" i="1">
                        <a:latin typeface="Cambria Math" panose="02040503050406030204" pitchFamily="18" charset="0"/>
                      </a:rPr>
                      <m:t>⁡(</m:t>
                    </m:r>
                    <m:r>
                      <a:rPr lang="en-US" altLang="zh-TW" i="1">
                        <a:latin typeface="Cambria Math" panose="02040503050406030204" pitchFamily="18" charset="0"/>
                      </a:rPr>
                      <m:t>𝑙𝑦</m:t>
                    </m:r>
                    <m:r>
                      <a:rPr lang="en-US" altLang="zh-TW" i="1">
                        <a:latin typeface="Cambria Math" panose="02040503050406030204" pitchFamily="18" charset="0"/>
                      </a:rPr>
                      <m:t>)</m:t>
                    </m:r>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568802" y="465029"/>
                <a:ext cx="9528567" cy="5270863"/>
              </a:xfrm>
              <a:blipFill>
                <a:blip r:embed="rId2"/>
                <a:stretch>
                  <a:fillRect l="-832"/>
                </a:stretch>
              </a:blipFill>
            </p:spPr>
            <p:txBody>
              <a:bodyPr/>
              <a:lstStyle/>
              <a:p>
                <a:r>
                  <a:rPr lang="zh-TW" altLang="en-US">
                    <a:noFill/>
                  </a:rPr>
                  <a:t> </a:t>
                </a:r>
              </a:p>
            </p:txBody>
          </p:sp>
        </mc:Fallback>
      </mc:AlternateContent>
      <p:sp>
        <p:nvSpPr>
          <p:cNvPr id="6" name="文字方塊 5"/>
          <p:cNvSpPr txBox="1"/>
          <p:nvPr/>
        </p:nvSpPr>
        <p:spPr>
          <a:xfrm>
            <a:off x="9048634" y="704857"/>
            <a:ext cx="2574564" cy="2062103"/>
          </a:xfrm>
          <a:prstGeom prst="rect">
            <a:avLst/>
          </a:prstGeom>
          <a:noFill/>
          <a:ln w="28575">
            <a:solidFill>
              <a:schemeClr val="bg1">
                <a:lumMod val="50000"/>
              </a:schemeClr>
            </a:solidFill>
            <a:prstDash val="dash"/>
          </a:ln>
        </p:spPr>
        <p:txBody>
          <a:bodyPr wrap="square" rtlCol="0">
            <a:spAutoFit/>
          </a:bodyPr>
          <a:lstStyle/>
          <a:p>
            <a:r>
              <a:rPr lang="el-GR" altLang="zh-TW" sz="3200" dirty="0">
                <a:latin typeface="Cambria Math" panose="02040503050406030204" pitchFamily="18" charset="0"/>
                <a:ea typeface="Cambria Math" panose="02040503050406030204" pitchFamily="18" charset="0"/>
              </a:rPr>
              <a:t>Φ</a:t>
            </a:r>
            <a:r>
              <a:rPr lang="en-US" altLang="zh-TW" sz="3200" dirty="0">
                <a:latin typeface="Cambria Math" panose="02040503050406030204" pitchFamily="18" charset="0"/>
                <a:ea typeface="Cambria Math" panose="02040503050406030204" pitchFamily="18" charset="0"/>
              </a:rPr>
              <a:t>’</a:t>
            </a:r>
            <a:r>
              <a:rPr lang="en-US" altLang="zh-TW" sz="3200" dirty="0"/>
              <a:t>: </a:t>
            </a:r>
            <a:r>
              <a:rPr lang="zh-TW" altLang="en-US" sz="2800" dirty="0">
                <a:latin typeface="源泉圓體 B" panose="020B0800000000000000" pitchFamily="34" charset="-120"/>
                <a:ea typeface="源泉圓體 B" panose="020B0800000000000000" pitchFamily="34" charset="-120"/>
              </a:rPr>
              <a:t>擾動震幅</a:t>
            </a:r>
            <a:endParaRPr lang="en-US" altLang="zh-TW" sz="3200" dirty="0">
              <a:latin typeface="源泉圓體 B" panose="020B0800000000000000" pitchFamily="34" charset="-120"/>
              <a:ea typeface="源泉圓體 B" panose="020B0800000000000000" pitchFamily="34" charset="-120"/>
            </a:endParaRPr>
          </a:p>
          <a:p>
            <a:r>
              <a:rPr lang="en-US" altLang="zh-TW" sz="3200" i="1" dirty="0">
                <a:latin typeface="Cambria Math" panose="02040503050406030204" pitchFamily="18" charset="0"/>
                <a:ea typeface="Cambria Math" panose="02040503050406030204" pitchFamily="18" charset="0"/>
              </a:rPr>
              <a:t>k</a:t>
            </a:r>
            <a:r>
              <a:rPr lang="en-US" altLang="zh-TW" sz="3200" dirty="0"/>
              <a:t>  : </a:t>
            </a:r>
            <a:r>
              <a:rPr lang="en-US" altLang="zh-TW" sz="2800" dirty="0">
                <a:latin typeface="源泉圓體 B" panose="020B0800000000000000" pitchFamily="34" charset="-120"/>
                <a:ea typeface="源泉圓體 B" panose="020B0800000000000000" pitchFamily="34" charset="-120"/>
              </a:rPr>
              <a:t>x</a:t>
            </a:r>
            <a:r>
              <a:rPr lang="zh-TW" altLang="en-US" sz="2800" dirty="0">
                <a:latin typeface="源泉圓體 B" panose="020B0800000000000000" pitchFamily="34" charset="-120"/>
                <a:ea typeface="源泉圓體 B" panose="020B0800000000000000" pitchFamily="34" charset="-120"/>
              </a:rPr>
              <a:t>方向波數</a:t>
            </a:r>
            <a:endParaRPr lang="en-US" altLang="zh-TW" sz="2800" dirty="0">
              <a:latin typeface="源泉圓體 B" panose="020B0800000000000000" pitchFamily="34" charset="-120"/>
              <a:ea typeface="源泉圓體 B" panose="020B0800000000000000" pitchFamily="34" charset="-120"/>
            </a:endParaRPr>
          </a:p>
          <a:p>
            <a:r>
              <a:rPr lang="en-US" altLang="zh-TW" sz="3200" i="1" dirty="0">
                <a:latin typeface="Cambria Math" panose="02040503050406030204" pitchFamily="18" charset="0"/>
                <a:ea typeface="Cambria Math" panose="02040503050406030204" pitchFamily="18" charset="0"/>
              </a:rPr>
              <a:t>c</a:t>
            </a:r>
            <a:r>
              <a:rPr lang="en-US" altLang="zh-TW" sz="3200" dirty="0"/>
              <a:t>  : </a:t>
            </a:r>
            <a:r>
              <a:rPr lang="en-US" altLang="zh-TW" sz="2800" dirty="0">
                <a:latin typeface="源泉圓體 B" panose="020B0800000000000000" pitchFamily="34" charset="-120"/>
                <a:ea typeface="源泉圓體 B" panose="020B0800000000000000" pitchFamily="34" charset="-120"/>
              </a:rPr>
              <a:t>x</a:t>
            </a:r>
            <a:r>
              <a:rPr lang="zh-TW" altLang="en-US" sz="2800" dirty="0">
                <a:latin typeface="源泉圓體 B" panose="020B0800000000000000" pitchFamily="34" charset="-120"/>
                <a:ea typeface="源泉圓體 B" panose="020B0800000000000000" pitchFamily="34" charset="-120"/>
              </a:rPr>
              <a:t>方向波速</a:t>
            </a:r>
            <a:endParaRPr lang="en-US" altLang="zh-TW" sz="3200" dirty="0">
              <a:latin typeface="源泉圓體 B" panose="020B0800000000000000" pitchFamily="34" charset="-120"/>
              <a:ea typeface="源泉圓體 B" panose="020B0800000000000000" pitchFamily="34" charset="-120"/>
            </a:endParaRPr>
          </a:p>
          <a:p>
            <a:r>
              <a:rPr lang="en-US" altLang="zh-TW" sz="3200" i="1" dirty="0">
                <a:latin typeface="Cambria Math" panose="02040503050406030204" pitchFamily="18" charset="0"/>
                <a:ea typeface="Cambria Math" panose="02040503050406030204" pitchFamily="18" charset="0"/>
              </a:rPr>
              <a:t>l</a:t>
            </a:r>
            <a:r>
              <a:rPr lang="en-US" altLang="zh-TW" sz="3200" dirty="0"/>
              <a:t>   : </a:t>
            </a:r>
            <a:r>
              <a:rPr lang="en-US" altLang="zh-TW" sz="2800" dirty="0">
                <a:latin typeface="源泉圓體 B" panose="020B0800000000000000" pitchFamily="34" charset="-120"/>
                <a:ea typeface="源泉圓體 B" panose="020B0800000000000000" pitchFamily="34" charset="-120"/>
              </a:rPr>
              <a:t>y</a:t>
            </a:r>
            <a:r>
              <a:rPr lang="zh-TW" altLang="en-US" sz="2800" dirty="0">
                <a:latin typeface="源泉圓體 B" panose="020B0800000000000000" pitchFamily="34" charset="-120"/>
                <a:ea typeface="源泉圓體 B" panose="020B0800000000000000" pitchFamily="34" charset="-120"/>
              </a:rPr>
              <a:t>方向波數</a:t>
            </a:r>
            <a:endParaRPr lang="zh-TW" altLang="en-US" sz="3200" dirty="0">
              <a:latin typeface="源泉圓體 B" panose="020B0800000000000000" pitchFamily="34" charset="-120"/>
              <a:ea typeface="源泉圓體 B" panose="020B0800000000000000" pitchFamily="34" charset="-120"/>
            </a:endParaRPr>
          </a:p>
        </p:txBody>
      </p:sp>
    </p:spTree>
    <p:extLst>
      <p:ext uri="{BB962C8B-B14F-4D97-AF65-F5344CB8AC3E}">
        <p14:creationId xmlns:p14="http://schemas.microsoft.com/office/powerpoint/2010/main" val="1081145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內容版面配置區 4">
            <a:extLst>
              <a:ext uri="{FF2B5EF4-FFF2-40B4-BE49-F238E27FC236}">
                <a16:creationId xmlns:a16="http://schemas.microsoft.com/office/drawing/2014/main" id="{BEEF03FD-4D71-498A-9A89-569A91B39B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07369" y="1633704"/>
            <a:ext cx="3968286" cy="2976215"/>
          </a:xfrm>
        </p:spPr>
      </p:pic>
      <p:pic>
        <p:nvPicPr>
          <p:cNvPr id="3" name="圖片 2">
            <a:extLst>
              <a:ext uri="{FF2B5EF4-FFF2-40B4-BE49-F238E27FC236}">
                <a16:creationId xmlns:a16="http://schemas.microsoft.com/office/drawing/2014/main" id="{0A5F780B-54E3-4DC8-8696-4B35A9FE10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3714" y="1633704"/>
            <a:ext cx="3968286" cy="2976215"/>
          </a:xfrm>
          <a:prstGeom prst="rect">
            <a:avLst/>
          </a:prstGeom>
        </p:spPr>
      </p:pic>
      <p:pic>
        <p:nvPicPr>
          <p:cNvPr id="4" name="圖片 3">
            <a:extLst>
              <a:ext uri="{FF2B5EF4-FFF2-40B4-BE49-F238E27FC236}">
                <a16:creationId xmlns:a16="http://schemas.microsoft.com/office/drawing/2014/main" id="{25BC6714-40D2-47F3-9453-4300255C06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76" y="1633704"/>
            <a:ext cx="3968286" cy="2976215"/>
          </a:xfrm>
          <a:prstGeom prst="rect">
            <a:avLst/>
          </a:prstGeom>
        </p:spPr>
      </p:pic>
      <p:sp>
        <p:nvSpPr>
          <p:cNvPr id="5" name="矩形 4">
            <a:extLst>
              <a:ext uri="{FF2B5EF4-FFF2-40B4-BE49-F238E27FC236}">
                <a16:creationId xmlns:a16="http://schemas.microsoft.com/office/drawing/2014/main" id="{9F8CA194-D1C8-454E-9830-18873FFF289A}"/>
              </a:ext>
            </a:extLst>
          </p:cNvPr>
          <p:cNvSpPr/>
          <p:nvPr/>
        </p:nvSpPr>
        <p:spPr>
          <a:xfrm>
            <a:off x="453315" y="491059"/>
            <a:ext cx="5507277" cy="461665"/>
          </a:xfrm>
          <a:prstGeom prst="rect">
            <a:avLst/>
          </a:prstGeom>
        </p:spPr>
        <p:txBody>
          <a:bodyPr wrap="none">
            <a:spAutoFit/>
          </a:bodyPr>
          <a:lstStyle/>
          <a:p>
            <a:r>
              <a:rPr lang="en-US" altLang="zh-TW" sz="2400" dirty="0">
                <a:latin typeface="Arial" panose="020B0604020202020204" pitchFamily="34" charset="0"/>
                <a:ea typeface="微軟正黑體" panose="020B0604030504040204" pitchFamily="34" charset="-120"/>
                <a:cs typeface="Arial" panose="020B0604020202020204" pitchFamily="34" charset="0"/>
              </a:rPr>
              <a:t>Trajectories for Different Phase Speeds</a:t>
            </a:r>
            <a:endParaRPr lang="zh-TW" alt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9596DEEE-4C7E-4DEC-80C0-E2CA298E6E8B}"/>
                  </a:ext>
                </a:extLst>
              </p:cNvPr>
              <p:cNvSpPr/>
              <p:nvPr/>
            </p:nvSpPr>
            <p:spPr>
              <a:xfrm>
                <a:off x="1125415" y="4793409"/>
                <a:ext cx="1699504"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200" i="1" dirty="0" smtClean="0">
                          <a:latin typeface="Cambria Math" panose="02040503050406030204" pitchFamily="18" charset="0"/>
                          <a:cs typeface="Arial" panose="020B0604020202020204" pitchFamily="34" charset="0"/>
                        </a:rPr>
                        <m:t>𝑐</m:t>
                      </m:r>
                      <m:r>
                        <a:rPr lang="en-US" altLang="zh-TW" sz="2200" b="0" i="1" dirty="0" smtClean="0">
                          <a:latin typeface="Cambria Math" panose="02040503050406030204" pitchFamily="18" charset="0"/>
                          <a:cs typeface="Arial" panose="020B0604020202020204" pitchFamily="34" charset="0"/>
                        </a:rPr>
                        <m:t>=5 </m:t>
                      </m:r>
                      <m:r>
                        <a:rPr lang="en-US" altLang="zh-TW" sz="2200" b="0" i="1" dirty="0" smtClean="0">
                          <a:latin typeface="Cambria Math" panose="02040503050406030204" pitchFamily="18" charset="0"/>
                          <a:cs typeface="Arial" panose="020B0604020202020204" pitchFamily="34" charset="0"/>
                        </a:rPr>
                        <m:t>𝑚</m:t>
                      </m:r>
                      <m:r>
                        <a:rPr lang="en-US" altLang="zh-TW" sz="2200" b="0" i="1" dirty="0" smtClean="0">
                          <a:latin typeface="Cambria Math" panose="02040503050406030204" pitchFamily="18" charset="0"/>
                          <a:cs typeface="Arial" panose="020B0604020202020204" pitchFamily="34" charset="0"/>
                        </a:rPr>
                        <m:t> </m:t>
                      </m:r>
                      <m:sSup>
                        <m:sSupPr>
                          <m:ctrlPr>
                            <a:rPr lang="en-US" altLang="zh-TW" sz="2200" b="0" i="1" dirty="0" smtClean="0">
                              <a:latin typeface="Cambria Math" panose="02040503050406030204" pitchFamily="18" charset="0"/>
                              <a:cs typeface="Arial" panose="020B0604020202020204" pitchFamily="34" charset="0"/>
                            </a:rPr>
                          </m:ctrlPr>
                        </m:sSupPr>
                        <m:e>
                          <m:r>
                            <a:rPr lang="en-US" altLang="zh-TW" sz="2200" b="0" i="1" dirty="0" smtClean="0">
                              <a:latin typeface="Cambria Math" panose="02040503050406030204" pitchFamily="18" charset="0"/>
                              <a:cs typeface="Arial" panose="020B0604020202020204" pitchFamily="34" charset="0"/>
                            </a:rPr>
                            <m:t>𝑠</m:t>
                          </m:r>
                        </m:e>
                        <m:sup>
                          <m:r>
                            <a:rPr lang="en-US" altLang="zh-TW" sz="2200" b="0" i="1" dirty="0" smtClean="0">
                              <a:latin typeface="Cambria Math" panose="02040503050406030204" pitchFamily="18" charset="0"/>
                              <a:cs typeface="Arial" panose="020B0604020202020204" pitchFamily="34" charset="0"/>
                            </a:rPr>
                            <m:t>−1</m:t>
                          </m:r>
                        </m:sup>
                      </m:sSup>
                    </m:oMath>
                  </m:oMathPara>
                </a14:m>
                <a:endParaRPr lang="zh-TW" altLang="en-US" sz="2200" dirty="0"/>
              </a:p>
            </p:txBody>
          </p:sp>
        </mc:Choice>
        <mc:Fallback xmlns="">
          <p:sp>
            <p:nvSpPr>
              <p:cNvPr id="6" name="矩形 5">
                <a:extLst>
                  <a:ext uri="{FF2B5EF4-FFF2-40B4-BE49-F238E27FC236}">
                    <a16:creationId xmlns:a16="http://schemas.microsoft.com/office/drawing/2014/main" id="{9596DEEE-4C7E-4DEC-80C0-E2CA298E6E8B}"/>
                  </a:ext>
                </a:extLst>
              </p:cNvPr>
              <p:cNvSpPr>
                <a:spLocks noRot="1" noChangeAspect="1" noMove="1" noResize="1" noEditPoints="1" noAdjustHandles="1" noChangeArrowheads="1" noChangeShapeType="1" noTextEdit="1"/>
              </p:cNvSpPr>
              <p:nvPr/>
            </p:nvSpPr>
            <p:spPr>
              <a:xfrm>
                <a:off x="1125415" y="4793409"/>
                <a:ext cx="1699504" cy="430887"/>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889C0AD9-A2BD-4DDE-A030-2D14CEAE1048}"/>
                  </a:ext>
                </a:extLst>
              </p:cNvPr>
              <p:cNvSpPr/>
              <p:nvPr/>
            </p:nvSpPr>
            <p:spPr>
              <a:xfrm>
                <a:off x="5164014" y="4793408"/>
                <a:ext cx="1854995"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200" i="1" dirty="0" smtClean="0">
                          <a:latin typeface="Cambria Math" panose="02040503050406030204" pitchFamily="18" charset="0"/>
                          <a:cs typeface="Arial" panose="020B0604020202020204" pitchFamily="34" charset="0"/>
                        </a:rPr>
                        <m:t>𝑐</m:t>
                      </m:r>
                      <m:r>
                        <a:rPr lang="en-US" altLang="zh-TW" sz="2200" b="0" i="1" dirty="0" smtClean="0">
                          <a:latin typeface="Cambria Math" panose="02040503050406030204" pitchFamily="18" charset="0"/>
                          <a:cs typeface="Arial" panose="020B0604020202020204" pitchFamily="34" charset="0"/>
                        </a:rPr>
                        <m:t>=10 </m:t>
                      </m:r>
                      <m:r>
                        <a:rPr lang="en-US" altLang="zh-TW" sz="2200" b="0" i="1" dirty="0" smtClean="0">
                          <a:latin typeface="Cambria Math" panose="02040503050406030204" pitchFamily="18" charset="0"/>
                          <a:cs typeface="Arial" panose="020B0604020202020204" pitchFamily="34" charset="0"/>
                        </a:rPr>
                        <m:t>𝑚</m:t>
                      </m:r>
                      <m:r>
                        <a:rPr lang="en-US" altLang="zh-TW" sz="2200" b="0" i="1" dirty="0" smtClean="0">
                          <a:latin typeface="Cambria Math" panose="02040503050406030204" pitchFamily="18" charset="0"/>
                          <a:cs typeface="Arial" panose="020B0604020202020204" pitchFamily="34" charset="0"/>
                        </a:rPr>
                        <m:t> </m:t>
                      </m:r>
                      <m:sSup>
                        <m:sSupPr>
                          <m:ctrlPr>
                            <a:rPr lang="en-US" altLang="zh-TW" sz="2200" b="0" i="1" dirty="0" smtClean="0">
                              <a:latin typeface="Cambria Math" panose="02040503050406030204" pitchFamily="18" charset="0"/>
                              <a:cs typeface="Arial" panose="020B0604020202020204" pitchFamily="34" charset="0"/>
                            </a:rPr>
                          </m:ctrlPr>
                        </m:sSupPr>
                        <m:e>
                          <m:r>
                            <a:rPr lang="en-US" altLang="zh-TW" sz="2200" b="0" i="1" dirty="0" smtClean="0">
                              <a:latin typeface="Cambria Math" panose="02040503050406030204" pitchFamily="18" charset="0"/>
                              <a:cs typeface="Arial" panose="020B0604020202020204" pitchFamily="34" charset="0"/>
                            </a:rPr>
                            <m:t>𝑠</m:t>
                          </m:r>
                        </m:e>
                        <m:sup>
                          <m:r>
                            <a:rPr lang="en-US" altLang="zh-TW" sz="2200" b="0" i="1" dirty="0" smtClean="0">
                              <a:latin typeface="Cambria Math" panose="02040503050406030204" pitchFamily="18" charset="0"/>
                              <a:cs typeface="Arial" panose="020B0604020202020204" pitchFamily="34" charset="0"/>
                            </a:rPr>
                            <m:t>−1</m:t>
                          </m:r>
                        </m:sup>
                      </m:sSup>
                    </m:oMath>
                  </m:oMathPara>
                </a14:m>
                <a:endParaRPr lang="zh-TW" altLang="en-US" sz="2200" dirty="0"/>
              </a:p>
            </p:txBody>
          </p:sp>
        </mc:Choice>
        <mc:Fallback xmlns="">
          <p:sp>
            <p:nvSpPr>
              <p:cNvPr id="7" name="矩形 6">
                <a:extLst>
                  <a:ext uri="{FF2B5EF4-FFF2-40B4-BE49-F238E27FC236}">
                    <a16:creationId xmlns:a16="http://schemas.microsoft.com/office/drawing/2014/main" id="{889C0AD9-A2BD-4DDE-A030-2D14CEAE1048}"/>
                  </a:ext>
                </a:extLst>
              </p:cNvPr>
              <p:cNvSpPr>
                <a:spLocks noRot="1" noChangeAspect="1" noMove="1" noResize="1" noEditPoints="1" noAdjustHandles="1" noChangeArrowheads="1" noChangeShapeType="1" noTextEdit="1"/>
              </p:cNvSpPr>
              <p:nvPr/>
            </p:nvSpPr>
            <p:spPr>
              <a:xfrm>
                <a:off x="5164014" y="4793408"/>
                <a:ext cx="1854995" cy="43088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A7092160-13EC-492C-B768-F36D211A6874}"/>
                  </a:ext>
                </a:extLst>
              </p:cNvPr>
              <p:cNvSpPr/>
              <p:nvPr/>
            </p:nvSpPr>
            <p:spPr>
              <a:xfrm>
                <a:off x="9280359" y="4793408"/>
                <a:ext cx="1854995"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200" i="1" dirty="0" smtClean="0">
                          <a:latin typeface="Cambria Math" panose="02040503050406030204" pitchFamily="18" charset="0"/>
                          <a:cs typeface="Arial" panose="020B0604020202020204" pitchFamily="34" charset="0"/>
                        </a:rPr>
                        <m:t>𝑐</m:t>
                      </m:r>
                      <m:r>
                        <a:rPr lang="en-US" altLang="zh-TW" sz="2200" b="0" i="1" dirty="0" smtClean="0">
                          <a:latin typeface="Cambria Math" panose="02040503050406030204" pitchFamily="18" charset="0"/>
                          <a:cs typeface="Arial" panose="020B0604020202020204" pitchFamily="34" charset="0"/>
                        </a:rPr>
                        <m:t>=15 </m:t>
                      </m:r>
                      <m:r>
                        <a:rPr lang="en-US" altLang="zh-TW" sz="2200" b="0" i="1" dirty="0" smtClean="0">
                          <a:latin typeface="Cambria Math" panose="02040503050406030204" pitchFamily="18" charset="0"/>
                          <a:cs typeface="Arial" panose="020B0604020202020204" pitchFamily="34" charset="0"/>
                        </a:rPr>
                        <m:t>𝑚</m:t>
                      </m:r>
                      <m:r>
                        <a:rPr lang="en-US" altLang="zh-TW" sz="2200" b="0" i="1" dirty="0" smtClean="0">
                          <a:latin typeface="Cambria Math" panose="02040503050406030204" pitchFamily="18" charset="0"/>
                          <a:cs typeface="Arial" panose="020B0604020202020204" pitchFamily="34" charset="0"/>
                        </a:rPr>
                        <m:t> </m:t>
                      </m:r>
                      <m:sSup>
                        <m:sSupPr>
                          <m:ctrlPr>
                            <a:rPr lang="en-US" altLang="zh-TW" sz="2200" b="0" i="1" dirty="0" smtClean="0">
                              <a:latin typeface="Cambria Math" panose="02040503050406030204" pitchFamily="18" charset="0"/>
                              <a:cs typeface="Arial" panose="020B0604020202020204" pitchFamily="34" charset="0"/>
                            </a:rPr>
                          </m:ctrlPr>
                        </m:sSupPr>
                        <m:e>
                          <m:r>
                            <a:rPr lang="en-US" altLang="zh-TW" sz="2200" b="0" i="1" dirty="0" smtClean="0">
                              <a:latin typeface="Cambria Math" panose="02040503050406030204" pitchFamily="18" charset="0"/>
                              <a:cs typeface="Arial" panose="020B0604020202020204" pitchFamily="34" charset="0"/>
                            </a:rPr>
                            <m:t>𝑠</m:t>
                          </m:r>
                        </m:e>
                        <m:sup>
                          <m:r>
                            <a:rPr lang="en-US" altLang="zh-TW" sz="2200" b="0" i="1" dirty="0" smtClean="0">
                              <a:latin typeface="Cambria Math" panose="02040503050406030204" pitchFamily="18" charset="0"/>
                              <a:cs typeface="Arial" panose="020B0604020202020204" pitchFamily="34" charset="0"/>
                            </a:rPr>
                            <m:t>−1</m:t>
                          </m:r>
                        </m:sup>
                      </m:sSup>
                    </m:oMath>
                  </m:oMathPara>
                </a14:m>
                <a:endParaRPr lang="zh-TW" altLang="en-US" sz="2200" dirty="0"/>
              </a:p>
            </p:txBody>
          </p:sp>
        </mc:Choice>
        <mc:Fallback xmlns="">
          <p:sp>
            <p:nvSpPr>
              <p:cNvPr id="8" name="矩形 7">
                <a:extLst>
                  <a:ext uri="{FF2B5EF4-FFF2-40B4-BE49-F238E27FC236}">
                    <a16:creationId xmlns:a16="http://schemas.microsoft.com/office/drawing/2014/main" id="{A7092160-13EC-492C-B768-F36D211A6874}"/>
                  </a:ext>
                </a:extLst>
              </p:cNvPr>
              <p:cNvSpPr>
                <a:spLocks noRot="1" noChangeAspect="1" noMove="1" noResize="1" noEditPoints="1" noAdjustHandles="1" noChangeArrowheads="1" noChangeShapeType="1" noTextEdit="1"/>
              </p:cNvSpPr>
              <p:nvPr/>
            </p:nvSpPr>
            <p:spPr>
              <a:xfrm>
                <a:off x="9280359" y="4793408"/>
                <a:ext cx="1854995" cy="430887"/>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0609E5FC-E299-417E-83D3-EF413FBF5C6C}"/>
                  </a:ext>
                </a:extLst>
              </p:cNvPr>
              <p:cNvSpPr/>
              <p:nvPr/>
            </p:nvSpPr>
            <p:spPr>
              <a:xfrm>
                <a:off x="3289853" y="5604798"/>
                <a:ext cx="5603315"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l-GR" altLang="zh-TW" sz="2800" i="1">
                          <a:latin typeface="Cambria Math" panose="02040503050406030204" pitchFamily="18" charset="0"/>
                          <a:ea typeface="Cambria Math" panose="02040503050406030204" pitchFamily="18" charset="0"/>
                        </a:rPr>
                        <m:t>Φ</m:t>
                      </m:r>
                      <m:r>
                        <a:rPr lang="en-US" altLang="zh-TW" sz="2800" i="1">
                          <a:latin typeface="Cambria Math" panose="02040503050406030204" pitchFamily="18" charset="0"/>
                          <a:ea typeface="Cambria Math" panose="02040503050406030204" pitchFamily="18" charset="0"/>
                        </a:rPr>
                        <m:t>=</m:t>
                      </m:r>
                      <m:sSub>
                        <m:sSubPr>
                          <m:ctrlPr>
                            <a:rPr lang="en-US" altLang="zh-TW" sz="2800" i="1">
                              <a:latin typeface="Cambria Math" panose="02040503050406030204" pitchFamily="18" charset="0"/>
                              <a:ea typeface="Cambria Math" panose="02040503050406030204" pitchFamily="18" charset="0"/>
                            </a:rPr>
                          </m:ctrlPr>
                        </m:sSubPr>
                        <m:e>
                          <m:r>
                            <m:rPr>
                              <m:sty m:val="p"/>
                            </m:rPr>
                            <a:rPr lang="el-GR" altLang="zh-TW" sz="2800" i="1">
                              <a:latin typeface="Cambria Math" panose="02040503050406030204" pitchFamily="18" charset="0"/>
                              <a:ea typeface="Cambria Math" panose="02040503050406030204" pitchFamily="18" charset="0"/>
                            </a:rPr>
                            <m:t>Φ</m:t>
                          </m:r>
                        </m:e>
                        <m:sub>
                          <m:r>
                            <a:rPr lang="en-US" altLang="zh-TW" sz="2800" i="1">
                              <a:latin typeface="Cambria Math" panose="02040503050406030204" pitchFamily="18" charset="0"/>
                              <a:ea typeface="Cambria Math" panose="02040503050406030204" pitchFamily="18" charset="0"/>
                            </a:rPr>
                            <m:t>0</m:t>
                          </m:r>
                        </m:sub>
                      </m:sSub>
                      <m:r>
                        <a:rPr lang="en-US" altLang="zh-TW" sz="2800" i="1">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m:rPr>
                              <m:sty m:val="p"/>
                            </m:rPr>
                            <a:rPr lang="el-GR" altLang="zh-TW" sz="2800" i="1">
                              <a:latin typeface="Cambria Math" panose="02040503050406030204" pitchFamily="18" charset="0"/>
                              <a:ea typeface="Cambria Math" panose="02040503050406030204" pitchFamily="18" charset="0"/>
                            </a:rPr>
                            <m:t>Φ</m:t>
                          </m:r>
                        </m:e>
                        <m:sup>
                          <m:r>
                            <a:rPr lang="en-US" altLang="zh-TW" sz="2800" i="1">
                              <a:latin typeface="Cambria Math" panose="02040503050406030204" pitchFamily="18" charset="0"/>
                              <a:ea typeface="Cambria Math" panose="02040503050406030204" pitchFamily="18" charset="0"/>
                            </a:rPr>
                            <m:t>′</m:t>
                          </m:r>
                        </m:sup>
                      </m:sSup>
                      <m:func>
                        <m:funcPr>
                          <m:ctrlPr>
                            <a:rPr lang="en-US" altLang="zh-TW" sz="2800" i="1">
                              <a:latin typeface="Cambria Math" panose="02040503050406030204" pitchFamily="18" charset="0"/>
                              <a:ea typeface="Cambria Math" panose="02040503050406030204" pitchFamily="18" charset="0"/>
                            </a:rPr>
                          </m:ctrlPr>
                        </m:funcPr>
                        <m:fName>
                          <m:r>
                            <m:rPr>
                              <m:sty m:val="p"/>
                            </m:rPr>
                            <a:rPr lang="en-US" altLang="zh-TW" sz="2800">
                              <a:latin typeface="Cambria Math" panose="02040503050406030204" pitchFamily="18" charset="0"/>
                              <a:ea typeface="Cambria Math" panose="02040503050406030204" pitchFamily="18" charset="0"/>
                            </a:rPr>
                            <m:t>sin</m:t>
                          </m:r>
                        </m:fName>
                        <m:e>
                          <m:d>
                            <m:dPr>
                              <m:begChr m:val="["/>
                              <m:endChr m:val="]"/>
                              <m:ctrlPr>
                                <a:rPr lang="en-US" altLang="zh-TW" sz="2800" i="1">
                                  <a:latin typeface="Cambria Math" panose="02040503050406030204" pitchFamily="18" charset="0"/>
                                  <a:ea typeface="Cambria Math" panose="02040503050406030204" pitchFamily="18" charset="0"/>
                                </a:rPr>
                              </m:ctrlPr>
                            </m:dPr>
                            <m:e>
                              <m:r>
                                <a:rPr lang="en-US" altLang="zh-TW" sz="2800" i="1">
                                  <a:latin typeface="Cambria Math" panose="02040503050406030204" pitchFamily="18" charset="0"/>
                                  <a:ea typeface="Cambria Math" panose="02040503050406030204" pitchFamily="18" charset="0"/>
                                </a:rPr>
                                <m:t>𝑘</m:t>
                              </m:r>
                              <m:d>
                                <m:dPr>
                                  <m:ctrlPr>
                                    <a:rPr lang="en-US" altLang="zh-TW" sz="2800" i="1">
                                      <a:latin typeface="Cambria Math" panose="02040503050406030204" pitchFamily="18" charset="0"/>
                                      <a:ea typeface="Cambria Math" panose="02040503050406030204" pitchFamily="18" charset="0"/>
                                    </a:rPr>
                                  </m:ctrlPr>
                                </m:dPr>
                                <m:e>
                                  <m:r>
                                    <a:rPr lang="en-US" altLang="zh-TW" sz="2800" i="1">
                                      <a:latin typeface="Cambria Math" panose="02040503050406030204" pitchFamily="18" charset="0"/>
                                      <a:ea typeface="Cambria Math" panose="02040503050406030204" pitchFamily="18" charset="0"/>
                                    </a:rPr>
                                    <m:t>𝑥</m:t>
                                  </m:r>
                                  <m:r>
                                    <a:rPr lang="en-US" altLang="zh-TW" sz="2800" i="1">
                                      <a:latin typeface="Cambria Math" panose="02040503050406030204" pitchFamily="18" charset="0"/>
                                      <a:ea typeface="Cambria Math" panose="02040503050406030204" pitchFamily="18" charset="0"/>
                                    </a:rPr>
                                    <m:t>−</m:t>
                                  </m:r>
                                  <m:r>
                                    <a:rPr lang="en-US" altLang="zh-TW" sz="2800" i="1">
                                      <a:latin typeface="Cambria Math" panose="02040503050406030204" pitchFamily="18" charset="0"/>
                                      <a:ea typeface="Cambria Math" panose="02040503050406030204" pitchFamily="18" charset="0"/>
                                    </a:rPr>
                                    <m:t>𝑐𝑡</m:t>
                                  </m:r>
                                </m:e>
                              </m:d>
                            </m:e>
                          </m:d>
                        </m:e>
                      </m:func>
                      <m:r>
                        <m:rPr>
                          <m:sty m:val="p"/>
                        </m:rPr>
                        <a:rPr lang="en-US" altLang="zh-TW" sz="2800">
                          <a:latin typeface="Cambria Math" panose="02040503050406030204" pitchFamily="18" charset="0"/>
                          <a:ea typeface="Cambria Math" panose="02040503050406030204" pitchFamily="18" charset="0"/>
                        </a:rPr>
                        <m:t>cos</m:t>
                      </m:r>
                      <m:r>
                        <a:rPr lang="en-US" altLang="zh-TW" sz="2800" i="1">
                          <a:latin typeface="Cambria Math" panose="02040503050406030204" pitchFamily="18" charset="0"/>
                          <a:ea typeface="Cambria Math" panose="02040503050406030204" pitchFamily="18" charset="0"/>
                        </a:rPr>
                        <m:t>⁡(</m:t>
                      </m:r>
                      <m:r>
                        <a:rPr lang="en-US" altLang="zh-TW" sz="2800" i="1">
                          <a:latin typeface="Cambria Math" panose="02040503050406030204" pitchFamily="18" charset="0"/>
                          <a:ea typeface="Cambria Math" panose="02040503050406030204" pitchFamily="18" charset="0"/>
                        </a:rPr>
                        <m:t>𝑙𝑦</m:t>
                      </m:r>
                      <m:r>
                        <a:rPr lang="en-US" altLang="zh-TW" sz="2800" i="1">
                          <a:latin typeface="Cambria Math" panose="02040503050406030204" pitchFamily="18" charset="0"/>
                          <a:ea typeface="Cambria Math" panose="02040503050406030204" pitchFamily="18" charset="0"/>
                        </a:rPr>
                        <m:t>)</m:t>
                      </m:r>
                    </m:oMath>
                  </m:oMathPara>
                </a14:m>
                <a:endParaRPr lang="en-US" altLang="zh-TW" sz="2800" dirty="0"/>
              </a:p>
            </p:txBody>
          </p:sp>
        </mc:Choice>
        <mc:Fallback xmlns="">
          <p:sp>
            <p:nvSpPr>
              <p:cNvPr id="9" name="矩形 8">
                <a:extLst>
                  <a:ext uri="{FF2B5EF4-FFF2-40B4-BE49-F238E27FC236}">
                    <a16:creationId xmlns:a16="http://schemas.microsoft.com/office/drawing/2014/main" id="{0609E5FC-E299-417E-83D3-EF413FBF5C6C}"/>
                  </a:ext>
                </a:extLst>
              </p:cNvPr>
              <p:cNvSpPr>
                <a:spLocks noRot="1" noChangeAspect="1" noMove="1" noResize="1" noEditPoints="1" noAdjustHandles="1" noChangeArrowheads="1" noChangeShapeType="1" noTextEdit="1"/>
              </p:cNvSpPr>
              <p:nvPr/>
            </p:nvSpPr>
            <p:spPr>
              <a:xfrm>
                <a:off x="3289853" y="5604798"/>
                <a:ext cx="5603315" cy="523220"/>
              </a:xfrm>
              <a:prstGeom prst="rect">
                <a:avLst/>
              </a:prstGeom>
              <a:blipFill>
                <a:blip r:embed="rId8"/>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135568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E9E82643-1FA9-468C-9343-67C8D053990D}"/>
              </a:ext>
            </a:extLst>
          </p:cNvPr>
          <p:cNvPicPr>
            <a:picLocks noChangeAspect="1"/>
          </p:cNvPicPr>
          <p:nvPr/>
        </p:nvPicPr>
        <p:blipFill>
          <a:blip r:embed="rId2"/>
          <a:stretch>
            <a:fillRect/>
          </a:stretch>
        </p:blipFill>
        <p:spPr>
          <a:xfrm>
            <a:off x="726161" y="900151"/>
            <a:ext cx="6890597" cy="2389481"/>
          </a:xfrm>
          <a:prstGeom prst="rect">
            <a:avLst/>
          </a:prstGeom>
        </p:spPr>
      </p:pic>
      <p:sp>
        <p:nvSpPr>
          <p:cNvPr id="5" name="矩形 4">
            <a:extLst>
              <a:ext uri="{FF2B5EF4-FFF2-40B4-BE49-F238E27FC236}">
                <a16:creationId xmlns:a16="http://schemas.microsoft.com/office/drawing/2014/main" id="{3DE2E036-8175-4562-8DB7-547705AACAD1}"/>
              </a:ext>
            </a:extLst>
          </p:cNvPr>
          <p:cNvSpPr/>
          <p:nvPr/>
        </p:nvSpPr>
        <p:spPr>
          <a:xfrm>
            <a:off x="264579" y="318026"/>
            <a:ext cx="3571812" cy="400110"/>
          </a:xfrm>
          <a:prstGeom prst="rect">
            <a:avLst/>
          </a:prstGeom>
        </p:spPr>
        <p:txBody>
          <a:bodyPr wrap="none">
            <a:spAutoFit/>
          </a:bodyPr>
          <a:lstStyle/>
          <a:p>
            <a:r>
              <a:rPr lang="en-US" altLang="zh-TW" sz="2000" b="1" dirty="0">
                <a:latin typeface="Arial" panose="020B0604020202020204" pitchFamily="34" charset="0"/>
                <a:ea typeface="微軟正黑體" panose="020B0604030504040204" pitchFamily="34" charset="-120"/>
                <a:cs typeface="Arial" panose="020B0604020202020204" pitchFamily="34" charset="0"/>
              </a:rPr>
              <a:t>zprim1.m: Set ODE function</a:t>
            </a:r>
            <a:endParaRPr lang="zh-TW" altLang="en-US" sz="2000" dirty="0"/>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BC424323-5032-4B2B-AD34-F979090D0A19}"/>
                  </a:ext>
                </a:extLst>
              </p:cNvPr>
              <p:cNvSpPr/>
              <p:nvPr/>
            </p:nvSpPr>
            <p:spPr>
              <a:xfrm>
                <a:off x="1791960" y="4604172"/>
                <a:ext cx="8608080" cy="1498615"/>
              </a:xfrm>
              <a:prstGeom prst="rect">
                <a:avLst/>
              </a:prstGeom>
            </p:spPr>
            <p:txBody>
              <a:bodyPr wrap="square">
                <a:spAutoFit/>
              </a:bodyPr>
              <a:lstStyle/>
              <a:p>
                <a:pPr algn="just">
                  <a:lnSpc>
                    <a:spcPct val="110000"/>
                  </a:lnSpc>
                </a:pPr>
                <a14:m>
                  <m:oMathPara xmlns:m="http://schemas.openxmlformats.org/officeDocument/2006/math">
                    <m:oMathParaPr>
                      <m:jc m:val="centerGroup"/>
                    </m:oMathParaPr>
                    <m:oMath xmlns:m="http://schemas.openxmlformats.org/officeDocument/2006/math">
                      <m:f>
                        <m:fPr>
                          <m:ctrlPr>
                            <a:rPr lang="en-US" altLang="zh-TW" sz="2000" i="1" smtClean="0">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i="1">
                              <a:latin typeface="Cambria Math" panose="02040503050406030204" pitchFamily="18" charset="0"/>
                              <a:ea typeface="微軟正黑體" panose="020B0604030504040204" pitchFamily="34" charset="-120"/>
                              <a:cs typeface="Arial" panose="020B0604020202020204" pitchFamily="34" charset="0"/>
                            </a:rPr>
                            <m:t>𝐷𝑥</m:t>
                          </m:r>
                        </m:num>
                        <m:den>
                          <m:r>
                            <a:rPr lang="en-US" altLang="zh-TW" sz="2000" i="1">
                              <a:latin typeface="Cambria Math" panose="02040503050406030204" pitchFamily="18" charset="0"/>
                              <a:ea typeface="微軟正黑體" panose="020B0604030504040204" pitchFamily="34" charset="-120"/>
                              <a:cs typeface="Arial" panose="020B0604020202020204" pitchFamily="34" charset="0"/>
                            </a:rPr>
                            <m:t>𝐷𝑡</m:t>
                          </m:r>
                        </m:den>
                      </m:f>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𝑢</m:t>
                      </m:r>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f>
                        <m:f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i="1">
                              <a:latin typeface="Cambria Math" panose="02040503050406030204" pitchFamily="18" charset="0"/>
                              <a:ea typeface="微軟正黑體" panose="020B0604030504040204" pitchFamily="34" charset="-120"/>
                              <a:cs typeface="Arial" panose="020B0604020202020204" pitchFamily="34" charset="0"/>
                            </a:rPr>
                            <m:t>1</m:t>
                          </m:r>
                        </m:num>
                        <m:den>
                          <m:sSub>
                            <m:sSub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b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𝑓</m:t>
                              </m:r>
                            </m:e>
                            <m:sub>
                              <m:r>
                                <a:rPr lang="en-US" altLang="zh-TW" sz="2000" i="1">
                                  <a:latin typeface="Cambria Math" panose="02040503050406030204" pitchFamily="18" charset="0"/>
                                  <a:ea typeface="微軟正黑體" panose="020B0604030504040204" pitchFamily="34" charset="-120"/>
                                  <a:cs typeface="Arial" panose="020B0604020202020204" pitchFamily="34" charset="0"/>
                                </a:rPr>
                                <m:t>0</m:t>
                              </m:r>
                            </m:sub>
                          </m:sSub>
                        </m:den>
                      </m:f>
                      <m:f>
                        <m:f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Φ</m:t>
                          </m:r>
                        </m:num>
                        <m:den>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𝑦</m:t>
                          </m:r>
                        </m:den>
                      </m:f>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f>
                        <m:f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𝑙</m:t>
                          </m:r>
                        </m:num>
                        <m:den>
                          <m:sSub>
                            <m:sSub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sSubPr>
                            <m:e>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𝑓</m:t>
                              </m:r>
                            </m:e>
                            <m:sub>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0</m:t>
                              </m:r>
                            </m:sub>
                          </m:sSub>
                        </m:den>
                      </m:f>
                      <m:sSup>
                        <m:sSup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pPr>
                        <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Φ</m:t>
                          </m:r>
                        </m:e>
                        <m:sup>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up>
                      </m:sSup>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sin</m:t>
                          </m:r>
                        </m:fName>
                        <m:e>
                          <m:d>
                            <m:dPr>
                              <m:begChr m:val="["/>
                              <m:endChr m:val="]"/>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𝑘</m:t>
                              </m:r>
                              <m:d>
                                <m:d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𝑥</m:t>
                                  </m:r>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𝑐𝑡</m:t>
                                  </m:r>
                                </m:e>
                              </m:d>
                            </m:e>
                          </m:d>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b="0" i="0" smtClean="0">
                                  <a:latin typeface="Cambria Math" panose="02040503050406030204" pitchFamily="18" charset="0"/>
                                  <a:ea typeface="微軟正黑體" panose="020B0604030504040204" pitchFamily="34" charset="-120"/>
                                  <a:cs typeface="Arial" panose="020B0604020202020204" pitchFamily="34" charset="0"/>
                                </a:rPr>
                                <m:t>sin</m:t>
                              </m:r>
                            </m:fName>
                            <m:e>
                              <m:r>
                                <a:rPr lang="en-US" altLang="zh-TW" sz="2000" i="1">
                                  <a:latin typeface="Cambria Math" panose="02040503050406030204" pitchFamily="18" charset="0"/>
                                  <a:ea typeface="微軟正黑體" panose="020B0604030504040204" pitchFamily="34" charset="-120"/>
                                  <a:cs typeface="Arial" panose="020B0604020202020204" pitchFamily="34" charset="0"/>
                                </a:rPr>
                                <m:t>𝑙𝑦</m:t>
                              </m:r>
                            </m:e>
                          </m:func>
                        </m:e>
                      </m:func>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f>
                        <m:f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𝑙</m:t>
                          </m:r>
                        </m:num>
                        <m:den>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𝑘</m:t>
                          </m:r>
                        </m:den>
                      </m:f>
                      <m:sSup>
                        <m:sSupPr>
                          <m:ctrlP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ctrlPr>
                        </m:sSupPr>
                        <m:e>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𝑈</m:t>
                          </m:r>
                        </m:e>
                        <m:sup>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sup>
                      </m:sSup>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sin</m:t>
                          </m:r>
                        </m:fName>
                        <m:e>
                          <m:d>
                            <m:dPr>
                              <m:begChr m:val="["/>
                              <m:endChr m:val="]"/>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𝑘</m:t>
                              </m:r>
                              <m:d>
                                <m:d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𝑥</m:t>
                                  </m:r>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𝑐𝑡</m:t>
                                  </m:r>
                                </m:e>
                              </m:d>
                            </m:e>
                          </m:d>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sin</m:t>
                              </m:r>
                            </m:fName>
                            <m:e>
                              <m:r>
                                <a:rPr lang="en-US" altLang="zh-TW" sz="2000" i="1">
                                  <a:latin typeface="Cambria Math" panose="02040503050406030204" pitchFamily="18" charset="0"/>
                                  <a:ea typeface="微軟正黑體" panose="020B0604030504040204" pitchFamily="34" charset="-120"/>
                                  <a:cs typeface="Arial" panose="020B0604020202020204" pitchFamily="34" charset="0"/>
                                </a:rPr>
                                <m:t>𝑙𝑦</m:t>
                              </m:r>
                            </m:e>
                          </m:func>
                        </m:e>
                      </m:func>
                    </m:oMath>
                  </m:oMathPara>
                </a14:m>
                <a:endParaRPr lang="en-US" altLang="zh-TW" sz="2000" dirty="0">
                  <a:latin typeface="Arial" panose="020B0604020202020204" pitchFamily="34" charset="0"/>
                  <a:ea typeface="微軟正黑體" panose="020B0604030504040204" pitchFamily="34" charset="-120"/>
                  <a:cs typeface="Arial" panose="020B0604020202020204" pitchFamily="34" charset="0"/>
                </a:endParaRPr>
              </a:p>
              <a:p>
                <a:pPr algn="just">
                  <a:lnSpc>
                    <a:spcPct val="110000"/>
                  </a:lnSpc>
                </a:pPr>
                <a14:m>
                  <m:oMathPara xmlns:m="http://schemas.openxmlformats.org/officeDocument/2006/math">
                    <m:oMathParaPr>
                      <m:jc m:val="centerGroup"/>
                    </m:oMathParaPr>
                    <m:oMath xmlns:m="http://schemas.openxmlformats.org/officeDocument/2006/math">
                      <m:f>
                        <m:f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i="1">
                              <a:latin typeface="Cambria Math" panose="02040503050406030204" pitchFamily="18" charset="0"/>
                              <a:ea typeface="微軟正黑體" panose="020B0604030504040204" pitchFamily="34" charset="-120"/>
                              <a:cs typeface="Arial" panose="020B0604020202020204" pitchFamily="34" charset="0"/>
                            </a:rPr>
                            <m:t>𝐷𝑦</m:t>
                          </m:r>
                        </m:num>
                        <m:den>
                          <m:r>
                            <a:rPr lang="en-US" altLang="zh-TW" sz="2000" i="1">
                              <a:latin typeface="Cambria Math" panose="02040503050406030204" pitchFamily="18" charset="0"/>
                              <a:ea typeface="微軟正黑體" panose="020B0604030504040204" pitchFamily="34" charset="-120"/>
                              <a:cs typeface="Arial" panose="020B0604020202020204" pitchFamily="34" charset="0"/>
                            </a:rPr>
                            <m:t>𝐷𝑡</m:t>
                          </m:r>
                        </m:den>
                      </m:f>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𝑣</m:t>
                      </m:r>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f>
                        <m:f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i="1">
                              <a:latin typeface="Cambria Math" panose="02040503050406030204" pitchFamily="18" charset="0"/>
                              <a:ea typeface="微軟正黑體" panose="020B0604030504040204" pitchFamily="34" charset="-120"/>
                              <a:cs typeface="Arial" panose="020B0604020202020204" pitchFamily="34" charset="0"/>
                            </a:rPr>
                            <m:t>1</m:t>
                          </m:r>
                        </m:num>
                        <m:den>
                          <m:sSub>
                            <m:sSub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b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𝑓</m:t>
                              </m:r>
                            </m:e>
                            <m:sub>
                              <m:r>
                                <a:rPr lang="en-US" altLang="zh-TW" sz="2000" i="1">
                                  <a:latin typeface="Cambria Math" panose="02040503050406030204" pitchFamily="18" charset="0"/>
                                  <a:ea typeface="微軟正黑體" panose="020B0604030504040204" pitchFamily="34" charset="-120"/>
                                  <a:cs typeface="Arial" panose="020B0604020202020204" pitchFamily="34" charset="0"/>
                                </a:rPr>
                                <m:t>0</m:t>
                              </m:r>
                            </m:sub>
                          </m:sSub>
                        </m:den>
                      </m:f>
                      <m:f>
                        <m:f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Φ</m:t>
                          </m:r>
                        </m:num>
                        <m:den>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𝑥</m:t>
                          </m:r>
                        </m:den>
                      </m:f>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f>
                        <m:f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Pr>
                        <m:num>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𝑘</m:t>
                          </m:r>
                        </m:num>
                        <m:den>
                          <m:sSub>
                            <m:sSub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b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𝑓</m:t>
                              </m:r>
                            </m:e>
                            <m:sub>
                              <m:r>
                                <a:rPr lang="en-US" altLang="zh-TW" sz="2000" i="1">
                                  <a:latin typeface="Cambria Math" panose="02040503050406030204" pitchFamily="18" charset="0"/>
                                  <a:ea typeface="微軟正黑體" panose="020B0604030504040204" pitchFamily="34" charset="-120"/>
                                  <a:cs typeface="Arial" panose="020B0604020202020204" pitchFamily="34" charset="0"/>
                                </a:rPr>
                                <m:t>0</m:t>
                              </m:r>
                            </m:sub>
                          </m:sSub>
                        </m:den>
                      </m:f>
                      <m:sSup>
                        <m:sSup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pPr>
                        <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Φ</m:t>
                          </m:r>
                        </m:e>
                        <m:sup>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up>
                      </m:sSup>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b="0" i="0" smtClean="0">
                              <a:latin typeface="Cambria Math" panose="02040503050406030204" pitchFamily="18" charset="0"/>
                              <a:ea typeface="微軟正黑體" panose="020B0604030504040204" pitchFamily="34" charset="-120"/>
                              <a:cs typeface="Arial" panose="020B0604020202020204" pitchFamily="34" charset="0"/>
                            </a:rPr>
                            <m:t>cos</m:t>
                          </m:r>
                        </m:fName>
                        <m:e>
                          <m:d>
                            <m:dPr>
                              <m:begChr m:val="["/>
                              <m:endChr m:val="]"/>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𝑘</m:t>
                              </m:r>
                              <m:d>
                                <m:d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𝑥</m:t>
                                  </m:r>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𝑐𝑡</m:t>
                                  </m:r>
                                </m:e>
                              </m:d>
                            </m:e>
                          </m:d>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cos</m:t>
                              </m:r>
                            </m:fName>
                            <m:e>
                              <m:r>
                                <a:rPr lang="en-US" altLang="zh-TW" sz="2000" i="1">
                                  <a:latin typeface="Cambria Math" panose="02040503050406030204" pitchFamily="18" charset="0"/>
                                  <a:ea typeface="微軟正黑體" panose="020B0604030504040204" pitchFamily="34" charset="-120"/>
                                  <a:cs typeface="Arial" panose="020B0604020202020204" pitchFamily="34" charset="0"/>
                                </a:rPr>
                                <m:t>𝑙𝑦</m:t>
                              </m:r>
                            </m:e>
                          </m:func>
                        </m:e>
                      </m:func>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m:t>
                      </m:r>
                      <m:sSup>
                        <m:sSup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p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𝑈</m:t>
                          </m:r>
                        </m:e>
                        <m:sup>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up>
                      </m:sSup>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cos</m:t>
                          </m:r>
                        </m:fName>
                        <m:e>
                          <m:d>
                            <m:dPr>
                              <m:begChr m:val="["/>
                              <m:endChr m:val="]"/>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𝑘</m:t>
                              </m:r>
                              <m:d>
                                <m:d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𝑥</m:t>
                                  </m:r>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𝑐𝑡</m:t>
                                  </m:r>
                                </m:e>
                              </m:d>
                            </m:e>
                          </m:d>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cos</m:t>
                              </m:r>
                            </m:fName>
                            <m:e>
                              <m:r>
                                <a:rPr lang="en-US" altLang="zh-TW" sz="2000" i="1">
                                  <a:latin typeface="Cambria Math" panose="02040503050406030204" pitchFamily="18" charset="0"/>
                                  <a:ea typeface="微軟正黑體" panose="020B0604030504040204" pitchFamily="34" charset="-120"/>
                                  <a:cs typeface="Arial" panose="020B0604020202020204" pitchFamily="34" charset="0"/>
                                </a:rPr>
                                <m:t>𝑙𝑦</m:t>
                              </m:r>
                            </m:e>
                          </m:func>
                        </m:e>
                      </m:func>
                    </m:oMath>
                  </m:oMathPara>
                </a14:m>
                <a:endParaRPr lang="en-US" altLang="zh-TW" sz="2000" dirty="0">
                  <a:latin typeface="Arial" panose="020B0604020202020204" pitchFamily="34" charset="0"/>
                  <a:ea typeface="微軟正黑體" panose="020B0604030504040204" pitchFamily="34" charset="-120"/>
                  <a:cs typeface="Arial" panose="020B0604020202020204" pitchFamily="34" charset="0"/>
                </a:endParaRPr>
              </a:p>
            </p:txBody>
          </p:sp>
        </mc:Choice>
        <mc:Fallback xmlns="">
          <p:sp>
            <p:nvSpPr>
              <p:cNvPr id="6" name="矩形 5">
                <a:extLst>
                  <a:ext uri="{FF2B5EF4-FFF2-40B4-BE49-F238E27FC236}">
                    <a16:creationId xmlns:a16="http://schemas.microsoft.com/office/drawing/2014/main" id="{BC424323-5032-4B2B-AD34-F979090D0A19}"/>
                  </a:ext>
                </a:extLst>
              </p:cNvPr>
              <p:cNvSpPr>
                <a:spLocks noRot="1" noChangeAspect="1" noMove="1" noResize="1" noEditPoints="1" noAdjustHandles="1" noChangeArrowheads="1" noChangeShapeType="1" noTextEdit="1"/>
              </p:cNvSpPr>
              <p:nvPr/>
            </p:nvSpPr>
            <p:spPr>
              <a:xfrm>
                <a:off x="1791960" y="4604172"/>
                <a:ext cx="8608080" cy="1498615"/>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CA1633E0-23C4-48EC-9017-01B4D4E0C88F}"/>
                  </a:ext>
                </a:extLst>
              </p:cNvPr>
              <p:cNvSpPr/>
              <p:nvPr/>
            </p:nvSpPr>
            <p:spPr>
              <a:xfrm>
                <a:off x="726161" y="3746847"/>
                <a:ext cx="475668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Φ</m:t>
                      </m:r>
                      <m:d>
                        <m:d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𝑥</m:t>
                          </m:r>
                          <m:r>
                            <a:rPr lang="en-US" altLang="zh-TW" sz="2000" i="1">
                              <a:latin typeface="Cambria Math" panose="02040503050406030204" pitchFamily="18" charset="0"/>
                              <a:ea typeface="微軟正黑體" panose="020B0604030504040204" pitchFamily="34" charset="-120"/>
                              <a:cs typeface="Arial" panose="020B0604020202020204" pitchFamily="34" charset="0"/>
                            </a:rPr>
                            <m:t>, </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𝑦</m:t>
                          </m:r>
                          <m:r>
                            <a:rPr lang="en-US" altLang="zh-TW" sz="2000" i="1">
                              <a:latin typeface="Cambria Math" panose="02040503050406030204" pitchFamily="18" charset="0"/>
                              <a:ea typeface="微軟正黑體" panose="020B0604030504040204" pitchFamily="34" charset="-120"/>
                              <a:cs typeface="Arial" panose="020B0604020202020204" pitchFamily="34" charset="0"/>
                            </a:rPr>
                            <m:t>, </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𝑡</m:t>
                          </m:r>
                        </m:e>
                      </m:d>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Sub>
                        <m:sSub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bPr>
                        <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Φ</m:t>
                          </m:r>
                        </m:e>
                        <m:sub>
                          <m:r>
                            <a:rPr lang="en-US" altLang="zh-TW" sz="2000" i="1">
                              <a:latin typeface="Cambria Math" panose="02040503050406030204" pitchFamily="18" charset="0"/>
                              <a:ea typeface="微軟正黑體" panose="020B0604030504040204" pitchFamily="34" charset="-120"/>
                              <a:cs typeface="Arial" panose="020B0604020202020204" pitchFamily="34" charset="0"/>
                            </a:rPr>
                            <m:t>0</m:t>
                          </m:r>
                        </m:sub>
                      </m:sSub>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Sup>
                        <m:sSup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pPr>
                        <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Φ</m:t>
                          </m:r>
                        </m:e>
                        <m:sup>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up>
                      </m:sSup>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sin</m:t>
                          </m:r>
                        </m:fName>
                        <m:e>
                          <m:d>
                            <m:dPr>
                              <m:begChr m:val="["/>
                              <m:endChr m:val="]"/>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𝑘</m:t>
                              </m:r>
                              <m:d>
                                <m:d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d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𝑥</m:t>
                                  </m:r>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r>
                                    <a:rPr lang="en-US" altLang="zh-TW" sz="2000" i="1">
                                      <a:latin typeface="Cambria Math" panose="02040503050406030204" pitchFamily="18" charset="0"/>
                                      <a:ea typeface="微軟正黑體" panose="020B0604030504040204" pitchFamily="34" charset="-120"/>
                                      <a:cs typeface="Arial" panose="020B0604020202020204" pitchFamily="34" charset="0"/>
                                    </a:rPr>
                                    <m:t>𝑐𝑡</m:t>
                                  </m:r>
                                </m:e>
                              </m:d>
                            </m:e>
                          </m:d>
                          <m:func>
                            <m:func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funcPr>
                            <m:fNa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cos</m:t>
                              </m:r>
                            </m:fName>
                            <m:e>
                              <m:r>
                                <a:rPr lang="en-US" altLang="zh-TW" sz="2000" i="1">
                                  <a:latin typeface="Cambria Math" panose="02040503050406030204" pitchFamily="18" charset="0"/>
                                  <a:ea typeface="微軟正黑體" panose="020B0604030504040204" pitchFamily="34" charset="-120"/>
                                  <a:cs typeface="Arial" panose="020B0604020202020204" pitchFamily="34" charset="0"/>
                                </a:rPr>
                                <m:t>𝑙𝑦</m:t>
                              </m:r>
                            </m:e>
                          </m:func>
                        </m:e>
                      </m:func>
                    </m:oMath>
                  </m:oMathPara>
                </a14:m>
                <a:endParaRPr lang="zh-TW" altLang="en-US" sz="2000" dirty="0"/>
              </a:p>
            </p:txBody>
          </p:sp>
        </mc:Choice>
        <mc:Fallback xmlns="">
          <p:sp>
            <p:nvSpPr>
              <p:cNvPr id="7" name="矩形 6">
                <a:extLst>
                  <a:ext uri="{FF2B5EF4-FFF2-40B4-BE49-F238E27FC236}">
                    <a16:creationId xmlns:a16="http://schemas.microsoft.com/office/drawing/2014/main" id="{CA1633E0-23C4-48EC-9017-01B4D4E0C88F}"/>
                  </a:ext>
                </a:extLst>
              </p:cNvPr>
              <p:cNvSpPr>
                <a:spLocks noRot="1" noChangeAspect="1" noMove="1" noResize="1" noEditPoints="1" noAdjustHandles="1" noChangeArrowheads="1" noChangeShapeType="1" noTextEdit="1"/>
              </p:cNvSpPr>
              <p:nvPr/>
            </p:nvSpPr>
            <p:spPr>
              <a:xfrm>
                <a:off x="726161" y="3746847"/>
                <a:ext cx="4756687" cy="400110"/>
              </a:xfrm>
              <a:prstGeom prst="rect">
                <a:avLst/>
              </a:prstGeom>
              <a:blipFill>
                <a:blip r:embed="rId4"/>
                <a:stretch>
                  <a:fillRect b="-1538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B80F1643-B449-4BEC-895B-87F9FBFDAC00}"/>
                  </a:ext>
                </a:extLst>
              </p:cNvPr>
              <p:cNvSpPr/>
              <p:nvPr/>
            </p:nvSpPr>
            <p:spPr>
              <a:xfrm>
                <a:off x="765073" y="4128917"/>
                <a:ext cx="162005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p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𝑈</m:t>
                          </m:r>
                        </m:e>
                        <m:sup>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up>
                      </m:sSup>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Sup>
                        <m:sSup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pPr>
                        <m:e>
                          <m:r>
                            <m:rPr>
                              <m:sty m:val="p"/>
                            </m:rPr>
                            <a:rPr lang="en-US" altLang="zh-TW" sz="2000">
                              <a:latin typeface="Cambria Math" panose="02040503050406030204" pitchFamily="18" charset="0"/>
                              <a:ea typeface="微軟正黑體" panose="020B0604030504040204" pitchFamily="34" charset="-120"/>
                              <a:cs typeface="Arial" panose="020B0604020202020204" pitchFamily="34" charset="0"/>
                            </a:rPr>
                            <m:t>Φ</m:t>
                          </m:r>
                        </m:e>
                        <m:sup>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up>
                      </m:sSup>
                      <m:r>
                        <a:rPr lang="en-US" altLang="zh-TW" sz="2000" i="1">
                          <a:latin typeface="Cambria Math" panose="02040503050406030204" pitchFamily="18" charset="0"/>
                          <a:ea typeface="微軟正黑體" panose="020B0604030504040204" pitchFamily="34" charset="-120"/>
                          <a:cs typeface="Arial" panose="020B0604020202020204" pitchFamily="34" charset="0"/>
                        </a:rPr>
                        <m:t>𝑘</m:t>
                      </m:r>
                      <m:r>
                        <a:rPr lang="en-US" altLang="zh-TW" sz="2000" i="1">
                          <a:latin typeface="Cambria Math" panose="02040503050406030204" pitchFamily="18" charset="0"/>
                          <a:ea typeface="微軟正黑體" panose="020B0604030504040204" pitchFamily="34" charset="-120"/>
                          <a:cs typeface="Arial" panose="020B0604020202020204" pitchFamily="34" charset="0"/>
                        </a:rPr>
                        <m:t>/</m:t>
                      </m:r>
                      <m:sSub>
                        <m:sSubPr>
                          <m:ctrlPr>
                            <a:rPr lang="en-US" altLang="zh-TW" sz="2000" i="1">
                              <a:latin typeface="Cambria Math" panose="02040503050406030204" pitchFamily="18" charset="0"/>
                              <a:ea typeface="微軟正黑體" panose="020B0604030504040204" pitchFamily="34" charset="-120"/>
                              <a:cs typeface="Arial" panose="020B0604020202020204" pitchFamily="34" charset="0"/>
                            </a:rPr>
                          </m:ctrlPr>
                        </m:sSubPr>
                        <m:e>
                          <m:r>
                            <a:rPr lang="en-US" altLang="zh-TW" sz="2000" i="1">
                              <a:latin typeface="Cambria Math" panose="02040503050406030204" pitchFamily="18" charset="0"/>
                              <a:ea typeface="微軟正黑體" panose="020B0604030504040204" pitchFamily="34" charset="-120"/>
                              <a:cs typeface="Arial" panose="020B0604020202020204" pitchFamily="34" charset="0"/>
                            </a:rPr>
                            <m:t>𝑓</m:t>
                          </m:r>
                        </m:e>
                        <m:sub>
                          <m:r>
                            <a:rPr lang="en-US" altLang="zh-TW" sz="2000" i="1">
                              <a:latin typeface="Cambria Math" panose="02040503050406030204" pitchFamily="18" charset="0"/>
                              <a:ea typeface="微軟正黑體" panose="020B0604030504040204" pitchFamily="34" charset="-120"/>
                              <a:cs typeface="Arial" panose="020B0604020202020204" pitchFamily="34" charset="0"/>
                            </a:rPr>
                            <m:t>0</m:t>
                          </m:r>
                        </m:sub>
                      </m:sSub>
                    </m:oMath>
                  </m:oMathPara>
                </a14:m>
                <a:endParaRPr lang="zh-TW" altLang="en-US" sz="2000" dirty="0"/>
              </a:p>
            </p:txBody>
          </p:sp>
        </mc:Choice>
        <mc:Fallback xmlns="">
          <p:sp>
            <p:nvSpPr>
              <p:cNvPr id="3" name="矩形 2">
                <a:extLst>
                  <a:ext uri="{FF2B5EF4-FFF2-40B4-BE49-F238E27FC236}">
                    <a16:creationId xmlns:a16="http://schemas.microsoft.com/office/drawing/2014/main" id="{B80F1643-B449-4BEC-895B-87F9FBFDAC00}"/>
                  </a:ext>
                </a:extLst>
              </p:cNvPr>
              <p:cNvSpPr>
                <a:spLocks noRot="1" noChangeAspect="1" noMove="1" noResize="1" noEditPoints="1" noAdjustHandles="1" noChangeArrowheads="1" noChangeShapeType="1" noTextEdit="1"/>
              </p:cNvSpPr>
              <p:nvPr/>
            </p:nvSpPr>
            <p:spPr>
              <a:xfrm>
                <a:off x="765073" y="4128917"/>
                <a:ext cx="1620059" cy="400110"/>
              </a:xfrm>
              <a:prstGeom prst="rect">
                <a:avLst/>
              </a:prstGeom>
              <a:blipFill>
                <a:blip r:embed="rId5"/>
                <a:stretch>
                  <a:fillRect b="-1363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E1DD8B2B-7126-440D-89D6-68305312B6B7}"/>
                  </a:ext>
                </a:extLst>
              </p:cNvPr>
              <p:cNvSpPr/>
              <p:nvPr/>
            </p:nvSpPr>
            <p:spPr>
              <a:xfrm>
                <a:off x="7742665" y="2413337"/>
                <a:ext cx="4034631" cy="1015663"/>
              </a:xfrm>
              <a:prstGeom prst="rect">
                <a:avLst/>
              </a:prstGeom>
              <a:solidFill>
                <a:schemeClr val="accent4">
                  <a:lumMod val="40000"/>
                  <a:lumOff val="60000"/>
                  <a:alpha val="60000"/>
                </a:schemeClr>
              </a:solidFill>
            </p:spPr>
            <p:txBody>
              <a:bodyPr wrap="none">
                <a:spAutoFit/>
              </a:bodyPr>
              <a:lstStyle/>
              <a:p>
                <a:r>
                  <a:rPr lang="en-US" altLang="zh-TW" sz="2000" dirty="0" err="1">
                    <a:latin typeface="Arial" panose="020B0604020202020204" pitchFamily="34" charset="0"/>
                    <a:ea typeface="微軟正黑體" panose="020B0604030504040204" pitchFamily="34" charset="-120"/>
                    <a:cs typeface="Arial" panose="020B0604020202020204" pitchFamily="34" charset="0"/>
                  </a:rPr>
                  <a:t>ub</a:t>
                </a:r>
                <a:r>
                  <a:rPr lang="en-US" altLang="zh-TW" sz="2000" dirty="0">
                    <a:latin typeface="Arial" panose="020B0604020202020204" pitchFamily="34" charset="0"/>
                    <a:ea typeface="微軟正黑體" panose="020B0604030504040204" pitchFamily="34" charset="-120"/>
                    <a:cs typeface="Arial" panose="020B0604020202020204" pitchFamily="34" charset="0"/>
                  </a:rPr>
                  <a:t>: mean zonal wind (= 0)</a:t>
                </a:r>
              </a:p>
              <a:p>
                <a:r>
                  <a:rPr lang="en-US" altLang="zh-TW" sz="2000" dirty="0">
                    <a:latin typeface="Arial" panose="020B0604020202020204" pitchFamily="34" charset="0"/>
                    <a:ea typeface="微軟正黑體" panose="020B0604030504040204" pitchFamily="34" charset="-120"/>
                    <a:cs typeface="Arial" panose="020B0604020202020204" pitchFamily="34" charset="0"/>
                  </a:rPr>
                  <a:t>k:  wave number in the </a:t>
                </a:r>
                <a14:m>
                  <m:oMath xmlns:m="http://schemas.openxmlformats.org/officeDocument/2006/math">
                    <m:r>
                      <a:rPr lang="en-US" altLang="zh-TW" sz="2000" i="1">
                        <a:latin typeface="Cambria Math" panose="02040503050406030204" pitchFamily="18" charset="0"/>
                        <a:ea typeface="微軟正黑體" panose="020B0604030504040204" pitchFamily="34" charset="-120"/>
                        <a:cs typeface="Arial" panose="020B0604020202020204" pitchFamily="34" charset="0"/>
                      </a:rPr>
                      <m:t>𝑥</m:t>
                    </m:r>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direction</a:t>
                </a:r>
              </a:p>
              <a:p>
                <a:r>
                  <a:rPr lang="en-US" altLang="zh-TW" sz="2000" dirty="0">
                    <a:latin typeface="Arial" panose="020B0604020202020204" pitchFamily="34" charset="0"/>
                    <a:ea typeface="微軟正黑體" panose="020B0604030504040204" pitchFamily="34" charset="-120"/>
                    <a:cs typeface="Arial" panose="020B0604020202020204" pitchFamily="34" charset="0"/>
                  </a:rPr>
                  <a:t>m: wave number in the </a:t>
                </a:r>
                <a14:m>
                  <m:oMath xmlns:m="http://schemas.openxmlformats.org/officeDocument/2006/math">
                    <m:r>
                      <a:rPr lang="en-US" altLang="zh-TW" sz="2000" b="0" i="1" smtClean="0">
                        <a:latin typeface="Cambria Math" panose="02040503050406030204" pitchFamily="18" charset="0"/>
                        <a:ea typeface="微軟正黑體" panose="020B0604030504040204" pitchFamily="34" charset="-120"/>
                        <a:cs typeface="Arial" panose="020B0604020202020204" pitchFamily="34" charset="0"/>
                      </a:rPr>
                      <m:t>𝑦</m:t>
                    </m:r>
                  </m:oMath>
                </a14:m>
                <a:r>
                  <a:rPr lang="en-US" altLang="zh-TW" sz="2000" dirty="0">
                    <a:latin typeface="Arial" panose="020B0604020202020204" pitchFamily="34" charset="0"/>
                    <a:ea typeface="微軟正黑體" panose="020B0604030504040204" pitchFamily="34" charset="-120"/>
                    <a:cs typeface="Arial" panose="020B0604020202020204" pitchFamily="34" charset="0"/>
                  </a:rPr>
                  <a:t> direction</a:t>
                </a:r>
              </a:p>
            </p:txBody>
          </p:sp>
        </mc:Choice>
        <mc:Fallback xmlns="">
          <p:sp>
            <p:nvSpPr>
              <p:cNvPr id="9" name="矩形 8">
                <a:extLst>
                  <a:ext uri="{FF2B5EF4-FFF2-40B4-BE49-F238E27FC236}">
                    <a16:creationId xmlns:a16="http://schemas.microsoft.com/office/drawing/2014/main" id="{E1DD8B2B-7126-440D-89D6-68305312B6B7}"/>
                  </a:ext>
                </a:extLst>
              </p:cNvPr>
              <p:cNvSpPr>
                <a:spLocks noRot="1" noChangeAspect="1" noMove="1" noResize="1" noEditPoints="1" noAdjustHandles="1" noChangeArrowheads="1" noChangeShapeType="1" noTextEdit="1"/>
              </p:cNvSpPr>
              <p:nvPr/>
            </p:nvSpPr>
            <p:spPr>
              <a:xfrm>
                <a:off x="7742665" y="2413337"/>
                <a:ext cx="4034631" cy="1015663"/>
              </a:xfrm>
              <a:prstGeom prst="rect">
                <a:avLst/>
              </a:prstGeom>
              <a:blipFill>
                <a:blip r:embed="rId6"/>
                <a:stretch>
                  <a:fillRect l="-1511" t="-2994" r="-906" b="-1018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41851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DE2E036-8175-4562-8DB7-547705AACAD1}"/>
              </a:ext>
            </a:extLst>
          </p:cNvPr>
          <p:cNvSpPr/>
          <p:nvPr/>
        </p:nvSpPr>
        <p:spPr>
          <a:xfrm>
            <a:off x="264579" y="318026"/>
            <a:ext cx="10601235" cy="400110"/>
          </a:xfrm>
          <a:prstGeom prst="rect">
            <a:avLst/>
          </a:prstGeom>
        </p:spPr>
        <p:txBody>
          <a:bodyPr wrap="none">
            <a:spAutoFit/>
          </a:bodyPr>
          <a:lstStyle/>
          <a:p>
            <a:r>
              <a:rPr lang="en-US" altLang="zh-TW" sz="2000" b="1" dirty="0">
                <a:latin typeface="Arial" panose="020B0604020202020204" pitchFamily="34" charset="0"/>
                <a:ea typeface="微軟正黑體" panose="020B0604030504040204" pitchFamily="34" charset="-120"/>
                <a:cs typeface="Arial" panose="020B0604020202020204" pitchFamily="34" charset="0"/>
              </a:rPr>
              <a:t>Trajectory_1.m:</a:t>
            </a:r>
            <a:r>
              <a:rPr lang="zh-TW" altLang="en-US" sz="2000" b="1" dirty="0">
                <a:latin typeface="Arial" panose="020B0604020202020204" pitchFamily="34" charset="0"/>
                <a:ea typeface="微軟正黑體" panose="020B0604030504040204" pitchFamily="34" charset="-120"/>
                <a:cs typeface="Arial" panose="020B0604020202020204" pitchFamily="34" charset="0"/>
              </a:rPr>
              <a:t> </a:t>
            </a:r>
            <a:r>
              <a:rPr lang="en-US" altLang="zh-TW" sz="2000" b="1" dirty="0">
                <a:latin typeface="Arial" panose="020B0604020202020204" pitchFamily="34" charset="0"/>
                <a:ea typeface="微軟正黑體" panose="020B0604030504040204" pitchFamily="34" charset="-120"/>
                <a:cs typeface="Arial" panose="020B0604020202020204" pitchFamily="34" charset="0"/>
              </a:rPr>
              <a:t>Set grid points, wind amplitude, phase speed, wave numbers, time, …</a:t>
            </a:r>
            <a:endParaRPr lang="zh-TW" altLang="en-US" sz="2000" b="1" dirty="0"/>
          </a:p>
        </p:txBody>
      </p:sp>
      <p:pic>
        <p:nvPicPr>
          <p:cNvPr id="4" name="圖片 3">
            <a:extLst>
              <a:ext uri="{FF2B5EF4-FFF2-40B4-BE49-F238E27FC236}">
                <a16:creationId xmlns:a16="http://schemas.microsoft.com/office/drawing/2014/main" id="{DBB10B02-6F0E-4B34-80C8-6F366498E6AB}"/>
              </a:ext>
            </a:extLst>
          </p:cNvPr>
          <p:cNvPicPr>
            <a:picLocks noChangeAspect="1"/>
          </p:cNvPicPr>
          <p:nvPr/>
        </p:nvPicPr>
        <p:blipFill>
          <a:blip r:embed="rId2"/>
          <a:stretch>
            <a:fillRect/>
          </a:stretch>
        </p:blipFill>
        <p:spPr>
          <a:xfrm>
            <a:off x="264580" y="847504"/>
            <a:ext cx="10737404" cy="5403791"/>
          </a:xfrm>
          <a:prstGeom prst="rect">
            <a:avLst/>
          </a:prstGeom>
        </p:spPr>
      </p:pic>
    </p:spTree>
    <p:extLst>
      <p:ext uri="{BB962C8B-B14F-4D97-AF65-F5344CB8AC3E}">
        <p14:creationId xmlns:p14="http://schemas.microsoft.com/office/powerpoint/2010/main" val="2178780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DE2E036-8175-4562-8DB7-547705AACAD1}"/>
              </a:ext>
            </a:extLst>
          </p:cNvPr>
          <p:cNvSpPr/>
          <p:nvPr/>
        </p:nvSpPr>
        <p:spPr>
          <a:xfrm>
            <a:off x="264579" y="318026"/>
            <a:ext cx="5051639" cy="400110"/>
          </a:xfrm>
          <a:prstGeom prst="rect">
            <a:avLst/>
          </a:prstGeom>
        </p:spPr>
        <p:txBody>
          <a:bodyPr wrap="none">
            <a:spAutoFit/>
          </a:bodyPr>
          <a:lstStyle/>
          <a:p>
            <a:r>
              <a:rPr lang="en-US" altLang="zh-TW" sz="2000" b="1" dirty="0">
                <a:latin typeface="Arial" panose="020B0604020202020204" pitchFamily="34" charset="0"/>
                <a:ea typeface="微軟正黑體" panose="020B0604030504040204" pitchFamily="34" charset="-120"/>
                <a:cs typeface="Arial" panose="020B0604020202020204" pitchFamily="34" charset="0"/>
              </a:rPr>
              <a:t>Trajectory_1.m:</a:t>
            </a:r>
            <a:r>
              <a:rPr lang="zh-TW" altLang="en-US" sz="2000" b="1" dirty="0">
                <a:latin typeface="Arial" panose="020B0604020202020204" pitchFamily="34" charset="0"/>
                <a:ea typeface="微軟正黑體" panose="020B0604030504040204" pitchFamily="34" charset="-120"/>
                <a:cs typeface="Arial" panose="020B0604020202020204" pitchFamily="34" charset="0"/>
              </a:rPr>
              <a:t> </a:t>
            </a:r>
            <a:r>
              <a:rPr lang="en-US" altLang="zh-TW" sz="2000" b="1" dirty="0">
                <a:latin typeface="Arial" panose="020B0604020202020204" pitchFamily="34" charset="0"/>
                <a:ea typeface="微軟正黑體" panose="020B0604030504040204" pitchFamily="34" charset="-120"/>
                <a:cs typeface="Arial" panose="020B0604020202020204" pitchFamily="34" charset="0"/>
              </a:rPr>
              <a:t>Solve trajectories &amp; plot</a:t>
            </a:r>
            <a:endParaRPr lang="zh-TW" altLang="en-US" sz="2000" b="1" dirty="0"/>
          </a:p>
        </p:txBody>
      </p:sp>
      <p:pic>
        <p:nvPicPr>
          <p:cNvPr id="2" name="圖片 1">
            <a:extLst>
              <a:ext uri="{FF2B5EF4-FFF2-40B4-BE49-F238E27FC236}">
                <a16:creationId xmlns:a16="http://schemas.microsoft.com/office/drawing/2014/main" id="{7A032932-7B8C-4CE7-B66B-D3B115058664}"/>
              </a:ext>
            </a:extLst>
          </p:cNvPr>
          <p:cNvPicPr>
            <a:picLocks noChangeAspect="1"/>
          </p:cNvPicPr>
          <p:nvPr/>
        </p:nvPicPr>
        <p:blipFill>
          <a:blip r:embed="rId2"/>
          <a:stretch>
            <a:fillRect/>
          </a:stretch>
        </p:blipFill>
        <p:spPr>
          <a:xfrm>
            <a:off x="264578" y="847504"/>
            <a:ext cx="6251517" cy="5851876"/>
          </a:xfrm>
          <a:prstGeom prst="rect">
            <a:avLst/>
          </a:prstGeom>
        </p:spPr>
      </p:pic>
    </p:spTree>
    <p:extLst>
      <p:ext uri="{BB962C8B-B14F-4D97-AF65-F5344CB8AC3E}">
        <p14:creationId xmlns:p14="http://schemas.microsoft.com/office/powerpoint/2010/main" val="236992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26778B0-F727-4B53-8323-BE09C2CFDA64}"/>
              </a:ext>
            </a:extLst>
          </p:cNvPr>
          <p:cNvSpPr/>
          <p:nvPr/>
        </p:nvSpPr>
        <p:spPr>
          <a:xfrm>
            <a:off x="385011" y="1703174"/>
            <a:ext cx="11421978" cy="3451651"/>
          </a:xfrm>
          <a:prstGeom prst="rect">
            <a:avLst/>
          </a:prstGeom>
        </p:spPr>
        <p:txBody>
          <a:bodyPr wrap="square">
            <a:spAutoFit/>
          </a:bodyPr>
          <a:lstStyle/>
          <a:p>
            <a:pPr algn="just">
              <a:lnSpc>
                <a:spcPct val="110000"/>
              </a:lnSpc>
            </a:pPr>
            <a:r>
              <a:rPr lang="en-US" altLang="zh-TW" sz="2000" b="1" dirty="0">
                <a:latin typeface="Arial" panose="020B0604020202020204" pitchFamily="34" charset="0"/>
                <a:ea typeface="微軟正黑體" panose="020B0604030504040204" pitchFamily="34" charset="-120"/>
                <a:cs typeface="Arial" panose="020B0604020202020204" pitchFamily="34" charset="0"/>
              </a:rPr>
              <a:t>M4.2.</a:t>
            </a:r>
            <a:r>
              <a:rPr lang="en-US" altLang="zh-TW" sz="2000" dirty="0">
                <a:latin typeface="Arial" panose="020B0604020202020204" pitchFamily="34" charset="0"/>
                <a:ea typeface="微軟正黑體" panose="020B0604030504040204" pitchFamily="34" charset="-120"/>
                <a:cs typeface="Arial" panose="020B0604020202020204" pitchFamily="34" charset="0"/>
              </a:rPr>
              <a:t> The MATLAB scripts </a:t>
            </a:r>
            <a:r>
              <a:rPr lang="en-US" altLang="zh-TW" sz="2000" b="1" dirty="0">
                <a:latin typeface="Arial" panose="020B0604020202020204" pitchFamily="34" charset="0"/>
                <a:ea typeface="微軟正黑體" panose="020B0604030504040204" pitchFamily="34" charset="-120"/>
                <a:cs typeface="Arial" panose="020B0604020202020204" pitchFamily="34" charset="0"/>
              </a:rPr>
              <a:t>geowinds_1.m</a:t>
            </a:r>
            <a:r>
              <a:rPr lang="en-US" altLang="zh-TW" sz="2000" dirty="0">
                <a:latin typeface="Arial" panose="020B0604020202020204" pitchFamily="34" charset="0"/>
                <a:ea typeface="微軟正黑體" panose="020B0604030504040204" pitchFamily="34" charset="-120"/>
                <a:cs typeface="Arial" panose="020B0604020202020204" pitchFamily="34" charset="0"/>
              </a:rPr>
              <a:t> (to be used when the mapping toolbox is available) and </a:t>
            </a:r>
            <a:r>
              <a:rPr lang="en-US" altLang="zh-TW" sz="2000" b="1" dirty="0">
                <a:latin typeface="Arial" panose="020B0604020202020204" pitchFamily="34" charset="0"/>
                <a:ea typeface="微軟正黑體" panose="020B0604030504040204" pitchFamily="34" charset="-120"/>
                <a:cs typeface="Arial" panose="020B0604020202020204" pitchFamily="34" charset="0"/>
              </a:rPr>
              <a:t>geowinds_2.m </a:t>
            </a:r>
            <a:r>
              <a:rPr lang="en-US" altLang="zh-TW" sz="2000" dirty="0">
                <a:latin typeface="Arial" panose="020B0604020202020204" pitchFamily="34" charset="0"/>
                <a:ea typeface="微軟正黑體" panose="020B0604030504040204" pitchFamily="34" charset="-120"/>
                <a:cs typeface="Arial" panose="020B0604020202020204" pitchFamily="34" charset="0"/>
              </a:rPr>
              <a:t>(to be used if no mapping toolbox is available) contain contour plots showing the observed 500-hPa height and horizontal wind fields for November 10, 1998, in the North American sector. Also shown is a color plot of the magnitude of the 500-hPa wind with height contours superposed. Using centered difference formulas (see Section 13.2.1), compute the geostrophic wind components, the magnitude of the geostrophic wind, the relative vorticity, the vorticity of the geostrophic wind, and the vorticity minus the vorticity of the geostrophic wind. Following the models of Figures 4.1 and 4.2, superpose these fields on the maps of the 500-hPa height field. Explain the distribution and the sign of regions with large differences between vorticity and geostrophic vorticity in terms of the force balances that were studied in Chapter 3.</a:t>
            </a:r>
          </a:p>
        </p:txBody>
      </p:sp>
    </p:spTree>
    <p:extLst>
      <p:ext uri="{BB962C8B-B14F-4D97-AF65-F5344CB8AC3E}">
        <p14:creationId xmlns:p14="http://schemas.microsoft.com/office/powerpoint/2010/main" val="2032451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2">
            <a:extLst>
              <a:ext uri="{FF2B5EF4-FFF2-40B4-BE49-F238E27FC236}">
                <a16:creationId xmlns:a16="http://schemas.microsoft.com/office/drawing/2014/main" id="{8B4D723D-0B30-4D5E-B33E-A3C03CF690E1}"/>
              </a:ext>
            </a:extLst>
          </p:cNvPr>
          <p:cNvSpPr txBox="1">
            <a:spLocks/>
          </p:cNvSpPr>
          <p:nvPr/>
        </p:nvSpPr>
        <p:spPr>
          <a:xfrm>
            <a:off x="684212" y="1129256"/>
            <a:ext cx="8534400" cy="3615267"/>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8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4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285750" marR="0" lvl="0" indent="-285750" algn="l" defTabSz="457200" rtl="0" eaLnBrk="1" fontAlgn="auto" latinLnBrk="0" hangingPunct="1">
              <a:lnSpc>
                <a:spcPct val="100000"/>
              </a:lnSpc>
              <a:spcBef>
                <a:spcPct val="20000"/>
              </a:spcBef>
              <a:spcAft>
                <a:spcPts val="600"/>
              </a:spcAft>
              <a:buClr>
                <a:sysClr val="window" lastClr="FFFFFF"/>
              </a:buClr>
              <a:buSzPct val="80000"/>
              <a:buFont typeface="Wingdings 3" panose="05040102010807070707" pitchFamily="18" charset="2"/>
              <a:buChar char=""/>
              <a:tabLst/>
              <a:defRPr/>
            </a:pPr>
            <a:r>
              <a:rPr kumimoji="0" lang="zh-TW" altLang="en-US" sz="2800" b="0" i="0" u="none" strike="noStrike" kern="1200" cap="none" spc="0" normalizeH="0" baseline="0" noProof="0" dirty="0">
                <a:ln>
                  <a:noFill/>
                </a:ln>
                <a:effectLst/>
                <a:uLnTx/>
                <a:uFillTx/>
                <a:latin typeface="源泉圓體 B" panose="020B0800000000000000" pitchFamily="34" charset="-120"/>
                <a:ea typeface="源泉圓體 B" panose="020B0800000000000000" pitchFamily="34" charset="-120"/>
              </a:rPr>
              <a:t>實際風（風標、風速）</a:t>
            </a:r>
            <a:endParaRPr kumimoji="0" lang="en-US" altLang="zh-TW" sz="2800" b="0" i="0" u="none" strike="noStrike" kern="1200" cap="none" spc="0" normalizeH="0" baseline="0" noProof="0" dirty="0">
              <a:ln>
                <a:noFill/>
              </a:ln>
              <a:effectLst/>
              <a:uLnTx/>
              <a:uFillTx/>
              <a:latin typeface="源泉圓體 B" panose="020B0800000000000000" pitchFamily="34" charset="-120"/>
              <a:ea typeface="源泉圓體 B" panose="020B0800000000000000" pitchFamily="34" charset="-120"/>
            </a:endParaRPr>
          </a:p>
          <a:p>
            <a:pPr marL="285750" marR="0" lvl="0" indent="-285750" algn="l" defTabSz="457200" rtl="0" eaLnBrk="1" fontAlgn="auto" latinLnBrk="0" hangingPunct="1">
              <a:lnSpc>
                <a:spcPct val="100000"/>
              </a:lnSpc>
              <a:spcBef>
                <a:spcPct val="20000"/>
              </a:spcBef>
              <a:spcAft>
                <a:spcPts val="600"/>
              </a:spcAft>
              <a:buClr>
                <a:sysClr val="window" lastClr="FFFFFF"/>
              </a:buClr>
              <a:buSzPct val="80000"/>
              <a:buFont typeface="Wingdings 3" panose="05040102010807070707" pitchFamily="18" charset="2"/>
              <a:buChar char=""/>
              <a:tabLst/>
              <a:defRPr/>
            </a:pPr>
            <a:r>
              <a:rPr kumimoji="0" lang="zh-TW" altLang="en-US" sz="2800" b="0" i="0" u="none" strike="noStrike" kern="1200" cap="none" spc="0" normalizeH="0" baseline="0" noProof="0" dirty="0">
                <a:ln>
                  <a:noFill/>
                </a:ln>
                <a:effectLst/>
                <a:uLnTx/>
                <a:uFillTx/>
                <a:latin typeface="源泉圓體 B" panose="020B0800000000000000" pitchFamily="34" charset="-120"/>
                <a:ea typeface="源泉圓體 B" panose="020B0800000000000000" pitchFamily="34" charset="-120"/>
              </a:rPr>
              <a:t>地轉風（風標、風速）</a:t>
            </a:r>
            <a:endParaRPr kumimoji="0" lang="en-US" altLang="zh-TW" sz="2800" b="0" i="0" u="none" strike="noStrike" kern="1200" cap="none" spc="0" normalizeH="0" baseline="0" noProof="0" dirty="0">
              <a:ln>
                <a:noFill/>
              </a:ln>
              <a:effectLst/>
              <a:uLnTx/>
              <a:uFillTx/>
              <a:latin typeface="源泉圓體 B" panose="020B0800000000000000" pitchFamily="34" charset="-120"/>
              <a:ea typeface="源泉圓體 B" panose="020B0800000000000000" pitchFamily="34" charset="-120"/>
            </a:endParaRPr>
          </a:p>
          <a:p>
            <a:pPr marL="285750" marR="0" lvl="0" indent="-285750" algn="l" defTabSz="457200" rtl="0" eaLnBrk="1" fontAlgn="auto" latinLnBrk="0" hangingPunct="1">
              <a:lnSpc>
                <a:spcPct val="100000"/>
              </a:lnSpc>
              <a:spcBef>
                <a:spcPct val="20000"/>
              </a:spcBef>
              <a:spcAft>
                <a:spcPts val="600"/>
              </a:spcAft>
              <a:buClr>
                <a:sysClr val="window" lastClr="FFFFFF"/>
              </a:buClr>
              <a:buSzPct val="80000"/>
              <a:buFont typeface="Wingdings 3" panose="05040102010807070707" pitchFamily="18" charset="2"/>
              <a:buChar char=""/>
              <a:tabLst/>
              <a:defRPr/>
            </a:pPr>
            <a:r>
              <a:rPr kumimoji="0" lang="zh-TW" altLang="en-US" sz="2800" b="0" i="0" u="none" strike="noStrike" kern="1200" cap="none" spc="0" normalizeH="0" baseline="0" noProof="0" dirty="0">
                <a:ln>
                  <a:noFill/>
                </a:ln>
                <a:effectLst/>
                <a:uLnTx/>
                <a:uFillTx/>
                <a:latin typeface="源泉圓體 B" panose="020B0800000000000000" pitchFamily="34" charset="-120"/>
                <a:ea typeface="源泉圓體 B" panose="020B0800000000000000" pitchFamily="34" charset="-120"/>
              </a:rPr>
              <a:t>渦度</a:t>
            </a:r>
            <a:endParaRPr kumimoji="0" lang="en-US" altLang="zh-TW" sz="2800" b="0" i="0" u="none" strike="noStrike" kern="1200" cap="none" spc="0" normalizeH="0" baseline="0" noProof="0" dirty="0">
              <a:ln>
                <a:noFill/>
              </a:ln>
              <a:effectLst/>
              <a:uLnTx/>
              <a:uFillTx/>
              <a:latin typeface="源泉圓體 B" panose="020B0800000000000000" pitchFamily="34" charset="-120"/>
              <a:ea typeface="源泉圓體 B" panose="020B0800000000000000" pitchFamily="34" charset="-120"/>
            </a:endParaRPr>
          </a:p>
          <a:p>
            <a:pPr marL="285750" marR="0" lvl="0" indent="-285750" algn="l" defTabSz="457200" rtl="0" eaLnBrk="1" fontAlgn="auto" latinLnBrk="0" hangingPunct="1">
              <a:lnSpc>
                <a:spcPct val="100000"/>
              </a:lnSpc>
              <a:spcBef>
                <a:spcPct val="20000"/>
              </a:spcBef>
              <a:spcAft>
                <a:spcPts val="600"/>
              </a:spcAft>
              <a:buClr>
                <a:sysClr val="window" lastClr="FFFFFF"/>
              </a:buClr>
              <a:buSzPct val="80000"/>
              <a:buFont typeface="Wingdings 3" panose="05040102010807070707" pitchFamily="18" charset="2"/>
              <a:buChar char=""/>
              <a:tabLst/>
              <a:defRPr/>
            </a:pPr>
            <a:r>
              <a:rPr kumimoji="0" lang="zh-TW" altLang="en-US" sz="2800" b="0" i="0" u="none" strike="noStrike" kern="1200" cap="none" spc="0" normalizeH="0" baseline="0" noProof="0" dirty="0">
                <a:ln>
                  <a:noFill/>
                </a:ln>
                <a:effectLst/>
                <a:uLnTx/>
                <a:uFillTx/>
                <a:latin typeface="源泉圓體 B" panose="020B0800000000000000" pitchFamily="34" charset="-120"/>
                <a:ea typeface="源泉圓體 B" panose="020B0800000000000000" pitchFamily="34" charset="-120"/>
              </a:rPr>
              <a:t>地轉渦度</a:t>
            </a:r>
            <a:endParaRPr kumimoji="0" lang="en-US" altLang="zh-TW" sz="2800" b="0" i="0" u="none" strike="noStrike" kern="1200" cap="none" spc="0" normalizeH="0" baseline="0" noProof="0" dirty="0">
              <a:ln>
                <a:noFill/>
              </a:ln>
              <a:effectLst/>
              <a:uLnTx/>
              <a:uFillTx/>
              <a:latin typeface="源泉圓體 B" panose="020B0800000000000000" pitchFamily="34" charset="-120"/>
              <a:ea typeface="源泉圓體 B" panose="020B0800000000000000" pitchFamily="34" charset="-120"/>
            </a:endParaRPr>
          </a:p>
          <a:p>
            <a:pPr marL="285750" marR="0" lvl="0" indent="-285750" algn="l" defTabSz="457200" rtl="0" eaLnBrk="1" fontAlgn="auto" latinLnBrk="0" hangingPunct="1">
              <a:lnSpc>
                <a:spcPct val="100000"/>
              </a:lnSpc>
              <a:spcBef>
                <a:spcPct val="20000"/>
              </a:spcBef>
              <a:spcAft>
                <a:spcPts val="600"/>
              </a:spcAft>
              <a:buClr>
                <a:sysClr val="window" lastClr="FFFFFF"/>
              </a:buClr>
              <a:buSzPct val="80000"/>
              <a:buFont typeface="Wingdings 3" panose="05040102010807070707" pitchFamily="18" charset="2"/>
              <a:buChar char=""/>
              <a:tabLst/>
              <a:defRPr/>
            </a:pPr>
            <a:r>
              <a:rPr kumimoji="0" lang="zh-TW" altLang="en-US" sz="2800" b="0" i="0" u="none" strike="noStrike" kern="1200" cap="none" spc="0" normalizeH="0" baseline="0" noProof="0" dirty="0">
                <a:ln>
                  <a:noFill/>
                </a:ln>
                <a:effectLst/>
                <a:uLnTx/>
                <a:uFillTx/>
                <a:latin typeface="源泉圓體 B" panose="020B0800000000000000" pitchFamily="34" charset="-120"/>
                <a:ea typeface="源泉圓體 B" panose="020B0800000000000000" pitchFamily="34" charset="-120"/>
              </a:rPr>
              <a:t>渦度 </a:t>
            </a:r>
            <a:r>
              <a:rPr kumimoji="0" lang="en-US" altLang="zh-TW" sz="2800" b="0" i="0" u="none" strike="noStrike" kern="1200" cap="none" spc="0" normalizeH="0" baseline="0" noProof="0" dirty="0">
                <a:ln>
                  <a:noFill/>
                </a:ln>
                <a:effectLst/>
                <a:uLnTx/>
                <a:uFillTx/>
                <a:latin typeface="源泉圓體 B" panose="020B0800000000000000" pitchFamily="34" charset="-120"/>
                <a:ea typeface="源泉圓體 B" panose="020B0800000000000000" pitchFamily="34" charset="-120"/>
              </a:rPr>
              <a:t>- </a:t>
            </a:r>
            <a:r>
              <a:rPr kumimoji="0" lang="zh-TW" altLang="en-US" sz="2800" b="0" i="0" u="none" strike="noStrike" kern="1200" cap="none" spc="0" normalizeH="0" baseline="0" noProof="0" dirty="0">
                <a:ln>
                  <a:noFill/>
                </a:ln>
                <a:effectLst/>
                <a:uLnTx/>
                <a:uFillTx/>
                <a:latin typeface="源泉圓體 B" panose="020B0800000000000000" pitchFamily="34" charset="-120"/>
                <a:ea typeface="源泉圓體 B" panose="020B0800000000000000" pitchFamily="34" charset="-120"/>
              </a:rPr>
              <a:t>地轉渦度</a:t>
            </a:r>
          </a:p>
        </p:txBody>
      </p:sp>
      <p:sp>
        <p:nvSpPr>
          <p:cNvPr id="3" name="標題 3">
            <a:extLst>
              <a:ext uri="{FF2B5EF4-FFF2-40B4-BE49-F238E27FC236}">
                <a16:creationId xmlns:a16="http://schemas.microsoft.com/office/drawing/2014/main" id="{2F2C558B-5700-472E-AA01-D5BA163485C3}"/>
              </a:ext>
            </a:extLst>
          </p:cNvPr>
          <p:cNvSpPr txBox="1">
            <a:spLocks/>
          </p:cNvSpPr>
          <p:nvPr/>
        </p:nvSpPr>
        <p:spPr>
          <a:xfrm>
            <a:off x="5237019" y="2588050"/>
            <a:ext cx="5854536" cy="1507067"/>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b="1" kern="1200" cap="all">
                <a:ln w="3175" cmpd="sng">
                  <a:noFill/>
                </a:ln>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zh-TW" altLang="en-US" sz="3600" b="1" i="0" u="none" strike="noStrike" kern="1200" cap="all" spc="0" normalizeH="0" baseline="0" noProof="0" dirty="0">
                <a:ln w="3175" cmpd="sng">
                  <a:noFill/>
                </a:ln>
                <a:solidFill>
                  <a:srgbClr val="FF0000"/>
                </a:solidFill>
                <a:effectLst>
                  <a:outerShdw blurRad="38100" dist="38100" dir="2700000" algn="tl">
                    <a:srgbClr val="000000">
                      <a:alpha val="43137"/>
                    </a:srgbClr>
                  </a:outerShdw>
                </a:effectLst>
                <a:uLnTx/>
                <a:uFillTx/>
                <a:latin typeface="Century Gothic" panose="020B0502020202020204"/>
                <a:ea typeface="微軟正黑體" panose="020B0604030504040204" pitchFamily="34" charset="-120"/>
                <a:cs typeface="+mj-cs"/>
              </a:rPr>
              <a:t>需自行</a:t>
            </a:r>
            <a:r>
              <a:rPr kumimoji="0" lang="en-US" altLang="zh-TW" sz="3600" b="1" i="0" u="none" strike="noStrike" kern="1200" cap="all" spc="0" normalizeH="0" baseline="0" noProof="0" dirty="0">
                <a:ln w="3175" cmpd="sng">
                  <a:noFill/>
                </a:ln>
                <a:solidFill>
                  <a:srgbClr val="FF0000"/>
                </a:solidFill>
                <a:effectLst>
                  <a:outerShdw blurRad="38100" dist="38100" dir="2700000" algn="tl">
                    <a:srgbClr val="000000">
                      <a:alpha val="43137"/>
                    </a:srgbClr>
                  </a:outerShdw>
                </a:effectLst>
                <a:uLnTx/>
                <a:uFillTx/>
                <a:latin typeface="Century Gothic" panose="020B0502020202020204"/>
                <a:ea typeface="微軟正黑體" panose="020B0604030504040204" pitchFamily="34" charset="-120"/>
                <a:cs typeface="+mj-cs"/>
              </a:rPr>
              <a:t>coding</a:t>
            </a:r>
            <a:endParaRPr kumimoji="0" lang="zh-TW" altLang="en-US" sz="3600" b="1" i="0" u="none" strike="noStrike" kern="1200" cap="all" spc="0" normalizeH="0" baseline="0" noProof="0" dirty="0">
              <a:ln w="3175" cmpd="sng">
                <a:noFill/>
              </a:ln>
              <a:solidFill>
                <a:srgbClr val="FF0000"/>
              </a:solidFill>
              <a:effectLst>
                <a:outerShdw blurRad="38100" dist="38100" dir="2700000" algn="tl">
                  <a:srgbClr val="000000">
                    <a:alpha val="43137"/>
                  </a:srgbClr>
                </a:outerShdw>
              </a:effectLst>
              <a:uLnTx/>
              <a:uFillTx/>
              <a:latin typeface="Century Gothic" panose="020B0502020202020204"/>
              <a:ea typeface="微軟正黑體" panose="020B0604030504040204" pitchFamily="34" charset="-120"/>
              <a:cs typeface="+mj-cs"/>
            </a:endParaRPr>
          </a:p>
        </p:txBody>
      </p:sp>
      <p:sp>
        <p:nvSpPr>
          <p:cNvPr id="4" name="右中括弧 3">
            <a:extLst>
              <a:ext uri="{FF2B5EF4-FFF2-40B4-BE49-F238E27FC236}">
                <a16:creationId xmlns:a16="http://schemas.microsoft.com/office/drawing/2014/main" id="{5DF741A2-AF9A-4764-BCAD-03BF33156BBF}"/>
              </a:ext>
            </a:extLst>
          </p:cNvPr>
          <p:cNvSpPr/>
          <p:nvPr/>
        </p:nvSpPr>
        <p:spPr>
          <a:xfrm>
            <a:off x="4749531" y="2363191"/>
            <a:ext cx="166853" cy="1861786"/>
          </a:xfrm>
          <a:prstGeom prst="rightBracket">
            <a:avLst/>
          </a:prstGeom>
          <a:noFill/>
          <a:ln w="57150" cap="rnd" cmpd="sng" algn="ctr">
            <a:solidFill>
              <a:srgbClr val="FF0000">
                <a:alpha val="60000"/>
              </a:srgbClr>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effectLst/>
              <a:uLnTx/>
              <a:uFillTx/>
              <a:latin typeface="Century Gothic" panose="020B0502020202020204"/>
              <a:ea typeface="微軟正黑體" panose="020B0604030504040204" pitchFamily="34" charset="-120"/>
              <a:cs typeface="+mn-cs"/>
            </a:endParaRPr>
          </a:p>
        </p:txBody>
      </p:sp>
    </p:spTree>
    <p:extLst>
      <p:ext uri="{BB962C8B-B14F-4D97-AF65-F5344CB8AC3E}">
        <p14:creationId xmlns:p14="http://schemas.microsoft.com/office/powerpoint/2010/main" val="2381221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2">
            <a:extLst>
              <a:ext uri="{FF2B5EF4-FFF2-40B4-BE49-F238E27FC236}">
                <a16:creationId xmlns:a16="http://schemas.microsoft.com/office/drawing/2014/main" id="{94674BCA-512F-43FB-ABF8-0570A50CF05F}"/>
              </a:ext>
            </a:extLst>
          </p:cNvPr>
          <p:cNvSpPr txBox="1">
            <a:spLocks/>
          </p:cNvSpPr>
          <p:nvPr/>
        </p:nvSpPr>
        <p:spPr>
          <a:xfrm>
            <a:off x="468085" y="287382"/>
            <a:ext cx="8534400" cy="1414176"/>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8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4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marR="0" lvl="0" indent="0" algn="l" defTabSz="457200" rtl="0" eaLnBrk="1" fontAlgn="auto" latinLnBrk="0" hangingPunct="1">
              <a:lnSpc>
                <a:spcPct val="100000"/>
              </a:lnSpc>
              <a:spcBef>
                <a:spcPct val="20000"/>
              </a:spcBef>
              <a:spcAft>
                <a:spcPts val="600"/>
              </a:spcAft>
              <a:buClr>
                <a:sysClr val="window" lastClr="FFFFFF"/>
              </a:buClr>
              <a:buSzPct val="80000"/>
              <a:buNone/>
              <a:tabLst/>
              <a:defRPr/>
            </a:pPr>
            <a:r>
              <a:rPr kumimoji="0" lang="zh-TW" altLang="en-US" sz="2800" b="0" i="0" u="none" strike="noStrike" kern="1200" cap="none" spc="0" normalizeH="0" baseline="0" noProof="0" dirty="0">
                <a:ln>
                  <a:noFill/>
                </a:ln>
                <a:effectLst/>
                <a:uLnTx/>
                <a:uFillTx/>
                <a:latin typeface="源泉圓體 B" panose="020B0800000000000000" pitchFamily="34" charset="-120"/>
                <a:ea typeface="源泉圓體 B" panose="020B0800000000000000" pitchFamily="34" charset="-120"/>
              </a:rPr>
              <a:t>實際風（風標、風速）</a:t>
            </a:r>
            <a:endParaRPr kumimoji="0" lang="en-US" altLang="zh-TW" sz="2800" b="0" i="0" u="none" strike="noStrike" kern="1200" cap="none" spc="0" normalizeH="0" baseline="0" noProof="0" dirty="0">
              <a:ln>
                <a:noFill/>
              </a:ln>
              <a:effectLst/>
              <a:uLnTx/>
              <a:uFillTx/>
              <a:latin typeface="源泉圓體 B" panose="020B0800000000000000" pitchFamily="34" charset="-120"/>
              <a:ea typeface="源泉圓體 B" panose="020B0800000000000000" pitchFamily="34" charset="-120"/>
            </a:endParaRPr>
          </a:p>
          <a:p>
            <a:pPr marL="285750" marR="0" lvl="0" indent="-285750" algn="l" defTabSz="457200" rtl="0" eaLnBrk="1" fontAlgn="auto" latinLnBrk="0" hangingPunct="1">
              <a:lnSpc>
                <a:spcPct val="100000"/>
              </a:lnSpc>
              <a:spcBef>
                <a:spcPct val="20000"/>
              </a:spcBef>
              <a:spcAft>
                <a:spcPts val="600"/>
              </a:spcAft>
              <a:buClr>
                <a:sysClr val="window" lastClr="FFFFFF"/>
              </a:buClr>
              <a:buSzPct val="80000"/>
              <a:buFont typeface="Wingdings 3" panose="05040102010807070707" pitchFamily="18" charset="2"/>
              <a:buChar char=""/>
              <a:tabLst/>
              <a:defRPr/>
            </a:pPr>
            <a:endParaRPr kumimoji="0" lang="zh-TW" altLang="en-US" sz="2800" b="0" i="0" u="none" strike="noStrike" kern="1200" cap="none" spc="0" normalizeH="0" baseline="0" noProof="0" dirty="0">
              <a:ln>
                <a:noFill/>
              </a:ln>
              <a:effectLst/>
              <a:uLnTx/>
              <a:uFillTx/>
              <a:latin typeface="源泉圓體 B" panose="020B0800000000000000" pitchFamily="34" charset="-120"/>
              <a:ea typeface="源泉圓體 B" panose="020B0800000000000000" pitchFamily="34" charset="-120"/>
            </a:endParaRPr>
          </a:p>
        </p:txBody>
      </p:sp>
      <p:pic>
        <p:nvPicPr>
          <p:cNvPr id="3" name="圖片 2">
            <a:extLst>
              <a:ext uri="{FF2B5EF4-FFF2-40B4-BE49-F238E27FC236}">
                <a16:creationId xmlns:a16="http://schemas.microsoft.com/office/drawing/2014/main" id="{8736FFE3-9386-4A99-9774-BEEFCC651DB5}"/>
              </a:ext>
            </a:extLst>
          </p:cNvPr>
          <p:cNvPicPr>
            <a:picLocks noChangeAspect="1"/>
          </p:cNvPicPr>
          <p:nvPr/>
        </p:nvPicPr>
        <p:blipFill rotWithShape="1">
          <a:blip r:embed="rId2">
            <a:extLst>
              <a:ext uri="{28A0092B-C50C-407E-A947-70E740481C1C}">
                <a14:useLocalDpi xmlns:a14="http://schemas.microsoft.com/office/drawing/2010/main" val="0"/>
              </a:ext>
            </a:extLst>
          </a:blip>
          <a:srcRect l="9857" r="8285"/>
          <a:stretch/>
        </p:blipFill>
        <p:spPr>
          <a:xfrm>
            <a:off x="0" y="3265713"/>
            <a:ext cx="6014703" cy="3496393"/>
          </a:xfrm>
          <a:prstGeom prst="rect">
            <a:avLst/>
          </a:prstGeom>
        </p:spPr>
      </p:pic>
      <p:pic>
        <p:nvPicPr>
          <p:cNvPr id="4" name="圖片 3">
            <a:extLst>
              <a:ext uri="{FF2B5EF4-FFF2-40B4-BE49-F238E27FC236}">
                <a16:creationId xmlns:a16="http://schemas.microsoft.com/office/drawing/2014/main" id="{1BB4659E-F9C9-4469-B08D-19FEF95B4DC3}"/>
              </a:ext>
            </a:extLst>
          </p:cNvPr>
          <p:cNvPicPr>
            <a:picLocks noChangeAspect="1"/>
          </p:cNvPicPr>
          <p:nvPr/>
        </p:nvPicPr>
        <p:blipFill rotWithShape="1">
          <a:blip r:embed="rId3">
            <a:extLst>
              <a:ext uri="{28A0092B-C50C-407E-A947-70E740481C1C}">
                <a14:useLocalDpi xmlns:a14="http://schemas.microsoft.com/office/drawing/2010/main" val="0"/>
              </a:ext>
            </a:extLst>
          </a:blip>
          <a:srcRect l="10178" r="8516"/>
          <a:stretch/>
        </p:blipFill>
        <p:spPr>
          <a:xfrm>
            <a:off x="6053892" y="3265714"/>
            <a:ext cx="6138108" cy="3592286"/>
          </a:xfrm>
          <a:prstGeom prst="rect">
            <a:avLst/>
          </a:prstGeom>
        </p:spPr>
      </p:pic>
      <p:pic>
        <p:nvPicPr>
          <p:cNvPr id="5" name="圖片 4">
            <a:extLst>
              <a:ext uri="{FF2B5EF4-FFF2-40B4-BE49-F238E27FC236}">
                <a16:creationId xmlns:a16="http://schemas.microsoft.com/office/drawing/2014/main" id="{BD06E769-485D-49A5-94EE-C889A6269DC1}"/>
              </a:ext>
            </a:extLst>
          </p:cNvPr>
          <p:cNvPicPr>
            <a:picLocks noChangeAspect="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10226" r="3082"/>
          <a:stretch/>
        </p:blipFill>
        <p:spPr>
          <a:xfrm>
            <a:off x="6014703" y="3265713"/>
            <a:ext cx="6165510" cy="3592286"/>
          </a:xfrm>
          <a:prstGeom prst="rect">
            <a:avLst/>
          </a:prstGeom>
        </p:spPr>
      </p:pic>
    </p:spTree>
    <p:extLst>
      <p:ext uri="{BB962C8B-B14F-4D97-AF65-F5344CB8AC3E}">
        <p14:creationId xmlns:p14="http://schemas.microsoft.com/office/powerpoint/2010/main" val="1403080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D225493D-6E9E-4DB5-8812-1C863895C8A3}"/>
              </a:ext>
            </a:extLst>
          </p:cNvPr>
          <p:cNvPicPr>
            <a:picLocks noChangeAspect="1"/>
          </p:cNvPicPr>
          <p:nvPr/>
        </p:nvPicPr>
        <p:blipFill rotWithShape="1">
          <a:blip r:embed="rId2">
            <a:extLst>
              <a:ext uri="{28A0092B-C50C-407E-A947-70E740481C1C}">
                <a14:useLocalDpi xmlns:a14="http://schemas.microsoft.com/office/drawing/2010/main" val="0"/>
              </a:ext>
            </a:extLst>
          </a:blip>
          <a:srcRect l="9750" t="3670" r="8501" b="4188"/>
          <a:stretch/>
        </p:blipFill>
        <p:spPr>
          <a:xfrm>
            <a:off x="5603291" y="0"/>
            <a:ext cx="6522721" cy="3498297"/>
          </a:xfrm>
          <a:prstGeom prst="rect">
            <a:avLst/>
          </a:prstGeom>
        </p:spPr>
      </p:pic>
      <p:grpSp>
        <p:nvGrpSpPr>
          <p:cNvPr id="8" name="群組 7">
            <a:extLst>
              <a:ext uri="{FF2B5EF4-FFF2-40B4-BE49-F238E27FC236}">
                <a16:creationId xmlns:a16="http://schemas.microsoft.com/office/drawing/2014/main" id="{38E78363-B64F-4391-B2A7-DDC289C16797}"/>
              </a:ext>
            </a:extLst>
          </p:cNvPr>
          <p:cNvGrpSpPr/>
          <p:nvPr/>
        </p:nvGrpSpPr>
        <p:grpSpPr>
          <a:xfrm>
            <a:off x="5603291" y="3498297"/>
            <a:ext cx="6522719" cy="3278777"/>
            <a:chOff x="5882640" y="3566160"/>
            <a:chExt cx="6309360" cy="3161211"/>
          </a:xfrm>
        </p:grpSpPr>
        <p:pic>
          <p:nvPicPr>
            <p:cNvPr id="9" name="圖片 8">
              <a:extLst>
                <a:ext uri="{FF2B5EF4-FFF2-40B4-BE49-F238E27FC236}">
                  <a16:creationId xmlns:a16="http://schemas.microsoft.com/office/drawing/2014/main" id="{52C2986F-C483-4B24-94BC-29CBE7F38E67}"/>
                </a:ext>
              </a:extLst>
            </p:cNvPr>
            <p:cNvPicPr>
              <a:picLocks noChangeAspect="1"/>
            </p:cNvPicPr>
            <p:nvPr/>
          </p:nvPicPr>
          <p:blipFill rotWithShape="1">
            <a:blip r:embed="rId3">
              <a:extLst>
                <a:ext uri="{28A0092B-C50C-407E-A947-70E740481C1C}">
                  <a14:useLocalDpi xmlns:a14="http://schemas.microsoft.com/office/drawing/2010/main" val="0"/>
                </a:ext>
              </a:extLst>
            </a:blip>
            <a:srcRect l="9321" t="3285" r="8929" b="3839"/>
            <a:stretch/>
          </p:blipFill>
          <p:spPr>
            <a:xfrm>
              <a:off x="5882640" y="3566160"/>
              <a:ext cx="6309360" cy="3161211"/>
            </a:xfrm>
            <a:prstGeom prst="rect">
              <a:avLst/>
            </a:prstGeom>
          </p:spPr>
        </p:pic>
        <p:pic>
          <p:nvPicPr>
            <p:cNvPr id="10" name="圖片 9">
              <a:extLst>
                <a:ext uri="{FF2B5EF4-FFF2-40B4-BE49-F238E27FC236}">
                  <a16:creationId xmlns:a16="http://schemas.microsoft.com/office/drawing/2014/main" id="{03B24683-5467-422C-9559-BB4E1305AAB4}"/>
                </a:ext>
              </a:extLst>
            </p:cNvPr>
            <p:cNvPicPr>
              <a:picLocks noChangeAspect="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11237" t="6205" r="8513" b="7781"/>
            <a:stretch/>
          </p:blipFill>
          <p:spPr>
            <a:xfrm>
              <a:off x="5981870" y="3665559"/>
              <a:ext cx="5846288" cy="2927582"/>
            </a:xfrm>
            <a:prstGeom prst="rect">
              <a:avLst/>
            </a:prstGeom>
          </p:spPr>
        </p:pic>
      </p:grpSp>
      <mc:AlternateContent xmlns:mc="http://schemas.openxmlformats.org/markup-compatibility/2006" xmlns:a14="http://schemas.microsoft.com/office/drawing/2010/main">
        <mc:Choice Requires="a14">
          <p:sp>
            <p:nvSpPr>
              <p:cNvPr id="11" name="內容版面配置區 2">
                <a:extLst>
                  <a:ext uri="{FF2B5EF4-FFF2-40B4-BE49-F238E27FC236}">
                    <a16:creationId xmlns:a16="http://schemas.microsoft.com/office/drawing/2014/main" id="{671102F3-FBBB-4439-960F-AE971CCBA5F1}"/>
                  </a:ext>
                </a:extLst>
              </p:cNvPr>
              <p:cNvSpPr>
                <a:spLocks noGrp="1"/>
              </p:cNvSpPr>
              <p:nvPr>
                <p:ph idx="1"/>
              </p:nvPr>
            </p:nvSpPr>
            <p:spPr>
              <a:xfrm>
                <a:off x="442135" y="756060"/>
                <a:ext cx="4462554" cy="4500154"/>
              </a:xfrm>
            </p:spPr>
            <p:txBody>
              <a:bodyPr>
                <a:normAutofit/>
              </a:bodyPr>
              <a:lstStyle/>
              <a:p>
                <a:r>
                  <a:rPr lang="zh-TW" altLang="en-US" dirty="0">
                    <a:latin typeface="源泉圓體 B" panose="020B0800000000000000" pitchFamily="34" charset="-120"/>
                    <a:ea typeface="源泉圓體 B" panose="020B0800000000000000" pitchFamily="34" charset="-120"/>
                  </a:rPr>
                  <a:t>求地轉風</a:t>
                </a:r>
                <a:endParaRPr lang="en-US" altLang="zh-TW" dirty="0">
                  <a:latin typeface="源泉圓體 B" panose="020B0800000000000000" pitchFamily="34" charset="-120"/>
                  <a:ea typeface="源泉圓體 B" panose="020B0800000000000000" pitchFamily="34" charset="-120"/>
                </a:endParaRPr>
              </a:p>
              <a:p>
                <a:r>
                  <a:rPr lang="zh-TW" altLang="en-US" dirty="0">
                    <a:latin typeface="源泉圓體 B" panose="020B0800000000000000" pitchFamily="34" charset="-120"/>
                    <a:ea typeface="源泉圓體 B" panose="020B0800000000000000" pitchFamily="34" charset="-120"/>
                  </a:rPr>
                  <a:t>已知重力位場</a:t>
                </a:r>
                <a:r>
                  <a:rPr lang="el-GR" altLang="zh-TW" dirty="0">
                    <a:latin typeface="源泉圓體 B" panose="020B0800000000000000" pitchFamily="34" charset="-120"/>
                    <a:ea typeface="源泉圓體 B" panose="020B0800000000000000" pitchFamily="34" charset="-120"/>
                  </a:rPr>
                  <a:t>Φ</a:t>
                </a:r>
                <a:endParaRPr lang="en-US" altLang="zh-TW" dirty="0">
                  <a:latin typeface="源泉圓體 B" panose="020B0800000000000000" pitchFamily="34" charset="-120"/>
                  <a:ea typeface="源泉圓體 B" panose="020B0800000000000000" pitchFamily="34" charset="-120"/>
                </a:endParaRPr>
              </a:p>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𝑔</m:t>
                        </m:r>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𝑓</m:t>
                        </m:r>
                      </m:den>
                    </m:f>
                    <m:f>
                      <m:fPr>
                        <m:ctrlPr>
                          <a:rPr lang="en-US" altLang="zh-TW" b="0" i="1" smtClean="0">
                            <a:latin typeface="Cambria Math" panose="02040503050406030204" pitchFamily="18" charset="0"/>
                          </a:rPr>
                        </m:ctrlPr>
                      </m:fPr>
                      <m:num>
                        <m:r>
                          <a:rPr lang="zh-TW" altLang="en-US" b="0" i="1" smtClean="0">
                            <a:latin typeface="Cambria Math" panose="02040503050406030204" pitchFamily="18" charset="0"/>
                          </a:rPr>
                          <m:t>𝜕</m:t>
                        </m:r>
                        <m:r>
                          <m:rPr>
                            <m:sty m:val="p"/>
                          </m:rPr>
                          <a:rPr lang="el-GR" altLang="zh-TW" b="0" i="1" smtClean="0">
                            <a:latin typeface="Cambria Math" panose="02040503050406030204" pitchFamily="18" charset="0"/>
                            <a:ea typeface="Cambria Math" panose="02040503050406030204" pitchFamily="18" charset="0"/>
                          </a:rPr>
                          <m:t>Φ</m:t>
                        </m:r>
                      </m:num>
                      <m:den>
                        <m:r>
                          <a:rPr lang="zh-TW" altLang="en-US" b="0" i="1" smtClean="0">
                            <a:latin typeface="Cambria Math" panose="02040503050406030204" pitchFamily="18" charset="0"/>
                          </a:rPr>
                          <m:t>𝜕</m:t>
                        </m:r>
                        <m:r>
                          <a:rPr lang="en-US" altLang="zh-TW" b="0" i="1" smtClean="0">
                            <a:latin typeface="Cambria Math" panose="02040503050406030204" pitchFamily="18" charset="0"/>
                          </a:rPr>
                          <m:t>𝑦</m:t>
                        </m:r>
                      </m:den>
                    </m:f>
                  </m:oMath>
                </a14:m>
                <a:endParaRPr lang="en-US" altLang="zh-TW" dirty="0">
                  <a:latin typeface="源泉圓體 B" panose="020B0800000000000000" pitchFamily="34" charset="-120"/>
                  <a:ea typeface="源泉圓體 B" panose="020B0800000000000000" pitchFamily="34" charset="-120"/>
                </a:endParaRPr>
              </a:p>
              <a:p>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i="1">
                            <a:latin typeface="Cambria Math" panose="02040503050406030204" pitchFamily="18" charset="0"/>
                          </a:rPr>
                          <m:t>𝑔</m:t>
                        </m:r>
                      </m:sub>
                    </m:sSub>
                    <m:r>
                      <a:rPr lang="en-US" altLang="zh-TW" i="1">
                        <a:latin typeface="Cambria Math" panose="02040503050406030204" pitchFamily="18" charset="0"/>
                      </a:rPr>
                      <m:t>=</m:t>
                    </m:r>
                    <m:f>
                      <m:fPr>
                        <m:ctrlPr>
                          <a:rPr lang="en-US" altLang="zh-TW" i="1">
                            <a:latin typeface="Cambria Math" panose="02040503050406030204" pitchFamily="18" charset="0"/>
                          </a:rPr>
                        </m:ctrlPr>
                      </m:fPr>
                      <m:num>
                        <m:r>
                          <a:rPr lang="en-US" altLang="zh-TW" i="1">
                            <a:latin typeface="Cambria Math" panose="02040503050406030204" pitchFamily="18" charset="0"/>
                          </a:rPr>
                          <m:t>1</m:t>
                        </m:r>
                      </m:num>
                      <m:den>
                        <m:r>
                          <a:rPr lang="en-US" altLang="zh-TW" i="1">
                            <a:latin typeface="Cambria Math" panose="02040503050406030204" pitchFamily="18" charset="0"/>
                          </a:rPr>
                          <m:t>𝑓</m:t>
                        </m:r>
                      </m:den>
                    </m:f>
                    <m:f>
                      <m:fPr>
                        <m:ctrlPr>
                          <a:rPr lang="en-US" altLang="zh-TW" i="1">
                            <a:latin typeface="Cambria Math" panose="02040503050406030204" pitchFamily="18" charset="0"/>
                          </a:rPr>
                        </m:ctrlPr>
                      </m:fPr>
                      <m:num>
                        <m:r>
                          <a:rPr lang="zh-TW" altLang="en-US" i="1">
                            <a:latin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Φ</m:t>
                        </m:r>
                      </m:num>
                      <m:den>
                        <m:r>
                          <a:rPr lang="zh-TW" altLang="en-US" i="1">
                            <a:latin typeface="Cambria Math" panose="02040503050406030204" pitchFamily="18" charset="0"/>
                          </a:rPr>
                          <m:t>𝜕</m:t>
                        </m:r>
                        <m:r>
                          <a:rPr lang="en-US" altLang="zh-TW" b="0" i="1" smtClean="0">
                            <a:latin typeface="Cambria Math" panose="02040503050406030204" pitchFamily="18" charset="0"/>
                          </a:rPr>
                          <m:t>𝑥</m:t>
                        </m:r>
                      </m:den>
                    </m:f>
                  </m:oMath>
                </a14:m>
                <a:endParaRPr lang="en-US" altLang="zh-TW" dirty="0">
                  <a:latin typeface="源泉圓體 B" panose="020B0800000000000000" pitchFamily="34" charset="-120"/>
                  <a:ea typeface="源泉圓體 B" panose="020B0800000000000000" pitchFamily="34" charset="-120"/>
                </a:endParaRPr>
              </a:p>
              <a:p>
                <a:r>
                  <a:rPr lang="zh-TW" altLang="en-US" dirty="0">
                    <a:latin typeface="源泉圓體 B" panose="020B0800000000000000" pitchFamily="34" charset="-120"/>
                    <a:ea typeface="源泉圓體 B" panose="020B0800000000000000" pitchFamily="34" charset="-120"/>
                  </a:rPr>
                  <a:t>注意本題中</a:t>
                </a:r>
                <a:r>
                  <a:rPr lang="zh-TW" altLang="en-US" b="1" dirty="0">
                    <a:solidFill>
                      <a:srgbClr val="FF0000"/>
                    </a:solidFill>
                    <a:latin typeface="源泉圓體 B" panose="020B0800000000000000" pitchFamily="34" charset="-120"/>
                    <a:ea typeface="源泉圓體 B" panose="020B0800000000000000" pitchFamily="34" charset="-120"/>
                  </a:rPr>
                  <a:t>科氏參數和</a:t>
                </a:r>
                <a:r>
                  <a:rPr lang="en-US" altLang="zh-TW" b="1" dirty="0">
                    <a:solidFill>
                      <a:srgbClr val="FF0000"/>
                    </a:solidFill>
                    <a:latin typeface="源泉圓體 B" panose="020B0800000000000000" pitchFamily="34" charset="-120"/>
                    <a:ea typeface="源泉圓體 B" panose="020B0800000000000000" pitchFamily="34" charset="-120"/>
                  </a:rPr>
                  <a:t>dx</a:t>
                </a:r>
                <a:r>
                  <a:rPr lang="zh-TW" altLang="en-US" b="1" dirty="0">
                    <a:solidFill>
                      <a:srgbClr val="FF0000"/>
                    </a:solidFill>
                    <a:latin typeface="源泉圓體 B" panose="020B0800000000000000" pitchFamily="34" charset="-120"/>
                    <a:ea typeface="源泉圓體 B" panose="020B0800000000000000" pitchFamily="34" charset="-120"/>
                  </a:rPr>
                  <a:t>是</a:t>
                </a:r>
                <a:r>
                  <a:rPr lang="en-US" altLang="zh-TW" b="1" dirty="0">
                    <a:solidFill>
                      <a:srgbClr val="FF0000"/>
                    </a:solidFill>
                    <a:latin typeface="源泉圓體 B" panose="020B0800000000000000" pitchFamily="34" charset="-120"/>
                    <a:ea typeface="源泉圓體 B" panose="020B0800000000000000" pitchFamily="34" charset="-120"/>
                  </a:rPr>
                  <a:t>y</a:t>
                </a:r>
                <a:r>
                  <a:rPr lang="zh-TW" altLang="en-US" b="1" dirty="0">
                    <a:solidFill>
                      <a:srgbClr val="FF0000"/>
                    </a:solidFill>
                    <a:latin typeface="源泉圓體 B" panose="020B0800000000000000" pitchFamily="34" charset="-120"/>
                    <a:ea typeface="源泉圓體 B" panose="020B0800000000000000" pitchFamily="34" charset="-120"/>
                  </a:rPr>
                  <a:t>的函數</a:t>
                </a:r>
              </a:p>
            </p:txBody>
          </p:sp>
        </mc:Choice>
        <mc:Fallback xmlns="">
          <p:sp>
            <p:nvSpPr>
              <p:cNvPr id="11" name="內容版面配置區 2">
                <a:extLst>
                  <a:ext uri="{FF2B5EF4-FFF2-40B4-BE49-F238E27FC236}">
                    <a16:creationId xmlns:a16="http://schemas.microsoft.com/office/drawing/2014/main" id="{671102F3-FBBB-4439-960F-AE971CCBA5F1}"/>
                  </a:ext>
                </a:extLst>
              </p:cNvPr>
              <p:cNvSpPr>
                <a:spLocks noGrp="1" noRot="1" noChangeAspect="1" noMove="1" noResize="1" noEditPoints="1" noAdjustHandles="1" noChangeArrowheads="1" noChangeShapeType="1" noTextEdit="1"/>
              </p:cNvSpPr>
              <p:nvPr>
                <p:ph idx="1"/>
              </p:nvPr>
            </p:nvSpPr>
            <p:spPr>
              <a:xfrm>
                <a:off x="442135" y="756060"/>
                <a:ext cx="4462554" cy="4500154"/>
              </a:xfrm>
              <a:blipFill>
                <a:blip r:embed="rId5"/>
                <a:stretch>
                  <a:fillRect l="-2459" t="-2304" r="-82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42990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群組 11">
            <a:extLst>
              <a:ext uri="{FF2B5EF4-FFF2-40B4-BE49-F238E27FC236}">
                <a16:creationId xmlns:a16="http://schemas.microsoft.com/office/drawing/2014/main" id="{A9978300-981C-4F51-9C55-D93ED9F511A5}"/>
              </a:ext>
            </a:extLst>
          </p:cNvPr>
          <p:cNvGrpSpPr/>
          <p:nvPr/>
        </p:nvGrpSpPr>
        <p:grpSpPr>
          <a:xfrm>
            <a:off x="5033914" y="2896340"/>
            <a:ext cx="7158086" cy="3961888"/>
            <a:chOff x="2983832" y="685800"/>
            <a:chExt cx="9208168" cy="5096577"/>
          </a:xfrm>
        </p:grpSpPr>
        <p:pic>
          <p:nvPicPr>
            <p:cNvPr id="13" name="圖片 12">
              <a:extLst>
                <a:ext uri="{FF2B5EF4-FFF2-40B4-BE49-F238E27FC236}">
                  <a16:creationId xmlns:a16="http://schemas.microsoft.com/office/drawing/2014/main" id="{48B8F738-1D09-4011-8EB1-0856ED65B66E}"/>
                </a:ext>
              </a:extLst>
            </p:cNvPr>
            <p:cNvPicPr>
              <a:picLocks noChangeAspect="1"/>
            </p:cNvPicPr>
            <p:nvPr/>
          </p:nvPicPr>
          <p:blipFill rotWithShape="1">
            <a:blip r:embed="rId2">
              <a:extLst>
                <a:ext uri="{28A0092B-C50C-407E-A947-70E740481C1C}">
                  <a14:useLocalDpi xmlns:a14="http://schemas.microsoft.com/office/drawing/2010/main" val="0"/>
                </a:ext>
              </a:extLst>
            </a:blip>
            <a:srcRect l="7500" r="9892"/>
            <a:stretch/>
          </p:blipFill>
          <p:spPr>
            <a:xfrm>
              <a:off x="2983832" y="685800"/>
              <a:ext cx="9143566" cy="5096577"/>
            </a:xfrm>
            <a:prstGeom prst="rect">
              <a:avLst/>
            </a:prstGeom>
          </p:spPr>
        </p:pic>
        <p:pic>
          <p:nvPicPr>
            <p:cNvPr id="14" name="圖片 13">
              <a:extLst>
                <a:ext uri="{FF2B5EF4-FFF2-40B4-BE49-F238E27FC236}">
                  <a16:creationId xmlns:a16="http://schemas.microsoft.com/office/drawing/2014/main" id="{75848A52-801A-4399-B089-7622CC0C4E50}"/>
                </a:ext>
              </a:extLst>
            </p:cNvPr>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9738" t="3752" r="3770" b="4997"/>
            <a:stretch/>
          </p:blipFill>
          <p:spPr>
            <a:xfrm>
              <a:off x="3169525" y="877040"/>
              <a:ext cx="9022475" cy="4650678"/>
            </a:xfrm>
            <a:prstGeom prst="rect">
              <a:avLst/>
            </a:prstGeom>
          </p:spPr>
        </p:pic>
      </p:grpSp>
      <mc:AlternateContent xmlns:mc="http://schemas.openxmlformats.org/markup-compatibility/2006" xmlns:a14="http://schemas.microsoft.com/office/drawing/2010/main">
        <mc:Choice Requires="a14">
          <p:sp>
            <p:nvSpPr>
              <p:cNvPr id="6" name="內容版面配置區 2">
                <a:extLst>
                  <a:ext uri="{FF2B5EF4-FFF2-40B4-BE49-F238E27FC236}">
                    <a16:creationId xmlns:a16="http://schemas.microsoft.com/office/drawing/2014/main" id="{BCE477F3-5C9B-40E6-9DC9-D4F7DA3B39E1}"/>
                  </a:ext>
                </a:extLst>
              </p:cNvPr>
              <p:cNvSpPr>
                <a:spLocks noGrp="1"/>
              </p:cNvSpPr>
              <p:nvPr>
                <p:ph idx="1"/>
              </p:nvPr>
            </p:nvSpPr>
            <p:spPr>
              <a:xfrm>
                <a:off x="463118" y="680399"/>
                <a:ext cx="8534400" cy="3615267"/>
              </a:xfrm>
            </p:spPr>
            <p:txBody>
              <a:bodyPr/>
              <a:lstStyle/>
              <a:p>
                <a:r>
                  <a:rPr lang="zh-TW" altLang="en-US" dirty="0">
                    <a:latin typeface="源泉圓體 B" panose="020B0800000000000000" pitchFamily="34" charset="-120"/>
                    <a:ea typeface="源泉圓體 B" panose="020B0800000000000000" pitchFamily="34" charset="-120"/>
                  </a:rPr>
                  <a:t>求渦度</a:t>
                </a:r>
                <a:endParaRPr lang="en-US" altLang="zh-TW" dirty="0">
                  <a:latin typeface="源泉圓體 B" panose="020B0800000000000000" pitchFamily="34" charset="-120"/>
                  <a:ea typeface="源泉圓體 B" panose="020B0800000000000000" pitchFamily="34" charset="-120"/>
                </a:endParaRPr>
              </a:p>
              <a:p>
                <a:r>
                  <a:rPr lang="zh-TW" altLang="en-US" dirty="0">
                    <a:latin typeface="源泉圓體 B" panose="020B0800000000000000" pitchFamily="34" charset="-120"/>
                    <a:ea typeface="源泉圓體 B" panose="020B0800000000000000" pitchFamily="34" charset="-120"/>
                  </a:rPr>
                  <a:t>已知實際風</a:t>
                </a:r>
                <a:r>
                  <a:rPr lang="en-US" altLang="zh-TW" dirty="0">
                    <a:latin typeface="源泉圓體 B" panose="020B0800000000000000" pitchFamily="34" charset="-120"/>
                    <a:ea typeface="源泉圓體 B" panose="020B0800000000000000" pitchFamily="34" charset="-120"/>
                  </a:rPr>
                  <a:t>u, v</a:t>
                </a:r>
              </a:p>
              <a:p>
                <a14:m>
                  <m:oMath xmlns:m="http://schemas.openxmlformats.org/officeDocument/2006/math">
                    <m:r>
                      <a:rPr lang="zh-TW" altLang="en-US" i="1" smtClean="0">
                        <a:latin typeface="Cambria Math" panose="02040503050406030204" pitchFamily="18" charset="0"/>
                      </a:rPr>
                      <m:t>𝜁</m:t>
                    </m:r>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zh-TW" altLang="en-US" b="0" i="1" smtClean="0">
                            <a:latin typeface="Cambria Math" panose="02040503050406030204" pitchFamily="18" charset="0"/>
                          </a:rPr>
                          <m:t>𝜕</m:t>
                        </m:r>
                        <m:r>
                          <a:rPr lang="en-US" altLang="zh-TW" b="0" i="1" smtClean="0">
                            <a:latin typeface="Cambria Math" panose="02040503050406030204" pitchFamily="18" charset="0"/>
                          </a:rPr>
                          <m:t>𝑣</m:t>
                        </m:r>
                      </m:num>
                      <m:den>
                        <m:r>
                          <a:rPr lang="zh-TW" altLang="en-US" b="0" i="1" smtClean="0">
                            <a:latin typeface="Cambria Math" panose="02040503050406030204" pitchFamily="18" charset="0"/>
                          </a:rPr>
                          <m:t>𝜕</m:t>
                        </m:r>
                        <m:r>
                          <a:rPr lang="en-US" altLang="zh-TW" b="0" i="1" smtClean="0">
                            <a:latin typeface="Cambria Math" panose="02040503050406030204" pitchFamily="18" charset="0"/>
                          </a:rPr>
                          <m:t>𝑥</m:t>
                        </m:r>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r>
                          <a:rPr lang="zh-TW" altLang="en-US" i="1">
                            <a:latin typeface="Cambria Math" panose="02040503050406030204" pitchFamily="18" charset="0"/>
                          </a:rPr>
                          <m:t>𝜕</m:t>
                        </m:r>
                        <m:r>
                          <a:rPr lang="en-US" altLang="zh-TW" b="0" i="1" smtClean="0">
                            <a:latin typeface="Cambria Math" panose="02040503050406030204" pitchFamily="18" charset="0"/>
                          </a:rPr>
                          <m:t>𝑢</m:t>
                        </m:r>
                      </m:num>
                      <m:den>
                        <m:r>
                          <a:rPr lang="zh-TW" altLang="en-US" i="1">
                            <a:latin typeface="Cambria Math" panose="02040503050406030204" pitchFamily="18" charset="0"/>
                          </a:rPr>
                          <m:t>𝜕</m:t>
                        </m:r>
                        <m:r>
                          <a:rPr lang="en-US" altLang="zh-TW" b="0" i="1" smtClean="0">
                            <a:latin typeface="Cambria Math" panose="02040503050406030204" pitchFamily="18" charset="0"/>
                          </a:rPr>
                          <m:t>𝑦</m:t>
                        </m:r>
                      </m:den>
                    </m:f>
                  </m:oMath>
                </a14:m>
                <a:endParaRPr lang="en-US" altLang="zh-TW" dirty="0">
                  <a:latin typeface="源泉圓體 B" panose="020B0800000000000000" pitchFamily="34" charset="-120"/>
                  <a:ea typeface="源泉圓體 B" panose="020B0800000000000000" pitchFamily="34" charset="-120"/>
                </a:endParaRPr>
              </a:p>
              <a:p>
                <a:endParaRPr lang="zh-TW" altLang="en-US" dirty="0"/>
              </a:p>
            </p:txBody>
          </p:sp>
        </mc:Choice>
        <mc:Fallback xmlns="">
          <p:sp>
            <p:nvSpPr>
              <p:cNvPr id="6" name="內容版面配置區 2">
                <a:extLst>
                  <a:ext uri="{FF2B5EF4-FFF2-40B4-BE49-F238E27FC236}">
                    <a16:creationId xmlns:a16="http://schemas.microsoft.com/office/drawing/2014/main" id="{BCE477F3-5C9B-40E6-9DC9-D4F7DA3B39E1}"/>
                  </a:ext>
                </a:extLst>
              </p:cNvPr>
              <p:cNvSpPr>
                <a:spLocks noGrp="1" noRot="1" noChangeAspect="1" noMove="1" noResize="1" noEditPoints="1" noAdjustHandles="1" noChangeArrowheads="1" noChangeShapeType="1" noTextEdit="1"/>
              </p:cNvSpPr>
              <p:nvPr>
                <p:ph idx="1"/>
              </p:nvPr>
            </p:nvSpPr>
            <p:spPr>
              <a:xfrm>
                <a:off x="463118" y="680399"/>
                <a:ext cx="8534400" cy="3615267"/>
              </a:xfrm>
              <a:blipFill>
                <a:blip r:embed="rId4"/>
                <a:stretch>
                  <a:fillRect l="-1286" t="-303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49208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群組 2">
            <a:extLst>
              <a:ext uri="{FF2B5EF4-FFF2-40B4-BE49-F238E27FC236}">
                <a16:creationId xmlns:a16="http://schemas.microsoft.com/office/drawing/2014/main" id="{99E2E0DD-A187-453A-8DBF-AD8B175B78FD}"/>
              </a:ext>
            </a:extLst>
          </p:cNvPr>
          <p:cNvGrpSpPr/>
          <p:nvPr/>
        </p:nvGrpSpPr>
        <p:grpSpPr>
          <a:xfrm>
            <a:off x="4845377" y="2226972"/>
            <a:ext cx="7219431" cy="4631028"/>
            <a:chOff x="4873785" y="1541597"/>
            <a:chExt cx="6486259" cy="3746143"/>
          </a:xfrm>
        </p:grpSpPr>
        <p:pic>
          <p:nvPicPr>
            <p:cNvPr id="4" name="圖片 3">
              <a:extLst>
                <a:ext uri="{FF2B5EF4-FFF2-40B4-BE49-F238E27FC236}">
                  <a16:creationId xmlns:a16="http://schemas.microsoft.com/office/drawing/2014/main" id="{EAC56520-13FA-43A6-9A4D-25B185538DE5}"/>
                </a:ext>
              </a:extLst>
            </p:cNvPr>
            <p:cNvPicPr>
              <a:picLocks noChangeAspect="1"/>
            </p:cNvPicPr>
            <p:nvPr/>
          </p:nvPicPr>
          <p:blipFill rotWithShape="1">
            <a:blip r:embed="rId2">
              <a:extLst>
                <a:ext uri="{28A0092B-C50C-407E-A947-70E740481C1C}">
                  <a14:useLocalDpi xmlns:a14="http://schemas.microsoft.com/office/drawing/2010/main" val="0"/>
                </a:ext>
              </a:extLst>
            </a:blip>
            <a:srcRect l="8528" r="9082"/>
            <a:stretch/>
          </p:blipFill>
          <p:spPr>
            <a:xfrm>
              <a:off x="4873785" y="1541597"/>
              <a:ext cx="6486259" cy="3746143"/>
            </a:xfrm>
            <a:prstGeom prst="rect">
              <a:avLst/>
            </a:prstGeom>
          </p:spPr>
        </p:pic>
        <p:pic>
          <p:nvPicPr>
            <p:cNvPr id="5" name="圖片 4">
              <a:extLst>
                <a:ext uri="{FF2B5EF4-FFF2-40B4-BE49-F238E27FC236}">
                  <a16:creationId xmlns:a16="http://schemas.microsoft.com/office/drawing/2014/main" id="{6B011414-D063-42A6-8C41-172431E775CF}"/>
                </a:ext>
              </a:extLst>
            </p:cNvPr>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9738" t="3752" r="3770" b="4997"/>
            <a:stretch/>
          </p:blipFill>
          <p:spPr>
            <a:xfrm>
              <a:off x="4927409" y="1674050"/>
              <a:ext cx="6418135" cy="3429074"/>
            </a:xfrm>
            <a:prstGeom prst="rect">
              <a:avLst/>
            </a:prstGeom>
          </p:spPr>
        </p:pic>
      </p:grpSp>
      <mc:AlternateContent xmlns:mc="http://schemas.openxmlformats.org/markup-compatibility/2006" xmlns:a14="http://schemas.microsoft.com/office/drawing/2010/main">
        <mc:Choice Requires="a14">
          <p:sp>
            <p:nvSpPr>
              <p:cNvPr id="6" name="內容版面配置區 2">
                <a:extLst>
                  <a:ext uri="{FF2B5EF4-FFF2-40B4-BE49-F238E27FC236}">
                    <a16:creationId xmlns:a16="http://schemas.microsoft.com/office/drawing/2014/main" id="{0D58EACF-52EC-43E7-94DE-052C0F292D5C}"/>
                  </a:ext>
                </a:extLst>
              </p:cNvPr>
              <p:cNvSpPr>
                <a:spLocks noGrp="1"/>
              </p:cNvSpPr>
              <p:nvPr>
                <p:ph idx="1"/>
              </p:nvPr>
            </p:nvSpPr>
            <p:spPr>
              <a:xfrm>
                <a:off x="578177" y="501209"/>
                <a:ext cx="8534400" cy="3615267"/>
              </a:xfrm>
            </p:spPr>
            <p:txBody>
              <a:bodyPr/>
              <a:lstStyle/>
              <a:p>
                <a:r>
                  <a:rPr lang="zh-TW" altLang="en-US" dirty="0">
                    <a:latin typeface="源泉圓體 B" panose="020B0800000000000000" pitchFamily="34" charset="-120"/>
                    <a:ea typeface="源泉圓體 B" panose="020B0800000000000000" pitchFamily="34" charset="-120"/>
                  </a:rPr>
                  <a:t>求地轉渦度</a:t>
                </a:r>
                <a:endParaRPr lang="en-US" altLang="zh-TW" dirty="0">
                  <a:latin typeface="源泉圓體 B" panose="020B0800000000000000" pitchFamily="34" charset="-120"/>
                  <a:ea typeface="源泉圓體 B" panose="020B0800000000000000" pitchFamily="34" charset="-120"/>
                </a:endParaRPr>
              </a:p>
              <a:p>
                <a:r>
                  <a:rPr lang="zh-TW" altLang="en-US" dirty="0">
                    <a:latin typeface="源泉圓體 B" panose="020B0800000000000000" pitchFamily="34" charset="-120"/>
                    <a:ea typeface="源泉圓體 B" panose="020B0800000000000000" pitchFamily="34" charset="-120"/>
                  </a:rPr>
                  <a:t>已知地轉風</a:t>
                </a:r>
                <a:r>
                  <a:rPr lang="en-US" altLang="zh-TW" dirty="0" err="1">
                    <a:latin typeface="源泉圓體 B" panose="020B0800000000000000" pitchFamily="34" charset="-120"/>
                    <a:ea typeface="源泉圓體 B" panose="020B0800000000000000" pitchFamily="34" charset="-120"/>
                  </a:rPr>
                  <a:t>ug</a:t>
                </a:r>
                <a:r>
                  <a:rPr lang="en-US" altLang="zh-TW" dirty="0">
                    <a:latin typeface="源泉圓體 B" panose="020B0800000000000000" pitchFamily="34" charset="-120"/>
                    <a:ea typeface="源泉圓體 B" panose="020B0800000000000000" pitchFamily="34" charset="-120"/>
                  </a:rPr>
                  <a:t>, vg</a:t>
                </a:r>
              </a:p>
              <a:p>
                <a14:m>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𝜁</m:t>
                        </m:r>
                      </m:e>
                      <m:sub>
                        <m:r>
                          <a:rPr lang="en-US" altLang="zh-TW" b="0" i="1" smtClean="0">
                            <a:latin typeface="Cambria Math" panose="02040503050406030204" pitchFamily="18" charset="0"/>
                          </a:rPr>
                          <m:t>𝑔</m:t>
                        </m:r>
                      </m:sub>
                    </m:sSub>
                    <m:r>
                      <a:rPr lang="en-US" altLang="zh-TW" i="1">
                        <a:latin typeface="Cambria Math" panose="02040503050406030204" pitchFamily="18" charset="0"/>
                      </a:rPr>
                      <m:t>=</m:t>
                    </m:r>
                    <m:f>
                      <m:fPr>
                        <m:ctrlPr>
                          <a:rPr lang="en-US" altLang="zh-TW" i="1">
                            <a:latin typeface="Cambria Math" panose="02040503050406030204" pitchFamily="18" charset="0"/>
                          </a:rPr>
                        </m:ctrlPr>
                      </m:fPr>
                      <m:num>
                        <m:r>
                          <a:rPr lang="zh-TW" altLang="en-US" i="1">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𝑔</m:t>
                            </m:r>
                          </m:sub>
                        </m:sSub>
                      </m:num>
                      <m:den>
                        <m:r>
                          <a:rPr lang="zh-TW" altLang="en-US" i="1">
                            <a:latin typeface="Cambria Math" panose="02040503050406030204" pitchFamily="18" charset="0"/>
                          </a:rPr>
                          <m:t>𝜕</m:t>
                        </m:r>
                        <m:r>
                          <a:rPr lang="en-US" altLang="zh-TW" i="1">
                            <a:latin typeface="Cambria Math" panose="02040503050406030204" pitchFamily="18" charset="0"/>
                          </a:rPr>
                          <m:t>𝑥</m:t>
                        </m:r>
                      </m:den>
                    </m:f>
                    <m:r>
                      <a:rPr lang="en-US" altLang="zh-TW" i="1">
                        <a:latin typeface="Cambria Math" panose="02040503050406030204" pitchFamily="18" charset="0"/>
                      </a:rPr>
                      <m:t>−</m:t>
                    </m:r>
                    <m:f>
                      <m:fPr>
                        <m:ctrlPr>
                          <a:rPr lang="en-US" altLang="zh-TW" i="1">
                            <a:latin typeface="Cambria Math" panose="02040503050406030204" pitchFamily="18" charset="0"/>
                          </a:rPr>
                        </m:ctrlPr>
                      </m:fPr>
                      <m:num>
                        <m:r>
                          <a:rPr lang="zh-TW" altLang="en-US" i="1">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𝑔</m:t>
                            </m:r>
                          </m:sub>
                        </m:sSub>
                      </m:num>
                      <m:den>
                        <m:r>
                          <a:rPr lang="zh-TW" altLang="en-US" i="1">
                            <a:latin typeface="Cambria Math" panose="02040503050406030204" pitchFamily="18" charset="0"/>
                          </a:rPr>
                          <m:t>𝜕</m:t>
                        </m:r>
                        <m:r>
                          <a:rPr lang="en-US" altLang="zh-TW" i="1">
                            <a:latin typeface="Cambria Math" panose="02040503050406030204" pitchFamily="18" charset="0"/>
                          </a:rPr>
                          <m:t>𝑦</m:t>
                        </m:r>
                      </m:den>
                    </m:f>
                  </m:oMath>
                </a14:m>
                <a:endParaRPr lang="zh-TW" altLang="en-US" dirty="0">
                  <a:latin typeface="源泉圓體 B" panose="020B0800000000000000" pitchFamily="34" charset="-120"/>
                  <a:ea typeface="源泉圓體 B" panose="020B0800000000000000" pitchFamily="34" charset="-120"/>
                </a:endParaRPr>
              </a:p>
            </p:txBody>
          </p:sp>
        </mc:Choice>
        <mc:Fallback xmlns="">
          <p:sp>
            <p:nvSpPr>
              <p:cNvPr id="6" name="內容版面配置區 2">
                <a:extLst>
                  <a:ext uri="{FF2B5EF4-FFF2-40B4-BE49-F238E27FC236}">
                    <a16:creationId xmlns:a16="http://schemas.microsoft.com/office/drawing/2014/main" id="{0D58EACF-52EC-43E7-94DE-052C0F292D5C}"/>
                  </a:ext>
                </a:extLst>
              </p:cNvPr>
              <p:cNvSpPr>
                <a:spLocks noGrp="1" noRot="1" noChangeAspect="1" noMove="1" noResize="1" noEditPoints="1" noAdjustHandles="1" noChangeArrowheads="1" noChangeShapeType="1" noTextEdit="1"/>
              </p:cNvSpPr>
              <p:nvPr>
                <p:ph idx="1"/>
              </p:nvPr>
            </p:nvSpPr>
            <p:spPr>
              <a:xfrm>
                <a:off x="578177" y="501209"/>
                <a:ext cx="8534400" cy="3615267"/>
              </a:xfrm>
              <a:blipFill>
                <a:blip r:embed="rId4"/>
                <a:stretch>
                  <a:fillRect l="-1286" t="-286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24997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群組 6">
            <a:extLst>
              <a:ext uri="{FF2B5EF4-FFF2-40B4-BE49-F238E27FC236}">
                <a16:creationId xmlns:a16="http://schemas.microsoft.com/office/drawing/2014/main" id="{51B5948D-30F8-408F-A9CE-14002AD3D9DA}"/>
              </a:ext>
            </a:extLst>
          </p:cNvPr>
          <p:cNvGrpSpPr/>
          <p:nvPr/>
        </p:nvGrpSpPr>
        <p:grpSpPr>
          <a:xfrm>
            <a:off x="3780430" y="850767"/>
            <a:ext cx="8089085" cy="4589231"/>
            <a:chOff x="3780430" y="119247"/>
            <a:chExt cx="8089085" cy="4589231"/>
          </a:xfrm>
        </p:grpSpPr>
        <p:pic>
          <p:nvPicPr>
            <p:cNvPr id="8" name="圖片 7">
              <a:extLst>
                <a:ext uri="{FF2B5EF4-FFF2-40B4-BE49-F238E27FC236}">
                  <a16:creationId xmlns:a16="http://schemas.microsoft.com/office/drawing/2014/main" id="{8981803C-74CB-4D79-B0C1-5EFA0B4A3A9B}"/>
                </a:ext>
              </a:extLst>
            </p:cNvPr>
            <p:cNvPicPr>
              <a:picLocks noChangeAspect="1"/>
            </p:cNvPicPr>
            <p:nvPr/>
          </p:nvPicPr>
          <p:blipFill rotWithShape="1">
            <a:blip r:embed="rId2">
              <a:extLst>
                <a:ext uri="{28A0092B-C50C-407E-A947-70E740481C1C}">
                  <a14:useLocalDpi xmlns:a14="http://schemas.microsoft.com/office/drawing/2010/main" val="0"/>
                </a:ext>
              </a:extLst>
            </a:blip>
            <a:srcRect l="7413" r="8714"/>
            <a:stretch/>
          </p:blipFill>
          <p:spPr>
            <a:xfrm>
              <a:off x="3780430" y="119247"/>
              <a:ext cx="8089085" cy="4589231"/>
            </a:xfrm>
            <a:prstGeom prst="rect">
              <a:avLst/>
            </a:prstGeom>
          </p:spPr>
        </p:pic>
        <p:pic>
          <p:nvPicPr>
            <p:cNvPr id="9" name="圖片 8">
              <a:extLst>
                <a:ext uri="{FF2B5EF4-FFF2-40B4-BE49-F238E27FC236}">
                  <a16:creationId xmlns:a16="http://schemas.microsoft.com/office/drawing/2014/main" id="{BB9ED7D3-1103-45E4-9DA4-0BCFDE1F09D6}"/>
                </a:ext>
              </a:extLst>
            </p:cNvPr>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9738" t="3752" r="3770" b="4997"/>
            <a:stretch/>
          </p:blipFill>
          <p:spPr>
            <a:xfrm>
              <a:off x="3952569" y="294968"/>
              <a:ext cx="7860890" cy="4181168"/>
            </a:xfrm>
            <a:prstGeom prst="rect">
              <a:avLst/>
            </a:prstGeom>
          </p:spPr>
        </p:pic>
      </p:grpSp>
      <p:sp>
        <p:nvSpPr>
          <p:cNvPr id="10" name="內容版面配置區 2">
            <a:extLst>
              <a:ext uri="{FF2B5EF4-FFF2-40B4-BE49-F238E27FC236}">
                <a16:creationId xmlns:a16="http://schemas.microsoft.com/office/drawing/2014/main" id="{F2C6CDCB-40CD-41A5-B206-2997D9F66DEB}"/>
              </a:ext>
            </a:extLst>
          </p:cNvPr>
          <p:cNvSpPr>
            <a:spLocks noGrp="1"/>
          </p:cNvSpPr>
          <p:nvPr>
            <p:ph idx="1"/>
          </p:nvPr>
        </p:nvSpPr>
        <p:spPr>
          <a:xfrm>
            <a:off x="598143" y="491971"/>
            <a:ext cx="3096218" cy="3615267"/>
          </a:xfrm>
        </p:spPr>
        <p:txBody>
          <a:bodyPr/>
          <a:lstStyle/>
          <a:p>
            <a:r>
              <a:rPr lang="zh-TW" altLang="en-US" dirty="0">
                <a:latin typeface="源泉圓體 B" panose="020B0800000000000000" pitchFamily="34" charset="-120"/>
                <a:ea typeface="源泉圓體 B" panose="020B0800000000000000" pitchFamily="34" charset="-120"/>
              </a:rPr>
              <a:t>渦度 </a:t>
            </a:r>
            <a:r>
              <a:rPr lang="en-US" altLang="zh-TW" dirty="0">
                <a:latin typeface="源泉圓體 B" panose="020B0800000000000000" pitchFamily="34" charset="-120"/>
                <a:ea typeface="源泉圓體 B" panose="020B0800000000000000" pitchFamily="34" charset="-120"/>
              </a:rPr>
              <a:t>-</a:t>
            </a:r>
            <a:r>
              <a:rPr lang="zh-TW" altLang="en-US" dirty="0">
                <a:latin typeface="源泉圓體 B" panose="020B0800000000000000" pitchFamily="34" charset="-120"/>
                <a:ea typeface="源泉圓體 B" panose="020B0800000000000000" pitchFamily="34" charset="-120"/>
              </a:rPr>
              <a:t> 地轉渦度</a:t>
            </a:r>
          </a:p>
        </p:txBody>
      </p:sp>
    </p:spTree>
    <p:extLst>
      <p:ext uri="{BB962C8B-B14F-4D97-AF65-F5344CB8AC3E}">
        <p14:creationId xmlns:p14="http://schemas.microsoft.com/office/powerpoint/2010/main" val="2845231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群組 2">
            <a:extLst>
              <a:ext uri="{FF2B5EF4-FFF2-40B4-BE49-F238E27FC236}">
                <a16:creationId xmlns:a16="http://schemas.microsoft.com/office/drawing/2014/main" id="{2FF63422-54AE-40EB-A8FC-7283C05052FB}"/>
              </a:ext>
            </a:extLst>
          </p:cNvPr>
          <p:cNvGrpSpPr/>
          <p:nvPr/>
        </p:nvGrpSpPr>
        <p:grpSpPr>
          <a:xfrm>
            <a:off x="396829" y="1747233"/>
            <a:ext cx="7545387" cy="4287807"/>
            <a:chOff x="3780430" y="119247"/>
            <a:chExt cx="8089085" cy="4589231"/>
          </a:xfrm>
        </p:grpSpPr>
        <p:pic>
          <p:nvPicPr>
            <p:cNvPr id="4" name="圖片 3">
              <a:extLst>
                <a:ext uri="{FF2B5EF4-FFF2-40B4-BE49-F238E27FC236}">
                  <a16:creationId xmlns:a16="http://schemas.microsoft.com/office/drawing/2014/main" id="{F4B28856-EA5D-44EA-B163-50A476339C2A}"/>
                </a:ext>
              </a:extLst>
            </p:cNvPr>
            <p:cNvPicPr>
              <a:picLocks noChangeAspect="1"/>
            </p:cNvPicPr>
            <p:nvPr/>
          </p:nvPicPr>
          <p:blipFill rotWithShape="1">
            <a:blip r:embed="rId2">
              <a:extLst>
                <a:ext uri="{28A0092B-C50C-407E-A947-70E740481C1C}">
                  <a14:useLocalDpi xmlns:a14="http://schemas.microsoft.com/office/drawing/2010/main" val="0"/>
                </a:ext>
              </a:extLst>
            </a:blip>
            <a:srcRect l="7413" r="8714"/>
            <a:stretch/>
          </p:blipFill>
          <p:spPr>
            <a:xfrm>
              <a:off x="3780430" y="119247"/>
              <a:ext cx="8089085" cy="4589231"/>
            </a:xfrm>
            <a:prstGeom prst="rect">
              <a:avLst/>
            </a:prstGeom>
          </p:spPr>
        </p:pic>
        <p:pic>
          <p:nvPicPr>
            <p:cNvPr id="5" name="圖片 4">
              <a:extLst>
                <a:ext uri="{FF2B5EF4-FFF2-40B4-BE49-F238E27FC236}">
                  <a16:creationId xmlns:a16="http://schemas.microsoft.com/office/drawing/2014/main" id="{9B84B162-A5CC-4358-82BD-53DBD8315DE1}"/>
                </a:ext>
              </a:extLst>
            </p:cNvPr>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9738" t="3752" r="3770" b="4997"/>
            <a:stretch/>
          </p:blipFill>
          <p:spPr>
            <a:xfrm>
              <a:off x="3952569" y="294968"/>
              <a:ext cx="7860890" cy="4181168"/>
            </a:xfrm>
            <a:prstGeom prst="rect">
              <a:avLst/>
            </a:prstGeom>
          </p:spPr>
        </p:pic>
      </p:grpSp>
      <p:sp>
        <p:nvSpPr>
          <p:cNvPr id="7" name="內容版面配置區 2">
            <a:extLst>
              <a:ext uri="{FF2B5EF4-FFF2-40B4-BE49-F238E27FC236}">
                <a16:creationId xmlns:a16="http://schemas.microsoft.com/office/drawing/2014/main" id="{7544068D-8F81-4D31-B8BE-608A98A23E7A}"/>
              </a:ext>
            </a:extLst>
          </p:cNvPr>
          <p:cNvSpPr>
            <a:spLocks noGrp="1"/>
          </p:cNvSpPr>
          <p:nvPr>
            <p:ph idx="1"/>
          </p:nvPr>
        </p:nvSpPr>
        <p:spPr>
          <a:xfrm>
            <a:off x="476729" y="387956"/>
            <a:ext cx="8534400" cy="1887583"/>
          </a:xfrm>
        </p:spPr>
        <p:txBody>
          <a:bodyPr/>
          <a:lstStyle/>
          <a:p>
            <a:r>
              <a:rPr lang="zh-TW" altLang="en-US" dirty="0">
                <a:latin typeface="源泉圓體 B" panose="020B0800000000000000" pitchFamily="34" charset="-120"/>
                <a:ea typeface="源泉圓體 B" panose="020B0800000000000000" pitchFamily="34" charset="-120"/>
              </a:rPr>
              <a:t>為何槽底北側的渦度較地轉渦度小？</a:t>
            </a:r>
            <a:endParaRPr lang="en-US" altLang="zh-TW" dirty="0">
              <a:latin typeface="源泉圓體 B" panose="020B0800000000000000" pitchFamily="34" charset="-120"/>
              <a:ea typeface="源泉圓體 B" panose="020B0800000000000000" pitchFamily="34" charset="-120"/>
            </a:endParaRPr>
          </a:p>
          <a:p>
            <a:r>
              <a:rPr lang="zh-TW" altLang="en-US" dirty="0">
                <a:latin typeface="源泉圓體 B" panose="020B0800000000000000" pitchFamily="34" charset="-120"/>
                <a:ea typeface="源泉圓體 B" panose="020B0800000000000000" pitchFamily="34" charset="-120"/>
              </a:rPr>
              <a:t>為何槽底南側的渦度較地轉渦度大？</a:t>
            </a:r>
          </a:p>
        </p:txBody>
      </p:sp>
      <p:sp>
        <p:nvSpPr>
          <p:cNvPr id="8" name="文字方塊 7">
            <a:extLst>
              <a:ext uri="{FF2B5EF4-FFF2-40B4-BE49-F238E27FC236}">
                <a16:creationId xmlns:a16="http://schemas.microsoft.com/office/drawing/2014/main" id="{F065B786-2DCF-407B-9742-A2CC7155A5BD}"/>
              </a:ext>
            </a:extLst>
          </p:cNvPr>
          <p:cNvSpPr txBox="1"/>
          <p:nvPr/>
        </p:nvSpPr>
        <p:spPr>
          <a:xfrm>
            <a:off x="8385727" y="1974452"/>
            <a:ext cx="3248875" cy="1569660"/>
          </a:xfrm>
          <a:prstGeom prst="rect">
            <a:avLst/>
          </a:prstGeom>
          <a:noFill/>
        </p:spPr>
        <p:txBody>
          <a:bodyPr wrap="square" rtlCol="0">
            <a:spAutoFit/>
          </a:bodyPr>
          <a:lstStyle/>
          <a:p>
            <a:r>
              <a:rPr lang="zh-TW" altLang="en-US" sz="2400" b="1" dirty="0">
                <a:latin typeface="源泉圓體 B" panose="020B0800000000000000" pitchFamily="34" charset="-120"/>
                <a:ea typeface="源泉圓體 B" panose="020B0800000000000000" pitchFamily="34" charset="-120"/>
              </a:rPr>
              <a:t>離心力的加入導致準地轉不適用（力不平衡）</a:t>
            </a:r>
            <a:endParaRPr lang="en-US" altLang="zh-TW" sz="2400" b="1" dirty="0">
              <a:latin typeface="源泉圓體 B" panose="020B0800000000000000" pitchFamily="34" charset="-120"/>
              <a:ea typeface="源泉圓體 B" panose="020B0800000000000000" pitchFamily="34" charset="-120"/>
            </a:endParaRPr>
          </a:p>
          <a:p>
            <a:endParaRPr lang="en-US" altLang="zh-TW" sz="2400" b="1" dirty="0">
              <a:latin typeface="源泉圓體 B" panose="020B0800000000000000" pitchFamily="34" charset="-120"/>
              <a:ea typeface="源泉圓體 B" panose="020B0800000000000000" pitchFamily="34" charset="-120"/>
            </a:endParaRPr>
          </a:p>
          <a:p>
            <a:r>
              <a:rPr lang="en-US" altLang="zh-TW" sz="2400" b="1" dirty="0">
                <a:latin typeface="源泉圓體 B" panose="020B0800000000000000" pitchFamily="34" charset="-120"/>
                <a:ea typeface="源泉圓體 B" panose="020B0800000000000000" pitchFamily="34" charset="-120"/>
                <a:sym typeface="Wingdings" panose="05000000000000000000" pitchFamily="2" charset="2"/>
              </a:rPr>
              <a:t> </a:t>
            </a:r>
            <a:r>
              <a:rPr lang="zh-TW" altLang="en-US" sz="2400" b="1" dirty="0">
                <a:latin typeface="源泉圓體 B" panose="020B0800000000000000" pitchFamily="34" charset="-120"/>
                <a:ea typeface="源泉圓體 B" panose="020B0800000000000000" pitchFamily="34" charset="-120"/>
                <a:sym typeface="Wingdings" panose="05000000000000000000" pitchFamily="2" charset="2"/>
              </a:rPr>
              <a:t>氣流在槽底減速</a:t>
            </a:r>
            <a:endParaRPr lang="zh-TW" altLang="en-US" sz="2400" b="1" dirty="0">
              <a:latin typeface="源泉圓體 B" panose="020B0800000000000000" pitchFamily="34" charset="-120"/>
              <a:ea typeface="源泉圓體 B" panose="020B0800000000000000" pitchFamily="34" charset="-120"/>
            </a:endParaRPr>
          </a:p>
        </p:txBody>
      </p:sp>
    </p:spTree>
    <p:extLst>
      <p:ext uri="{BB962C8B-B14F-4D97-AF65-F5344CB8AC3E}">
        <p14:creationId xmlns:p14="http://schemas.microsoft.com/office/powerpoint/2010/main" val="1900133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64014AF9-ED8D-46A5-93C9-50CAC65C42C6}"/>
              </a:ext>
            </a:extLst>
          </p:cNvPr>
          <p:cNvSpPr txBox="1">
            <a:spLocks/>
          </p:cNvSpPr>
          <p:nvPr/>
        </p:nvSpPr>
        <p:spPr>
          <a:xfrm>
            <a:off x="1006875" y="9958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TW" altLang="en-US" sz="3600" spc="300" dirty="0">
                <a:latin typeface="源泉圓體 B" panose="020B0800000000000000" pitchFamily="34" charset="-120"/>
                <a:ea typeface="源泉圓體 B" panose="020B0800000000000000" pitchFamily="34" charset="-120"/>
                <a:cs typeface="Arial" panose="020B0604020202020204" pitchFamily="34" charset="0"/>
              </a:rPr>
              <a:t>注意事項</a:t>
            </a:r>
            <a:r>
              <a:rPr lang="en-US" altLang="zh-TW" sz="3600" spc="300" dirty="0">
                <a:latin typeface="源泉圓體 B" panose="020B0800000000000000" pitchFamily="34" charset="-120"/>
                <a:ea typeface="源泉圓體 B" panose="020B0800000000000000" pitchFamily="34" charset="-120"/>
                <a:cs typeface="Arial" panose="020B0604020202020204" pitchFamily="34" charset="0"/>
              </a:rPr>
              <a:t>:</a:t>
            </a:r>
          </a:p>
          <a:p>
            <a:endParaRPr lang="en-US" altLang="zh-TW" dirty="0">
              <a:latin typeface="源泉圓體 B" panose="020B0800000000000000" pitchFamily="34" charset="-120"/>
              <a:ea typeface="源泉圓體 B" panose="020B0800000000000000" pitchFamily="34" charset="-120"/>
              <a:cs typeface="Arial" panose="020B0604020202020204" pitchFamily="34" charset="0"/>
            </a:endParaRPr>
          </a:p>
          <a:p>
            <a:r>
              <a:rPr lang="en-US" altLang="zh-TW" dirty="0">
                <a:latin typeface="源泉圓體 B" panose="020B0800000000000000" pitchFamily="34" charset="-120"/>
                <a:ea typeface="源泉圓體 B" panose="020B0800000000000000" pitchFamily="34" charset="-120"/>
                <a:cs typeface="Arial" panose="020B0604020202020204" pitchFamily="34" charset="0"/>
              </a:rPr>
              <a:t>Textbook HW2 deadline: 05/03 (This Wed.) 23:59</a:t>
            </a:r>
          </a:p>
          <a:p>
            <a:r>
              <a:rPr lang="en-US" altLang="zh-TW" dirty="0">
                <a:latin typeface="源泉圓體 B" panose="020B0800000000000000" pitchFamily="34" charset="-120"/>
                <a:ea typeface="源泉圓體 B" panose="020B0800000000000000" pitchFamily="34" charset="-120"/>
                <a:cs typeface="Arial" panose="020B0604020202020204" pitchFamily="34" charset="0"/>
              </a:rPr>
              <a:t>In-class problems 2 deadline: 05/03 (This Wed.) 23:59</a:t>
            </a:r>
          </a:p>
          <a:p>
            <a:pPr marL="0" indent="0">
              <a:buFont typeface="Arial" panose="020B0604020202020204" pitchFamily="34" charset="0"/>
              <a:buNone/>
            </a:pPr>
            <a:endParaRPr lang="en-US" altLang="zh-TW" dirty="0">
              <a:latin typeface="源泉圓體 B" panose="020B0800000000000000" pitchFamily="34" charset="-120"/>
              <a:ea typeface="源泉圓體 B" panose="020B0800000000000000" pitchFamily="34" charset="-120"/>
              <a:cs typeface="Arial" panose="020B0604020202020204" pitchFamily="34" charset="0"/>
            </a:endParaRPr>
          </a:p>
          <a:p>
            <a:r>
              <a:rPr lang="en-US" altLang="zh-TW" dirty="0" err="1">
                <a:latin typeface="源泉圓體 B" panose="020B0800000000000000" pitchFamily="34" charset="-120"/>
                <a:ea typeface="源泉圓體 B" panose="020B0800000000000000" pitchFamily="34" charset="-120"/>
                <a:cs typeface="Arial" panose="020B0604020202020204" pitchFamily="34" charset="0"/>
              </a:rPr>
              <a:t>Matlab</a:t>
            </a:r>
            <a:r>
              <a:rPr lang="en-US" altLang="zh-TW" dirty="0">
                <a:latin typeface="源泉圓體 B" panose="020B0800000000000000" pitchFamily="34" charset="-120"/>
                <a:ea typeface="源泉圓體 B" panose="020B0800000000000000" pitchFamily="34" charset="-120"/>
                <a:cs typeface="Arial" panose="020B0604020202020204" pitchFamily="34" charset="0"/>
              </a:rPr>
              <a:t> HW2 </a:t>
            </a:r>
            <a:r>
              <a:rPr lang="en-US" altLang="zh-TW" sz="2000" dirty="0">
                <a:latin typeface="源泉圓體 B" panose="020B0800000000000000" pitchFamily="34" charset="-120"/>
                <a:ea typeface="源泉圓體 B" panose="020B0800000000000000" pitchFamily="34" charset="-120"/>
                <a:cs typeface="Arial" panose="020B0604020202020204" pitchFamily="34" charset="0"/>
              </a:rPr>
              <a:t>(bonus) </a:t>
            </a:r>
            <a:r>
              <a:rPr lang="en-US" altLang="zh-TW" dirty="0">
                <a:latin typeface="源泉圓體 B" panose="020B0800000000000000" pitchFamily="34" charset="-120"/>
                <a:ea typeface="源泉圓體 B" panose="020B0800000000000000" pitchFamily="34" charset="-120"/>
                <a:cs typeface="Arial" panose="020B0604020202020204" pitchFamily="34" charset="0"/>
              </a:rPr>
              <a:t>deadline: 05/10 (Wed.) 23:59</a:t>
            </a:r>
          </a:p>
          <a:p>
            <a:endParaRPr lang="en-US" altLang="zh-TW" dirty="0">
              <a:latin typeface="源泉圓體 B" panose="020B0800000000000000" pitchFamily="34" charset="-120"/>
              <a:ea typeface="源泉圓體 B" panose="020B0800000000000000" pitchFamily="34" charset="-120"/>
              <a:cs typeface="Arial" panose="020B0604020202020204" pitchFamily="34" charset="0"/>
            </a:endParaRPr>
          </a:p>
          <a:p>
            <a:r>
              <a:rPr lang="en-US" altLang="zh-TW" dirty="0">
                <a:latin typeface="源泉圓體 B" panose="020B0800000000000000" pitchFamily="34" charset="-120"/>
                <a:ea typeface="源泉圓體 B" panose="020B0800000000000000" pitchFamily="34" charset="-120"/>
                <a:cs typeface="Arial" panose="020B0604020202020204" pitchFamily="34" charset="0"/>
              </a:rPr>
              <a:t>Mid-term exam 2 </a:t>
            </a:r>
            <a:r>
              <a:rPr lang="en-US" altLang="zh-TW" sz="2000" dirty="0">
                <a:latin typeface="源泉圓體 B" panose="020B0800000000000000" pitchFamily="34" charset="-120"/>
                <a:ea typeface="源泉圓體 B" panose="020B0800000000000000" pitchFamily="34" charset="-120"/>
                <a:cs typeface="Arial" panose="020B0604020202020204" pitchFamily="34" charset="0"/>
              </a:rPr>
              <a:t>(Ch3 &amp; Ch4) </a:t>
            </a:r>
            <a:r>
              <a:rPr lang="en-US" altLang="zh-TW" dirty="0">
                <a:latin typeface="源泉圓體 B" panose="020B0800000000000000" pitchFamily="34" charset="-120"/>
                <a:ea typeface="源泉圓體 B" panose="020B0800000000000000" pitchFamily="34" charset="-120"/>
                <a:cs typeface="Arial" panose="020B0604020202020204" pitchFamily="34" charset="0"/>
              </a:rPr>
              <a:t>: 05/08 (Mon.) </a:t>
            </a:r>
            <a:r>
              <a:rPr lang="en-US" altLang="zh-TW" dirty="0">
                <a:solidFill>
                  <a:srgbClr val="FF0000"/>
                </a:solidFill>
                <a:latin typeface="源泉圓體 B" panose="020B0800000000000000" pitchFamily="34" charset="-120"/>
                <a:ea typeface="源泉圓體 B" panose="020B0800000000000000" pitchFamily="34" charset="-120"/>
                <a:cs typeface="Arial" panose="020B0604020202020204" pitchFamily="34" charset="0"/>
              </a:rPr>
              <a:t>08:10 – 10:00</a:t>
            </a:r>
            <a:endParaRPr lang="zh-TW" altLang="en-US" dirty="0">
              <a:solidFill>
                <a:srgbClr val="FF0000"/>
              </a:solidFill>
              <a:latin typeface="源泉圓體 B" panose="020B0800000000000000" pitchFamily="34" charset="-120"/>
              <a:ea typeface="源泉圓體 B" panose="020B0800000000000000" pitchFamily="34" charset="-120"/>
              <a:cs typeface="Arial" panose="020B0604020202020204" pitchFamily="34" charset="0"/>
            </a:endParaRPr>
          </a:p>
        </p:txBody>
      </p:sp>
    </p:spTree>
    <p:extLst>
      <p:ext uri="{BB962C8B-B14F-4D97-AF65-F5344CB8AC3E}">
        <p14:creationId xmlns:p14="http://schemas.microsoft.com/office/powerpoint/2010/main" val="425493553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2540</TotalTime>
  <Words>1018</Words>
  <Application>Microsoft Office PowerPoint</Application>
  <PresentationFormat>寬螢幕</PresentationFormat>
  <Paragraphs>81</Paragraphs>
  <Slides>18</Slides>
  <Notes>1</Notes>
  <HiddenSlides>0</HiddenSlides>
  <MMClips>0</MMClips>
  <ScaleCrop>false</ScaleCrop>
  <HeadingPairs>
    <vt:vector size="6" baseType="variant">
      <vt:variant>
        <vt:lpstr>使用字型</vt:lpstr>
      </vt:variant>
      <vt:variant>
        <vt:i4>13</vt:i4>
      </vt:variant>
      <vt:variant>
        <vt:lpstr>佈景主題</vt:lpstr>
      </vt:variant>
      <vt:variant>
        <vt:i4>1</vt:i4>
      </vt:variant>
      <vt:variant>
        <vt:lpstr>投影片標題</vt:lpstr>
      </vt:variant>
      <vt:variant>
        <vt:i4>18</vt:i4>
      </vt:variant>
    </vt:vector>
  </HeadingPairs>
  <TitlesOfParts>
    <vt:vector size="32" baseType="lpstr">
      <vt:lpstr>微軟正黑體</vt:lpstr>
      <vt:lpstr>新細明體</vt:lpstr>
      <vt:lpstr>源泉圓體 B</vt:lpstr>
      <vt:lpstr>源泉圓體 H</vt:lpstr>
      <vt:lpstr>Arial</vt:lpstr>
      <vt:lpstr>Arial Black</vt:lpstr>
      <vt:lpstr>Calibri</vt:lpstr>
      <vt:lpstr>Calibri Light</vt:lpstr>
      <vt:lpstr>Cambria Math</vt:lpstr>
      <vt:lpstr>Century Gothic</vt:lpstr>
      <vt:lpstr>Times New Roman</vt:lpstr>
      <vt:lpstr>Wingdings</vt:lpstr>
      <vt:lpstr>Wingdings 3</vt:lpstr>
      <vt:lpstr>Office 佈景主題</vt:lpstr>
      <vt:lpstr>Matlab HW2  2023.05.01</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Matlab HW1  2022/03/14</dc:title>
  <dc:creator>許峻愷</dc:creator>
  <cp:lastModifiedBy>cwuleo</cp:lastModifiedBy>
  <cp:revision>123</cp:revision>
  <dcterms:created xsi:type="dcterms:W3CDTF">2022-03-13T05:24:09Z</dcterms:created>
  <dcterms:modified xsi:type="dcterms:W3CDTF">2023-05-01T04:13:09Z</dcterms:modified>
</cp:coreProperties>
</file>