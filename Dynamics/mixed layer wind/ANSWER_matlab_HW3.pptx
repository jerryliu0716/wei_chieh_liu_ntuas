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82" r:id="rId2"/>
    <p:sldId id="258" r:id="rId3"/>
    <p:sldId id="284" r:id="rId4"/>
    <p:sldId id="259" r:id="rId5"/>
    <p:sldId id="285" r:id="rId6"/>
    <p:sldId id="257" r:id="rId7"/>
    <p:sldId id="286" r:id="rId8"/>
    <p:sldId id="261" r:id="rId9"/>
    <p:sldId id="287" r:id="rId10"/>
    <p:sldId id="264" r:id="rId11"/>
    <p:sldId id="265" r:id="rId12"/>
    <p:sldId id="288" r:id="rId13"/>
    <p:sldId id="270" r:id="rId14"/>
    <p:sldId id="289" r:id="rId15"/>
    <p:sldId id="271" r:id="rId16"/>
    <p:sldId id="290" r:id="rId17"/>
    <p:sldId id="269" r:id="rId18"/>
    <p:sldId id="292" r:id="rId19"/>
    <p:sldId id="291" r:id="rId20"/>
    <p:sldId id="283" r:id="rId21"/>
  </p:sldIdLst>
  <p:sldSz cx="12192000" cy="6858000"/>
  <p:notesSz cx="6858000" cy="9144000"/>
  <p:embeddedFontLst>
    <p:embeddedFont>
      <p:font typeface="源泉圓體 B" panose="020B0800000000000000" pitchFamily="34" charset="-120"/>
      <p:bold r:id="rId23"/>
    </p:embeddedFont>
    <p:embeddedFont>
      <p:font typeface="源泉圓體 H" panose="020B0A00000000000000" pitchFamily="34" charset="-120"/>
      <p:bold r:id="rId24"/>
    </p:embeddedFont>
    <p:embeddedFont>
      <p:font typeface="Arial Black" panose="020B0604020202020204" pitchFamily="34" charset="0"/>
      <p:bold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libri Light" panose="020F0302020204030204" pitchFamily="34" charset="0"/>
      <p:regular r:id="rId30"/>
      <p:italic r:id="rId31"/>
    </p:embeddedFont>
    <p:embeddedFont>
      <p:font typeface="Cambria Math" panose="02040503050406030204" pitchFamily="18" charset="0"/>
      <p:regular r:id="rId32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47" autoAdjust="0"/>
    <p:restoredTop sz="94660"/>
  </p:normalViewPr>
  <p:slideViewPr>
    <p:cSldViewPr snapToGrid="0">
      <p:cViewPr>
        <p:scale>
          <a:sx n="130" d="100"/>
          <a:sy n="130" d="100"/>
        </p:scale>
        <p:origin x="-200" y="-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19D82-2789-47B0-8055-A0FC0B5F3E3E}" type="datetimeFigureOut">
              <a:rPr lang="zh-TW" altLang="en-US" smtClean="0"/>
              <a:t>2023/6/14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D7EB5-0955-4027-BA10-FE03BDA444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8334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342E0-8927-4A2A-9F90-19682ADDFC7A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4966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A333-6EBD-4DFB-AE4A-A69E036C1661}" type="datetimeFigureOut">
              <a:rPr lang="zh-TW" altLang="en-US" smtClean="0"/>
              <a:t>2023/6/14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A2AB-A19B-4F27-B0A1-F625577D1B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4463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A333-6EBD-4DFB-AE4A-A69E036C1661}" type="datetimeFigureOut">
              <a:rPr lang="zh-TW" altLang="en-US" smtClean="0"/>
              <a:t>2023/6/14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A2AB-A19B-4F27-B0A1-F625577D1B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568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A333-6EBD-4DFB-AE4A-A69E036C1661}" type="datetimeFigureOut">
              <a:rPr lang="zh-TW" altLang="en-US" smtClean="0"/>
              <a:t>2023/6/14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A2AB-A19B-4F27-B0A1-F625577D1B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6886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A333-6EBD-4DFB-AE4A-A69E036C1661}" type="datetimeFigureOut">
              <a:rPr lang="zh-TW" altLang="en-US" smtClean="0"/>
              <a:t>2023/6/14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A2AB-A19B-4F27-B0A1-F625577D1B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7050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A333-6EBD-4DFB-AE4A-A69E036C1661}" type="datetimeFigureOut">
              <a:rPr lang="zh-TW" altLang="en-US" smtClean="0"/>
              <a:t>2023/6/14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A2AB-A19B-4F27-B0A1-F625577D1B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0423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A333-6EBD-4DFB-AE4A-A69E036C1661}" type="datetimeFigureOut">
              <a:rPr lang="zh-TW" altLang="en-US" smtClean="0"/>
              <a:t>2023/6/14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A2AB-A19B-4F27-B0A1-F625577D1B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90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A333-6EBD-4DFB-AE4A-A69E036C1661}" type="datetimeFigureOut">
              <a:rPr lang="zh-TW" altLang="en-US" smtClean="0"/>
              <a:t>2023/6/14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A2AB-A19B-4F27-B0A1-F625577D1B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70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A333-6EBD-4DFB-AE4A-A69E036C1661}" type="datetimeFigureOut">
              <a:rPr lang="zh-TW" altLang="en-US" smtClean="0"/>
              <a:t>2023/6/14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A2AB-A19B-4F27-B0A1-F625577D1B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0513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A333-6EBD-4DFB-AE4A-A69E036C1661}" type="datetimeFigureOut">
              <a:rPr lang="zh-TW" altLang="en-US" smtClean="0"/>
              <a:t>2023/6/14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A2AB-A19B-4F27-B0A1-F625577D1B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1427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A333-6EBD-4DFB-AE4A-A69E036C1661}" type="datetimeFigureOut">
              <a:rPr lang="zh-TW" altLang="en-US" smtClean="0"/>
              <a:t>2023/6/14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A2AB-A19B-4F27-B0A1-F625577D1B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4455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A333-6EBD-4DFB-AE4A-A69E036C1661}" type="datetimeFigureOut">
              <a:rPr lang="zh-TW" altLang="en-US" smtClean="0"/>
              <a:t>2023/6/14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2A2AB-A19B-4F27-B0A1-F625577D1B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4617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EA333-6EBD-4DFB-AE4A-A69E036C1661}" type="datetimeFigureOut">
              <a:rPr lang="zh-TW" altLang="en-US" smtClean="0"/>
              <a:t>2023/6/14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2A2AB-A19B-4F27-B0A1-F625577D1B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8810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9667EC4-28BA-437E-B37D-FB6976DAA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69366"/>
            <a:ext cx="9144000" cy="2332654"/>
          </a:xfrm>
        </p:spPr>
        <p:txBody>
          <a:bodyPr>
            <a:normAutofit/>
          </a:bodyPr>
          <a:lstStyle/>
          <a:p>
            <a:r>
              <a:rPr lang="en-US" altLang="zh-TW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Matlab</a:t>
            </a:r>
            <a: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HW3</a:t>
            </a:r>
            <a:b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b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lang="en-US" altLang="zh-TW" sz="28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2023.06.05</a:t>
            </a:r>
            <a:endParaRPr lang="zh-TW" altLang="en-US" sz="48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904D4F4-813C-43D1-A9D8-581A87E0E82E}"/>
              </a:ext>
            </a:extLst>
          </p:cNvPr>
          <p:cNvSpPr txBox="1"/>
          <p:nvPr/>
        </p:nvSpPr>
        <p:spPr>
          <a:xfrm>
            <a:off x="3326167" y="1553593"/>
            <a:ext cx="5539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spc="300" dirty="0">
                <a:latin typeface="源泉圓體 H" panose="020B0A00000000000000" pitchFamily="34" charset="-120"/>
                <a:ea typeface="源泉圓體 H" panose="020B0A00000000000000" pitchFamily="34" charset="-120"/>
              </a:rPr>
              <a:t>大氣動力學 </a:t>
            </a:r>
            <a:r>
              <a:rPr lang="en-US" altLang="zh-TW" sz="4000" dirty="0">
                <a:latin typeface="源泉圓體 H" panose="020B0A00000000000000" pitchFamily="34" charset="-120"/>
                <a:ea typeface="源泉圓體 H" panose="020B0A00000000000000" pitchFamily="34" charset="-120"/>
              </a:rPr>
              <a:t>(I)</a:t>
            </a:r>
            <a:endParaRPr lang="zh-TW" altLang="en-US" sz="4000" dirty="0">
              <a:latin typeface="源泉圓體 H" panose="020B0A00000000000000" pitchFamily="34" charset="-120"/>
              <a:ea typeface="源泉圓體 H" panose="020B0A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31320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b="51571"/>
          <a:stretch/>
        </p:blipFill>
        <p:spPr>
          <a:xfrm>
            <a:off x="242950" y="71299"/>
            <a:ext cx="11648432" cy="242268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3"/>
          <a:srcRect l="76713"/>
          <a:stretch/>
        </p:blipFill>
        <p:spPr>
          <a:xfrm>
            <a:off x="10449666" y="2680502"/>
            <a:ext cx="1742334" cy="925198"/>
          </a:xfrm>
          <a:prstGeom prst="rect">
            <a:avLst/>
          </a:prstGeom>
        </p:spPr>
      </p:pic>
      <p:cxnSp>
        <p:nvCxnSpPr>
          <p:cNvPr id="9" name="直線接點 8"/>
          <p:cNvCxnSpPr/>
          <p:nvPr/>
        </p:nvCxnSpPr>
        <p:spPr>
          <a:xfrm>
            <a:off x="5431547" y="910253"/>
            <a:ext cx="6065361" cy="1115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V="1">
            <a:off x="1268424" y="1713394"/>
            <a:ext cx="6102532" cy="2466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3780263" y="448041"/>
            <a:ext cx="3133492" cy="1645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411" y="2834640"/>
            <a:ext cx="1896727" cy="402336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9068" y="2834640"/>
            <a:ext cx="5000625" cy="3990975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 rotWithShape="1">
          <a:blip r:embed="rId3"/>
          <a:srcRect r="38230" b="2506"/>
          <a:stretch/>
        </p:blipFill>
        <p:spPr>
          <a:xfrm>
            <a:off x="7790835" y="2176974"/>
            <a:ext cx="4204163" cy="8205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493776" y="2442227"/>
                <a:ext cx="483786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76" y="2442227"/>
                <a:ext cx="483786" cy="391902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1195857" y="2485688"/>
                <a:ext cx="3764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857" y="2485688"/>
                <a:ext cx="37645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1819567" y="2484324"/>
                <a:ext cx="3693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567" y="2484324"/>
                <a:ext cx="369332" cy="369332"/>
              </a:xfrm>
              <a:prstGeom prst="rect">
                <a:avLst/>
              </a:prstGeom>
              <a:blipFill>
                <a:blip r:embed="rId8"/>
                <a:stretch>
                  <a:fillRect r="-229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5200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820267-D679-8E08-A7AB-38408D0B4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DAE7FD-8054-CDE6-4A1B-E9C04A848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如題目描述</a:t>
            </a:r>
            <a:endParaRPr kumimoji="1" lang="en-US" altLang="zh-TW" dirty="0"/>
          </a:p>
          <a:p>
            <a:r>
              <a:rPr kumimoji="1" lang="zh-TW" altLang="en-US" dirty="0"/>
              <a:t>在</a:t>
            </a:r>
            <a:r>
              <a:rPr kumimoji="1" lang="en-US" altLang="zh-TW" dirty="0" err="1"/>
              <a:t>u_g</a:t>
            </a:r>
            <a:r>
              <a:rPr kumimoji="1" lang="en-US" altLang="zh-TW" dirty="0"/>
              <a:t> </a:t>
            </a:r>
            <a:r>
              <a:rPr kumimoji="1" lang="zh-TW" altLang="en-US" dirty="0"/>
              <a:t>大於</a:t>
            </a:r>
            <a:r>
              <a:rPr kumimoji="1" lang="en-US" altLang="zh-TW" dirty="0"/>
              <a:t>19m/s</a:t>
            </a:r>
          </a:p>
          <a:p>
            <a:r>
              <a:rPr kumimoji="1" lang="zh-TW" altLang="en-US" dirty="0"/>
              <a:t>迭代法會放大誤差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0E6A3F8-5B7D-7951-77F4-32676AD41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234" y="755374"/>
            <a:ext cx="77724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488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l="3191" t="49277"/>
          <a:stretch/>
        </p:blipFill>
        <p:spPr>
          <a:xfrm>
            <a:off x="144964" y="178418"/>
            <a:ext cx="11501089" cy="2587917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/>
          <a:srcRect b="43802"/>
          <a:stretch/>
        </p:blipFill>
        <p:spPr>
          <a:xfrm>
            <a:off x="625128" y="4879522"/>
            <a:ext cx="10733541" cy="174990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200" y="2291605"/>
            <a:ext cx="6242824" cy="2504251"/>
          </a:xfrm>
          <a:prstGeom prst="rect">
            <a:avLst/>
          </a:prstGeom>
        </p:spPr>
      </p:pic>
      <p:sp>
        <p:nvSpPr>
          <p:cNvPr id="3" name="圓角矩形 2"/>
          <p:cNvSpPr/>
          <p:nvPr/>
        </p:nvSpPr>
        <p:spPr>
          <a:xfrm>
            <a:off x="3579541" y="1583473"/>
            <a:ext cx="5542157" cy="708132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9567963" y="1922273"/>
            <a:ext cx="23782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/>
              <a:t>參考</a:t>
            </a:r>
            <a:r>
              <a:rPr lang="en-US" altLang="zh-TW" sz="2000" dirty="0"/>
              <a:t>Holton 5</a:t>
            </a:r>
            <a:r>
              <a:rPr lang="en-US" altLang="zh-TW" sz="2000" baseline="30000" dirty="0"/>
              <a:t>th</a:t>
            </a:r>
            <a:r>
              <a:rPr lang="en-US" altLang="zh-TW" sz="2000" dirty="0"/>
              <a:t> 8.3</a:t>
            </a:r>
            <a:r>
              <a:rPr lang="zh-TW" altLang="en-US" sz="2000" dirty="0"/>
              <a:t>章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5782192" y="29341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TW" dirty="0"/>
              <a:t>β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00411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715D333-F389-B42E-44DE-49384D32D3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46652"/>
                <a:ext cx="10515600" cy="5630311"/>
              </a:xfrm>
            </p:spPr>
            <p:txBody>
              <a:bodyPr/>
              <a:lstStyle/>
              <a:p>
                <a:r>
                  <a:rPr kumimoji="1" lang="zh-TW" altLang="en-US" dirty="0"/>
                  <a:t>在平衡狀態下，黏滯力（</a:t>
                </a:r>
                <a:r>
                  <a:rPr kumimoji="1" lang="en-US" altLang="zh-TW" dirty="0"/>
                  <a:t>FT</a:t>
                </a:r>
                <a:r>
                  <a:rPr kumimoji="1" lang="zh-TW" altLang="en-US" dirty="0"/>
                  <a:t>）和柯氏力（</a:t>
                </a:r>
                <a:r>
                  <a:rPr kumimoji="1" lang="en-US" altLang="zh-TW" dirty="0"/>
                  <a:t>Co</a:t>
                </a:r>
                <a:r>
                  <a:rPr kumimoji="1" lang="zh-TW" altLang="en-US" dirty="0"/>
                  <a:t>）的合力要和梯度力（</a:t>
                </a:r>
                <a:r>
                  <a:rPr kumimoji="1" lang="en-US" altLang="zh-TW" dirty="0"/>
                  <a:t>P</a:t>
                </a:r>
                <a:r>
                  <a:rPr kumimoji="1" lang="zh-TW" altLang="en-US" dirty="0"/>
                  <a:t>）平衡，所以可以在</a:t>
                </a:r>
                <a:r>
                  <a:rPr kumimoji="1" lang="en-US" altLang="zh-TW" dirty="0"/>
                  <a:t>P</a:t>
                </a:r>
                <a:r>
                  <a:rPr kumimoji="1" lang="zh-TW" altLang="en-US" dirty="0"/>
                  <a:t>的反方向畫出一條量值與</a:t>
                </a:r>
                <a:r>
                  <a:rPr kumimoji="1" lang="en-US" altLang="zh-TW" dirty="0"/>
                  <a:t>P</a:t>
                </a:r>
                <a:r>
                  <a:rPr kumimoji="1" lang="zh-TW" altLang="en-US" dirty="0"/>
                  <a:t>相同的力</a:t>
                </a:r>
                <a:endParaRPr kumimoji="1" lang="en-US" altLang="zh-TW" dirty="0"/>
              </a:p>
              <a:p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kumimoji="1" lang="en-US" altLang="zh-TW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endParaRPr kumimoji="1" lang="en-US" altLang="zh-TW" b="0" dirty="0"/>
              </a:p>
              <a:p>
                <a:r>
                  <a:rPr kumimoji="1" lang="zh-TW" altLang="en-US" dirty="0"/>
                  <a:t>根據三角函數，得出</a:t>
                </a:r>
                <a:endParaRPr kumimoji="1" lang="en-US" altLang="zh-TW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TW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func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sSub>
                          <m:sSub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sSub>
                          <m:sSub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den>
                    </m:f>
                  </m:oMath>
                </a14:m>
                <a:endParaRPr kumimoji="1" lang="en-US" altLang="zh-TW" b="0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TW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func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𝑓𝑉</m:t>
                        </m:r>
                      </m:num>
                      <m:den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sSub>
                          <m:sSub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den>
                    </m:f>
                  </m:oMath>
                </a14:m>
                <a:endParaRPr kumimoji="1" lang="en-US" altLang="zh-TW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715D333-F389-B42E-44DE-49384D32D3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46652"/>
                <a:ext cx="10515600" cy="5630311"/>
              </a:xfrm>
              <a:blipFill>
                <a:blip r:embed="rId2"/>
                <a:stretch>
                  <a:fillRect l="-1086" t="-20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7AC4A5A4-B8C7-3C8B-F48F-9532A91E2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809" y="3429000"/>
            <a:ext cx="8015302" cy="3215264"/>
          </a:xfrm>
          <a:prstGeom prst="rect">
            <a:avLst/>
          </a:prstGeom>
        </p:spPr>
      </p:pic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949D71AA-C747-A4E7-095E-2F63D7D4A65E}"/>
              </a:ext>
            </a:extLst>
          </p:cNvPr>
          <p:cNvCxnSpPr>
            <a:cxnSpLocks/>
          </p:cNvCxnSpPr>
          <p:nvPr/>
        </p:nvCxnSpPr>
        <p:spPr>
          <a:xfrm>
            <a:off x="7205870" y="4790661"/>
            <a:ext cx="0" cy="9914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DFCD2046-0A06-4F1F-6D50-7F78EE4EB1AC}"/>
              </a:ext>
            </a:extLst>
          </p:cNvPr>
          <p:cNvCxnSpPr/>
          <p:nvPr/>
        </p:nvCxnSpPr>
        <p:spPr>
          <a:xfrm>
            <a:off x="6768549" y="5026693"/>
            <a:ext cx="437321" cy="755374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4CE13C2D-515E-882C-4CA0-25E287B05629}"/>
              </a:ext>
            </a:extLst>
          </p:cNvPr>
          <p:cNvCxnSpPr>
            <a:cxnSpLocks/>
          </p:cNvCxnSpPr>
          <p:nvPr/>
        </p:nvCxnSpPr>
        <p:spPr>
          <a:xfrm flipH="1">
            <a:off x="7205870" y="5496339"/>
            <a:ext cx="437321" cy="285728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2A4EB9C-828D-AED4-AC6E-EC49255890F8}"/>
              </a:ext>
            </a:extLst>
          </p:cNvPr>
          <p:cNvSpPr txBox="1"/>
          <p:nvPr/>
        </p:nvSpPr>
        <p:spPr>
          <a:xfrm>
            <a:off x="7205870" y="43368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β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E2AC329-C5B7-26F9-18CF-D2430A744391}"/>
              </a:ext>
            </a:extLst>
          </p:cNvPr>
          <p:cNvSpPr txBox="1"/>
          <p:nvPr/>
        </p:nvSpPr>
        <p:spPr>
          <a:xfrm>
            <a:off x="6967878" y="482714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β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478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123" y="1705969"/>
            <a:ext cx="5719531" cy="452617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3"/>
          <a:srcRect t="49678"/>
          <a:stretch/>
        </p:blipFill>
        <p:spPr>
          <a:xfrm>
            <a:off x="3402863" y="2070784"/>
            <a:ext cx="2473830" cy="342472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3"/>
          <a:srcRect t="792" b="50626"/>
          <a:stretch/>
        </p:blipFill>
        <p:spPr>
          <a:xfrm>
            <a:off x="602166" y="2070784"/>
            <a:ext cx="2488813" cy="3326406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4"/>
          <a:srcRect t="56657"/>
          <a:stretch/>
        </p:blipFill>
        <p:spPr>
          <a:xfrm>
            <a:off x="669073" y="234175"/>
            <a:ext cx="10873252" cy="136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58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9407B0-6352-3895-AD2F-4352AF056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7E9E975-C743-043F-DD1C-62B0A28E12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zh-TW" altLang="en-US" dirty="0"/>
                  <a:t>爆掉～</a:t>
                </a:r>
                <a:endParaRPr kumimoji="1" lang="en-US" altLang="zh-TW" dirty="0"/>
              </a:p>
              <a:p>
                <a:r>
                  <a:rPr kumimoji="1" lang="zh-TW" altLang="en-US" dirty="0"/>
                  <a:t>因此下式不適合用於</a:t>
                </a:r>
                <a:br>
                  <a:rPr kumimoji="1" lang="en-US" altLang="zh-TW" dirty="0"/>
                </a:br>
                <a:r>
                  <a:rPr kumimoji="1" lang="zh-TW" altLang="en-US" dirty="0"/>
                  <a:t>高風速迭代</a:t>
                </a:r>
                <a:endParaRPr kumimoji="1" lang="en-US" altLang="zh-TW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TW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func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sSub>
                          <m:sSub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sSub>
                          <m:sSub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den>
                    </m:f>
                  </m:oMath>
                </a14:m>
                <a:endParaRPr kumimoji="1" lang="en-US" altLang="zh-TW" b="0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TW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func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𝑓𝑉</m:t>
                        </m:r>
                      </m:num>
                      <m:den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sSub>
                          <m:sSub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den>
                    </m:f>
                  </m:oMath>
                </a14:m>
                <a:endParaRPr kumimoji="1" lang="en-US" altLang="zh-TW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7E9E975-C743-043F-DD1C-62B0A28E12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E8A03A55-8E9C-C63C-426C-638A47829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426" y="947738"/>
            <a:ext cx="7172739" cy="537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474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t="56657"/>
          <a:stretch/>
        </p:blipFill>
        <p:spPr>
          <a:xfrm>
            <a:off x="669073" y="234175"/>
            <a:ext cx="10873252" cy="136718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81" y="1601363"/>
            <a:ext cx="5876925" cy="4714875"/>
          </a:xfrm>
          <a:prstGeom prst="rect">
            <a:avLst/>
          </a:prstGeom>
        </p:spPr>
      </p:pic>
      <p:sp>
        <p:nvSpPr>
          <p:cNvPr id="7" name="圓角矩形 6"/>
          <p:cNvSpPr/>
          <p:nvPr/>
        </p:nvSpPr>
        <p:spPr>
          <a:xfrm>
            <a:off x="635620" y="4120492"/>
            <a:ext cx="4861932" cy="1449659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4"/>
          <a:srcRect l="30686" t="77833" r="19211" b="8705"/>
          <a:stretch/>
        </p:blipFill>
        <p:spPr>
          <a:xfrm>
            <a:off x="6029782" y="2281706"/>
            <a:ext cx="5952393" cy="686845"/>
          </a:xfrm>
          <a:prstGeom prst="rect">
            <a:avLst/>
          </a:prstGeom>
        </p:spPr>
      </p:pic>
      <p:cxnSp>
        <p:nvCxnSpPr>
          <p:cNvPr id="10" name="直線單箭頭接點 9"/>
          <p:cNvCxnSpPr/>
          <p:nvPr/>
        </p:nvCxnSpPr>
        <p:spPr>
          <a:xfrm>
            <a:off x="6235506" y="6316238"/>
            <a:ext cx="219807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flipV="1">
            <a:off x="6235506" y="4290646"/>
            <a:ext cx="0" cy="2005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9344249" y="6322530"/>
            <a:ext cx="219807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V="1">
            <a:off x="9344249" y="4296938"/>
            <a:ext cx="0" cy="2005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8216411" y="6336324"/>
                <a:ext cx="397801" cy="3994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411" y="6336324"/>
                <a:ext cx="397801" cy="399405"/>
              </a:xfrm>
              <a:prstGeom prst="rect">
                <a:avLst/>
              </a:prstGeom>
              <a:blipFill>
                <a:blip r:embed="rId5"/>
                <a:stretch>
                  <a:fillRect l="-10769" r="-7692" b="-212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11419742" y="6336324"/>
                <a:ext cx="397801" cy="3994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9742" y="6336324"/>
                <a:ext cx="397801" cy="399405"/>
              </a:xfrm>
              <a:prstGeom prst="rect">
                <a:avLst/>
              </a:prstGeom>
              <a:blipFill>
                <a:blip r:embed="rId6"/>
                <a:stretch>
                  <a:fillRect l="-9091" r="-7576" b="-212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/>
          <p:cNvSpPr txBox="1"/>
          <p:nvPr/>
        </p:nvSpPr>
        <p:spPr>
          <a:xfrm>
            <a:off x="8914934" y="412049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TW" dirty="0"/>
              <a:t>β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5761120" y="4088396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9883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28470B-2FBC-C141-2182-ECD1A9FC8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D9128B-6401-CFAE-0146-9FAC99C27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71443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b="64962"/>
          <a:stretch/>
        </p:blipFill>
        <p:spPr>
          <a:xfrm>
            <a:off x="384297" y="136280"/>
            <a:ext cx="10482995" cy="145512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/>
          <a:srcRect t="6484" b="9121"/>
          <a:stretch/>
        </p:blipFill>
        <p:spPr>
          <a:xfrm>
            <a:off x="1966179" y="2242039"/>
            <a:ext cx="8331169" cy="1767252"/>
          </a:xfrm>
          <a:prstGeom prst="rect">
            <a:avLst/>
          </a:prstGeom>
        </p:spPr>
      </p:pic>
      <p:sp>
        <p:nvSpPr>
          <p:cNvPr id="6" name="圓角矩形 5"/>
          <p:cNvSpPr/>
          <p:nvPr/>
        </p:nvSpPr>
        <p:spPr>
          <a:xfrm>
            <a:off x="1966179" y="3125665"/>
            <a:ext cx="1093544" cy="298938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/>
          <a:srcRect t="36449" r="31983" b="53812"/>
          <a:stretch/>
        </p:blipFill>
        <p:spPr>
          <a:xfrm>
            <a:off x="384297" y="1679331"/>
            <a:ext cx="7130195" cy="40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47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661" y="0"/>
            <a:ext cx="7420708" cy="6670078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50843" y="825175"/>
            <a:ext cx="23182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400" dirty="0"/>
              <a:t>t=2 (6 </a:t>
            </a:r>
            <a:r>
              <a:rPr lang="en-US" altLang="zh-TW" sz="4400" dirty="0" err="1"/>
              <a:t>hr</a:t>
            </a:r>
            <a:r>
              <a:rPr lang="en-US" altLang="zh-TW" sz="4400" dirty="0"/>
              <a:t>)</a:t>
            </a:r>
            <a:endParaRPr lang="zh-TW" altLang="en-US" sz="4400" dirty="0"/>
          </a:p>
        </p:txBody>
      </p:sp>
      <p:sp>
        <p:nvSpPr>
          <p:cNvPr id="8" name="圓角矩形 7"/>
          <p:cNvSpPr/>
          <p:nvPr/>
        </p:nvSpPr>
        <p:spPr>
          <a:xfrm>
            <a:off x="4501660" y="3335039"/>
            <a:ext cx="3675185" cy="3335039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312114" y="1802543"/>
            <a:ext cx="37628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/>
              <a:t>在</a:t>
            </a:r>
            <a:r>
              <a:rPr lang="en-US" altLang="zh-TW" sz="2800" dirty="0"/>
              <a:t>code</a:t>
            </a:r>
            <a:r>
              <a:rPr lang="zh-TW" altLang="en-US" sz="2800" dirty="0"/>
              <a:t>裡面，要手動改</a:t>
            </a: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1041786" y="1451561"/>
            <a:ext cx="221673" cy="47105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4" y="341632"/>
            <a:ext cx="3232103" cy="48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638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D0C3C4-0DAA-41A7-73CA-4C13BA382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CF2B38-434F-E2F5-2F33-9B99CE814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5637"/>
            <a:ext cx="10515600" cy="3961325"/>
          </a:xfrm>
        </p:spPr>
        <p:txBody>
          <a:bodyPr/>
          <a:lstStyle/>
          <a:p>
            <a:r>
              <a:rPr kumimoji="1" lang="zh-TW" altLang="en-US" dirty="0"/>
              <a:t>我找不到</a:t>
            </a:r>
            <a:r>
              <a:rPr kumimoji="1" lang="en-US" altLang="zh-TW" dirty="0"/>
              <a:t> t=2 QQ</a:t>
            </a:r>
          </a:p>
          <a:p>
            <a:r>
              <a:rPr kumimoji="1" lang="zh-TW" altLang="en-US" dirty="0"/>
              <a:t>我認為是修改 </a:t>
            </a:r>
            <a:r>
              <a:rPr kumimoji="1" lang="en-US" altLang="zh-TW" dirty="0"/>
              <a:t>it=2</a:t>
            </a:r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EA4121F-CC48-22F6-411F-9C1557CD8508}"/>
              </a:ext>
            </a:extLst>
          </p:cNvPr>
          <p:cNvSpPr txBox="1"/>
          <p:nvPr/>
        </p:nvSpPr>
        <p:spPr>
          <a:xfrm>
            <a:off x="681878" y="507123"/>
            <a:ext cx="23182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400" dirty="0"/>
              <a:t>t=2 (6 </a:t>
            </a:r>
            <a:r>
              <a:rPr lang="en-US" altLang="zh-TW" sz="4400" dirty="0" err="1"/>
              <a:t>hr</a:t>
            </a:r>
            <a:r>
              <a:rPr lang="en-US" altLang="zh-TW" sz="4400" dirty="0"/>
              <a:t>)</a:t>
            </a:r>
            <a:endParaRPr lang="zh-TW" altLang="en-US" sz="44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0192868-0ECC-22C6-7C8F-5E694A8AF921}"/>
              </a:ext>
            </a:extLst>
          </p:cNvPr>
          <p:cNvSpPr txBox="1"/>
          <p:nvPr/>
        </p:nvSpPr>
        <p:spPr>
          <a:xfrm>
            <a:off x="143149" y="1484491"/>
            <a:ext cx="37628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/>
              <a:t>在</a:t>
            </a:r>
            <a:r>
              <a:rPr lang="en-US" altLang="zh-TW" sz="2800" dirty="0"/>
              <a:t>code</a:t>
            </a:r>
            <a:r>
              <a:rPr lang="zh-TW" altLang="en-US" sz="2800" dirty="0"/>
              <a:t>裡面，要手動改</a:t>
            </a:r>
          </a:p>
        </p:txBody>
      </p:sp>
      <p:cxnSp>
        <p:nvCxnSpPr>
          <p:cNvPr id="6" name="直線單箭頭接點 10">
            <a:extLst>
              <a:ext uri="{FF2B5EF4-FFF2-40B4-BE49-F238E27FC236}">
                <a16:creationId xmlns:a16="http://schemas.microsoft.com/office/drawing/2014/main" id="{CC72E56B-C49E-41FB-6135-5FA02E969379}"/>
              </a:ext>
            </a:extLst>
          </p:cNvPr>
          <p:cNvCxnSpPr/>
          <p:nvPr/>
        </p:nvCxnSpPr>
        <p:spPr>
          <a:xfrm>
            <a:off x="872821" y="1133509"/>
            <a:ext cx="221673" cy="47105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圖片 7">
            <a:extLst>
              <a:ext uri="{FF2B5EF4-FFF2-40B4-BE49-F238E27FC236}">
                <a16:creationId xmlns:a16="http://schemas.microsoft.com/office/drawing/2014/main" id="{78B6EEF5-D5EF-DA80-2ED3-2A652FD19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596" y="423732"/>
            <a:ext cx="3482009" cy="261150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1E6BFD1-3D38-5AD9-34F0-9656E20091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605" y="326327"/>
            <a:ext cx="3638295" cy="272872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F20629E-E0FF-FF1C-6104-D000F922F7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326" y="3243165"/>
            <a:ext cx="3737347" cy="280301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CCA1EDBB-20E6-5CD3-9608-AF5CB7EC8F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605" y="3300972"/>
            <a:ext cx="3533165" cy="264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499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637" y="226579"/>
            <a:ext cx="7016041" cy="638608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/>
          <a:srcRect l="44617" t="36490" r="32963" b="53812"/>
          <a:stretch/>
        </p:blipFill>
        <p:spPr>
          <a:xfrm>
            <a:off x="729674" y="226579"/>
            <a:ext cx="3179854" cy="544946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1216603" y="914240"/>
            <a:ext cx="26035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400" dirty="0"/>
              <a:t>t=2 (16 </a:t>
            </a:r>
            <a:r>
              <a:rPr lang="en-US" altLang="zh-TW" sz="4400" dirty="0" err="1"/>
              <a:t>hr</a:t>
            </a:r>
            <a:r>
              <a:rPr lang="en-US" altLang="zh-TW" sz="4400" dirty="0"/>
              <a:t>)</a:t>
            </a:r>
            <a:endParaRPr lang="zh-TW" altLang="en-US" sz="44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729674" y="2034663"/>
            <a:ext cx="37628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/>
              <a:t>在</a:t>
            </a:r>
            <a:r>
              <a:rPr lang="en-US" altLang="zh-TW" sz="2800" dirty="0"/>
              <a:t>code</a:t>
            </a:r>
            <a:r>
              <a:rPr lang="zh-TW" altLang="en-US" sz="2800" dirty="0"/>
              <a:t>裡面，要手動改</a:t>
            </a:r>
          </a:p>
        </p:txBody>
      </p:sp>
      <p:cxnSp>
        <p:nvCxnSpPr>
          <p:cNvPr id="8" name="直線單箭頭接點 7"/>
          <p:cNvCxnSpPr/>
          <p:nvPr/>
        </p:nvCxnSpPr>
        <p:spPr>
          <a:xfrm>
            <a:off x="1459346" y="1683681"/>
            <a:ext cx="221673" cy="47105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977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2CEF3C-D96F-960B-DA2C-1D44E4458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pic>
        <p:nvPicPr>
          <p:cNvPr id="16" name="內容版面配置區 15">
            <a:extLst>
              <a:ext uri="{FF2B5EF4-FFF2-40B4-BE49-F238E27FC236}">
                <a16:creationId xmlns:a16="http://schemas.microsoft.com/office/drawing/2014/main" id="{8A1F4F58-8371-BAFD-7FB1-A5B9B565B2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046" y="365125"/>
            <a:ext cx="4159850" cy="3119888"/>
          </a:xfr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A4EAF3C1-56AC-C925-DD58-AA66F5A7EC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5125"/>
            <a:ext cx="4085166" cy="3063875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0A4E8885-A5F7-5F00-95FC-6C5AF980CC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046" y="3485013"/>
            <a:ext cx="4033954" cy="3025466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7C11045B-9F53-75C8-5197-4D36CFA103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85013"/>
            <a:ext cx="4085166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66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/>
          <a:srcRect l="44617" t="36490" r="32963" b="53812"/>
          <a:stretch/>
        </p:blipFill>
        <p:spPr>
          <a:xfrm>
            <a:off x="729674" y="226579"/>
            <a:ext cx="3179854" cy="544946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274" y="1074820"/>
            <a:ext cx="9442031" cy="565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809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A8BC0F-6523-3B31-33D8-4BA44380E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FF15C86-5598-AFFA-1ADC-01601F5F6E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4"/>
            <a:ext cx="4085167" cy="3063875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890FA8E-282C-8FC4-71DF-2FF487CD55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07017"/>
            <a:ext cx="4085166" cy="306387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F2DCDFC6-E80C-E5BB-C986-93B325A212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365" y="3307014"/>
            <a:ext cx="3922524" cy="294189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28B4A96-41D2-1F7E-481C-C1706C4CAC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366" y="365122"/>
            <a:ext cx="3922524" cy="294189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5F6448A-7168-FC11-E11E-3987F78D32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278" y="1605366"/>
            <a:ext cx="3576331" cy="268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19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2"/>
          <a:srcRect l="68296" t="36943" b="54589"/>
          <a:stretch/>
        </p:blipFill>
        <p:spPr>
          <a:xfrm>
            <a:off x="914401" y="4167553"/>
            <a:ext cx="3323492" cy="351693"/>
          </a:xfrm>
          <a:prstGeom prst="rect">
            <a:avLst/>
          </a:prstGeom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AA6ED29C-9B24-BE16-D2DD-3F5E7D9E3344}"/>
              </a:ext>
            </a:extLst>
          </p:cNvPr>
          <p:cNvGrpSpPr/>
          <p:nvPr/>
        </p:nvGrpSpPr>
        <p:grpSpPr>
          <a:xfrm>
            <a:off x="914401" y="4519246"/>
            <a:ext cx="9542584" cy="2278780"/>
            <a:chOff x="914401" y="4519246"/>
            <a:chExt cx="9542584" cy="2278780"/>
          </a:xfrm>
        </p:grpSpPr>
        <p:pic>
          <p:nvPicPr>
            <p:cNvPr id="9" name="圖片 8"/>
            <p:cNvPicPr>
              <a:picLocks noChangeAspect="1"/>
            </p:cNvPicPr>
            <p:nvPr/>
          </p:nvPicPr>
          <p:blipFill rotWithShape="1">
            <a:blip r:embed="rId2"/>
            <a:srcRect l="8970" t="45129"/>
            <a:stretch/>
          </p:blipFill>
          <p:spPr>
            <a:xfrm>
              <a:off x="914401" y="4519246"/>
              <a:ext cx="9542584" cy="2278780"/>
            </a:xfrm>
            <a:prstGeom prst="rect">
              <a:avLst/>
            </a:prstGeom>
          </p:spPr>
        </p:pic>
        <p:cxnSp>
          <p:nvCxnSpPr>
            <p:cNvPr id="10" name="直線接點 9"/>
            <p:cNvCxnSpPr/>
            <p:nvPr/>
          </p:nvCxnSpPr>
          <p:spPr>
            <a:xfrm>
              <a:off x="4237893" y="4870939"/>
              <a:ext cx="6059455" cy="1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0"/>
            <p:cNvCxnSpPr/>
            <p:nvPr/>
          </p:nvCxnSpPr>
          <p:spPr>
            <a:xfrm>
              <a:off x="6131763" y="5222633"/>
              <a:ext cx="4325222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6834909" y="5621643"/>
              <a:ext cx="3622076" cy="2466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/>
            <p:nvPr/>
          </p:nvCxnSpPr>
          <p:spPr>
            <a:xfrm flipV="1">
              <a:off x="1000570" y="5997998"/>
              <a:ext cx="4171794" cy="1483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圖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601" y="527610"/>
            <a:ext cx="7613337" cy="141518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384297" y="1046202"/>
            <a:ext cx="39652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/>
              <a:t>Height tendency equation</a:t>
            </a:r>
            <a:endParaRPr lang="zh-TW" altLang="en-US" sz="2800" dirty="0"/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061" y="2047618"/>
            <a:ext cx="6406140" cy="1053966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593520" y="2262490"/>
            <a:ext cx="27919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/>
              <a:t>Vorticity equation</a:t>
            </a:r>
            <a:endParaRPr lang="zh-TW" altLang="en-US" sz="28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448153" y="163362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QG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135044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7F30E42E-DD58-5F29-EFDA-88C323FA775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918571"/>
                <a:ext cx="10515600" cy="419709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kumimoji="1" lang="zh-TW" altLang="en-US" sz="2400" dirty="0"/>
                  <a:t> 取決於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kumimoji="1"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𝜕𝜃</m:t>
                            </m:r>
                          </m:num>
                          <m:den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kumimoji="1" lang="en-US" altLang="zh-TW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  <m:sup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zh-TW" altLang="en-US" sz="2400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TW" sz="2400" b="0" i="0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kumimoji="1" lang="en-US" altLang="zh-TW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kumimoji="1" lang="en-US" altLang="zh-TW" sz="2400" b="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br>
                  <a:rPr kumimoji="1" lang="en-US" altLang="zh-TW" sz="2400" b="0" dirty="0"/>
                </a:br>
                <a:br>
                  <a:rPr kumimoji="1" lang="en-US" altLang="zh-TW" sz="2400" b="0" dirty="0"/>
                </a:br>
                <a:r>
                  <a:rPr kumimoji="1" lang="zh-TW" altLang="en-US" sz="2400" dirty="0"/>
                  <a:t>也就是等位溫上的高度變化和位溫的輻散</a:t>
                </a:r>
                <a:br>
                  <a:rPr kumimoji="1" lang="en-US" altLang="zh-TW" sz="2400" dirty="0"/>
                </a:br>
                <a:r>
                  <a:rPr kumimoji="1" lang="zh-TW" altLang="en-US" sz="2400" dirty="0"/>
                  <a:t>因為存在位溫上的高度變化讓氣壓隨時間有變化</a:t>
                </a:r>
                <a:br>
                  <a:rPr kumimoji="1" lang="en-US" altLang="zh-TW" sz="2400" dirty="0"/>
                </a:br>
                <a:r>
                  <a:rPr kumimoji="1" lang="zh-TW" altLang="en-US" sz="2400" dirty="0"/>
                  <a:t>像在</a:t>
                </a:r>
                <a:r>
                  <a:rPr kumimoji="1" lang="en-US" altLang="zh-TW" sz="2400" dirty="0"/>
                  <a:t>z=0</a:t>
                </a:r>
                <a:r>
                  <a:rPr kumimoji="1" lang="zh-TW" altLang="en-US" sz="2400" dirty="0"/>
                  <a:t>和</a:t>
                </a:r>
                <a:r>
                  <a:rPr kumimoji="1" lang="en-US" altLang="zh-TW" sz="2400" dirty="0"/>
                  <a:t>x=0</a:t>
                </a:r>
                <a:r>
                  <a:rPr kumimoji="1" lang="zh-TW" altLang="en-US" sz="2400" dirty="0"/>
                  <a:t>上有個突起</a:t>
                </a:r>
              </a:p>
            </p:txBody>
          </p:sp>
        </mc:Choice>
        <mc:Fallback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7F30E42E-DD58-5F29-EFDA-88C323FA77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918571"/>
                <a:ext cx="10515600" cy="4197093"/>
              </a:xfrm>
              <a:blipFill>
                <a:blip r:embed="rId2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2A43910B-20E5-AC8A-6A33-35CCAA3699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835" y="3429000"/>
            <a:ext cx="4503551" cy="3377663"/>
          </a:xfrm>
        </p:spPr>
      </p:pic>
      <p:grpSp>
        <p:nvGrpSpPr>
          <p:cNvPr id="4" name="群組 3">
            <a:extLst>
              <a:ext uri="{FF2B5EF4-FFF2-40B4-BE49-F238E27FC236}">
                <a16:creationId xmlns:a16="http://schemas.microsoft.com/office/drawing/2014/main" id="{837454BE-AC14-C0D4-1B55-D5E0442B53C0}"/>
              </a:ext>
            </a:extLst>
          </p:cNvPr>
          <p:cNvGrpSpPr/>
          <p:nvPr/>
        </p:nvGrpSpPr>
        <p:grpSpPr>
          <a:xfrm>
            <a:off x="838200" y="486297"/>
            <a:ext cx="6361043" cy="1519024"/>
            <a:chOff x="914401" y="4519246"/>
            <a:chExt cx="9542584" cy="2278780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484C28F9-8021-805D-6558-F38457A9BD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970" t="45129"/>
            <a:stretch/>
          </p:blipFill>
          <p:spPr>
            <a:xfrm>
              <a:off x="914401" y="4519246"/>
              <a:ext cx="9542584" cy="2278780"/>
            </a:xfrm>
            <a:prstGeom prst="rect">
              <a:avLst/>
            </a:prstGeom>
          </p:spPr>
        </p:pic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E82DF342-8417-EA14-77AC-E42465C2386E}"/>
                </a:ext>
              </a:extLst>
            </p:cNvPr>
            <p:cNvCxnSpPr/>
            <p:nvPr/>
          </p:nvCxnSpPr>
          <p:spPr>
            <a:xfrm>
              <a:off x="4237893" y="4870939"/>
              <a:ext cx="6059455" cy="1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C0376A38-8AEF-A8C9-8F53-AA5F5F70B116}"/>
                </a:ext>
              </a:extLst>
            </p:cNvPr>
            <p:cNvCxnSpPr/>
            <p:nvPr/>
          </p:nvCxnSpPr>
          <p:spPr>
            <a:xfrm>
              <a:off x="6131763" y="5222633"/>
              <a:ext cx="4325222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0740D105-9E8F-E8F5-7432-18A8AD9853C4}"/>
                </a:ext>
              </a:extLst>
            </p:cNvPr>
            <p:cNvCxnSpPr/>
            <p:nvPr/>
          </p:nvCxnSpPr>
          <p:spPr>
            <a:xfrm flipV="1">
              <a:off x="6834909" y="5621643"/>
              <a:ext cx="3622076" cy="2466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645748CC-50B8-8D19-60D6-DEBA501E027F}"/>
                </a:ext>
              </a:extLst>
            </p:cNvPr>
            <p:cNvCxnSpPr/>
            <p:nvPr/>
          </p:nvCxnSpPr>
          <p:spPr>
            <a:xfrm flipV="1">
              <a:off x="1000570" y="5997998"/>
              <a:ext cx="4171794" cy="1483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圖片 12">
            <a:extLst>
              <a:ext uri="{FF2B5EF4-FFF2-40B4-BE49-F238E27FC236}">
                <a16:creationId xmlns:a16="http://schemas.microsoft.com/office/drawing/2014/main" id="{D01E9788-CB5B-C1BA-6CD5-4C844AE400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986" y="260452"/>
            <a:ext cx="4421651" cy="331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059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682199-DC9A-6C38-8428-9BEAB30AB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3FB3C0C-F4E2-3C43-C8E6-494C583DF9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zh-TW" altLang="en-US" sz="2400" dirty="0"/>
                  <a:t>診斷渦度拉伸項：從</a:t>
                </a:r>
                <a:r>
                  <a:rPr kumimoji="1" lang="en-US" altLang="zh-TW" sz="2400" dirty="0"/>
                  <a:t>x-z</a:t>
                </a:r>
                <a:r>
                  <a:rPr kumimoji="1" lang="zh-TW" altLang="en-US" sz="2400" dirty="0"/>
                  <a:t>垂直運動圖來看，在</a:t>
                </a:r>
                <a:r>
                  <a:rPr kumimoji="1" lang="en-US" altLang="zh-TW" sz="2400" dirty="0"/>
                  <a:t>x=0</a:t>
                </a:r>
                <a:r>
                  <a:rPr kumimoji="1" lang="zh-TW" altLang="en-US" sz="2400" dirty="0"/>
                  <a:t>公里左右有上升運動，再遠離</a:t>
                </a:r>
                <a:r>
                  <a:rPr kumimoji="1" lang="en-US" altLang="zh-TW" sz="2400" dirty="0"/>
                  <a:t>x=0</a:t>
                </a:r>
                <a:r>
                  <a:rPr kumimoji="1" lang="zh-TW" altLang="en-US" sz="2400" dirty="0"/>
                  <a:t>則是下沉運動，且這垂直運動隨高度往上越強，也就是存在垂直向的速度差異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sz="2400" b="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kumimoji="1" lang="en-US" altLang="zh-TW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kumimoji="1" lang="en-US" altLang="zh-TW" sz="2400" b="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kumimoji="1" lang="en-US" altLang="zh-TW" sz="24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kumimoji="1" lang="zh-TW" altLang="en-US" sz="2400" b="0" dirty="0"/>
                  <a:t>，因為此拉伸項為正，讓靠近中心有</a:t>
                </a:r>
                <a:r>
                  <a:rPr kumimoji="1" lang="en-US" altLang="zh-TW" sz="2400" b="0" dirty="0"/>
                  <a:t>PV</a:t>
                </a:r>
                <a:r>
                  <a:rPr kumimoji="1" lang="zh-TW" altLang="en-US" sz="2400" b="0" dirty="0"/>
                  <a:t>存在</a:t>
                </a:r>
                <a:endParaRPr kumimoji="1" lang="en-US" altLang="zh-TW" sz="2400" b="0" dirty="0"/>
              </a:p>
              <a:p>
                <a:endParaRPr kumimoji="1"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3FB3C0C-F4E2-3C43-C8E6-494C583DF9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20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群組 4">
            <a:extLst>
              <a:ext uri="{FF2B5EF4-FFF2-40B4-BE49-F238E27FC236}">
                <a16:creationId xmlns:a16="http://schemas.microsoft.com/office/drawing/2014/main" id="{B6B2D067-E4C7-051C-2A39-403ECBF245E5}"/>
              </a:ext>
            </a:extLst>
          </p:cNvPr>
          <p:cNvGrpSpPr/>
          <p:nvPr/>
        </p:nvGrpSpPr>
        <p:grpSpPr>
          <a:xfrm>
            <a:off x="838200" y="171664"/>
            <a:ext cx="6361043" cy="1519024"/>
            <a:chOff x="914401" y="4519246"/>
            <a:chExt cx="9542584" cy="2278780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ED33A86A-8E14-81F8-0F8D-20730CD849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970" t="45129"/>
            <a:stretch/>
          </p:blipFill>
          <p:spPr>
            <a:xfrm>
              <a:off x="914401" y="4519246"/>
              <a:ext cx="9542584" cy="2278780"/>
            </a:xfrm>
            <a:prstGeom prst="rect">
              <a:avLst/>
            </a:prstGeom>
          </p:spPr>
        </p:pic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09D9CBB4-9C9D-51FC-E223-5DDB7334A1A8}"/>
                </a:ext>
              </a:extLst>
            </p:cNvPr>
            <p:cNvCxnSpPr/>
            <p:nvPr/>
          </p:nvCxnSpPr>
          <p:spPr>
            <a:xfrm>
              <a:off x="4237893" y="4870939"/>
              <a:ext cx="6059455" cy="1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066EF00A-F169-6F8D-1D50-6E928A56D48C}"/>
                </a:ext>
              </a:extLst>
            </p:cNvPr>
            <p:cNvCxnSpPr/>
            <p:nvPr/>
          </p:nvCxnSpPr>
          <p:spPr>
            <a:xfrm>
              <a:off x="6131763" y="5222633"/>
              <a:ext cx="4325222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7C644B87-DF34-2282-DCD0-FD2351A63A34}"/>
                </a:ext>
              </a:extLst>
            </p:cNvPr>
            <p:cNvCxnSpPr/>
            <p:nvPr/>
          </p:nvCxnSpPr>
          <p:spPr>
            <a:xfrm flipV="1">
              <a:off x="6834909" y="5621643"/>
              <a:ext cx="3622076" cy="2466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C40AEB26-0111-A095-E0BC-7A2F734F8012}"/>
                </a:ext>
              </a:extLst>
            </p:cNvPr>
            <p:cNvCxnSpPr/>
            <p:nvPr/>
          </p:nvCxnSpPr>
          <p:spPr>
            <a:xfrm flipV="1">
              <a:off x="1000570" y="5997998"/>
              <a:ext cx="4171794" cy="1483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ACFE6FDE-44FC-4D4E-1969-1D6CD5500F0C}"/>
              </a:ext>
            </a:extLst>
          </p:cNvPr>
          <p:cNvGrpSpPr/>
          <p:nvPr/>
        </p:nvGrpSpPr>
        <p:grpSpPr>
          <a:xfrm>
            <a:off x="6403011" y="3907925"/>
            <a:ext cx="5391423" cy="2362814"/>
            <a:chOff x="838200" y="4698550"/>
            <a:chExt cx="4553223" cy="1753349"/>
          </a:xfrm>
        </p:grpSpPr>
        <p:pic>
          <p:nvPicPr>
            <p:cNvPr id="11" name="內容版面配置區 15">
              <a:extLst>
                <a:ext uri="{FF2B5EF4-FFF2-40B4-BE49-F238E27FC236}">
                  <a16:creationId xmlns:a16="http://schemas.microsoft.com/office/drawing/2014/main" id="{F14C1C37-77DA-5D44-4A26-7446AA692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4698550"/>
              <a:ext cx="2337798" cy="1753349"/>
            </a:xfrm>
            <a:prstGeom prst="rect">
              <a:avLst/>
            </a:prstGeom>
          </p:spPr>
        </p:pic>
        <p:pic>
          <p:nvPicPr>
            <p:cNvPr id="12" name="內容版面配置區 4">
              <a:extLst>
                <a:ext uri="{FF2B5EF4-FFF2-40B4-BE49-F238E27FC236}">
                  <a16:creationId xmlns:a16="http://schemas.microsoft.com/office/drawing/2014/main" id="{A9F1C1C6-4D84-76E8-2685-95B604ABA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3625" y="4698550"/>
              <a:ext cx="2337798" cy="1753348"/>
            </a:xfrm>
            <a:prstGeom prst="rect">
              <a:avLst/>
            </a:prstGeom>
          </p:spPr>
        </p:pic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F3C4E764-12A2-43E4-10C1-B7D989784B60}"/>
              </a:ext>
            </a:extLst>
          </p:cNvPr>
          <p:cNvGrpSpPr/>
          <p:nvPr/>
        </p:nvGrpSpPr>
        <p:grpSpPr>
          <a:xfrm>
            <a:off x="307338" y="3907925"/>
            <a:ext cx="6361043" cy="2362814"/>
            <a:chOff x="895640" y="4875695"/>
            <a:chExt cx="4338547" cy="1642623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0FA4994B-1C4B-1BAB-700B-8B0350561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5640" y="4875695"/>
              <a:ext cx="2157985" cy="1618490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51186A60-94E5-5046-B835-B770ADE89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3625" y="4882896"/>
              <a:ext cx="2180562" cy="16354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7775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64014AF9-ED8D-46A5-93C9-50CAC65C42C6}"/>
              </a:ext>
            </a:extLst>
          </p:cNvPr>
          <p:cNvSpPr txBox="1">
            <a:spLocks/>
          </p:cNvSpPr>
          <p:nvPr/>
        </p:nvSpPr>
        <p:spPr>
          <a:xfrm>
            <a:off x="1006875" y="995878"/>
            <a:ext cx="10515600" cy="5788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3600" spc="300" dirty="0">
                <a:latin typeface="源泉圓體 B" panose="020B0800000000000000" pitchFamily="34" charset="-120"/>
                <a:ea typeface="源泉圓體 B" panose="020B0800000000000000" pitchFamily="34" charset="-120"/>
                <a:cs typeface="Arial" panose="020B0604020202020204" pitchFamily="34" charset="0"/>
              </a:rPr>
              <a:t>注意事項</a:t>
            </a:r>
            <a:r>
              <a:rPr lang="en-US" altLang="zh-TW" sz="3600" spc="300" dirty="0">
                <a:latin typeface="源泉圓體 B" panose="020B0800000000000000" pitchFamily="34" charset="-120"/>
                <a:ea typeface="源泉圓體 B" panose="020B0800000000000000" pitchFamily="34" charset="-120"/>
                <a:cs typeface="Arial" panose="020B0604020202020204" pitchFamily="34" charset="0"/>
              </a:rPr>
              <a:t>:</a:t>
            </a:r>
          </a:p>
          <a:p>
            <a:endParaRPr lang="en-US" altLang="zh-TW" dirty="0">
              <a:latin typeface="源泉圓體 B" panose="020B0800000000000000" pitchFamily="34" charset="-120"/>
              <a:ea typeface="源泉圓體 B" panose="020B0800000000000000" pitchFamily="34" charset="-120"/>
              <a:cs typeface="Arial" panose="020B0604020202020204" pitchFamily="34" charset="0"/>
            </a:endParaRPr>
          </a:p>
          <a:p>
            <a:r>
              <a:rPr lang="en-US" altLang="zh-TW" dirty="0">
                <a:latin typeface="源泉圓體 B" panose="020B0800000000000000" pitchFamily="34" charset="-120"/>
                <a:ea typeface="源泉圓體 B" panose="020B0800000000000000" pitchFamily="34" charset="-120"/>
                <a:cs typeface="Arial" panose="020B0604020202020204" pitchFamily="34" charset="0"/>
              </a:rPr>
              <a:t>Textbook HW3 deadline: 06/12 (Next Mon.) 23:59</a:t>
            </a:r>
          </a:p>
          <a:p>
            <a:r>
              <a:rPr lang="en-US" altLang="zh-TW" dirty="0">
                <a:latin typeface="源泉圓體 B" panose="020B0800000000000000" pitchFamily="34" charset="-120"/>
                <a:ea typeface="源泉圓體 B" panose="020B0800000000000000" pitchFamily="34" charset="-120"/>
                <a:cs typeface="Arial" panose="020B0604020202020204" pitchFamily="34" charset="0"/>
              </a:rPr>
              <a:t>In-class problems 3 deadline: 06/12 (Next Mon.) 23:59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dirty="0">
              <a:latin typeface="源泉圓體 B" panose="020B0800000000000000" pitchFamily="34" charset="-120"/>
              <a:ea typeface="源泉圓體 B" panose="020B0800000000000000" pitchFamily="34" charset="-120"/>
              <a:cs typeface="Arial" panose="020B0604020202020204" pitchFamily="34" charset="0"/>
            </a:endParaRPr>
          </a:p>
          <a:p>
            <a:r>
              <a:rPr lang="en-US" altLang="zh-TW" dirty="0" err="1">
                <a:latin typeface="源泉圓體 B" panose="020B0800000000000000" pitchFamily="34" charset="-120"/>
                <a:ea typeface="源泉圓體 B" panose="020B0800000000000000" pitchFamily="34" charset="-120"/>
                <a:cs typeface="Arial" panose="020B0604020202020204" pitchFamily="34" charset="0"/>
              </a:rPr>
              <a:t>Matlab</a:t>
            </a:r>
            <a:r>
              <a:rPr lang="en-US" altLang="zh-TW" dirty="0">
                <a:latin typeface="源泉圓體 B" panose="020B0800000000000000" pitchFamily="34" charset="-120"/>
                <a:ea typeface="源泉圓體 B" panose="020B0800000000000000" pitchFamily="34" charset="-120"/>
                <a:cs typeface="Arial" panose="020B0604020202020204" pitchFamily="34" charset="0"/>
              </a:rPr>
              <a:t> HW3 </a:t>
            </a:r>
            <a:r>
              <a:rPr lang="en-US" altLang="zh-TW" sz="2000" dirty="0">
                <a:latin typeface="源泉圓體 B" panose="020B0800000000000000" pitchFamily="34" charset="-120"/>
                <a:ea typeface="源泉圓體 B" panose="020B0800000000000000" pitchFamily="34" charset="-120"/>
                <a:cs typeface="Arial" panose="020B0604020202020204" pitchFamily="34" charset="0"/>
              </a:rPr>
              <a:t>(bonus) </a:t>
            </a:r>
            <a:r>
              <a:rPr lang="en-US" altLang="zh-TW" dirty="0">
                <a:latin typeface="源泉圓體 B" panose="020B0800000000000000" pitchFamily="34" charset="-120"/>
                <a:ea typeface="源泉圓體 B" panose="020B0800000000000000" pitchFamily="34" charset="-120"/>
                <a:cs typeface="Arial" panose="020B0604020202020204" pitchFamily="34" charset="0"/>
              </a:rPr>
              <a:t>deadline: 06/12 (Mon.) 23:59</a:t>
            </a:r>
          </a:p>
          <a:p>
            <a:endParaRPr lang="en-US" altLang="zh-TW" dirty="0">
              <a:latin typeface="源泉圓體 B" panose="020B0800000000000000" pitchFamily="34" charset="-120"/>
              <a:ea typeface="源泉圓體 B" panose="020B0800000000000000" pitchFamily="34" charset="-120"/>
              <a:cs typeface="Arial" panose="020B0604020202020204" pitchFamily="34" charset="0"/>
            </a:endParaRPr>
          </a:p>
          <a:p>
            <a:r>
              <a:rPr lang="en-US" altLang="zh-TW" dirty="0">
                <a:latin typeface="源泉圓體 B" panose="020B0800000000000000" pitchFamily="34" charset="-120"/>
                <a:ea typeface="源泉圓體 B" panose="020B0800000000000000" pitchFamily="34" charset="-120"/>
                <a:cs typeface="Arial" panose="020B0604020202020204" pitchFamily="34" charset="0"/>
              </a:rPr>
              <a:t>Final exam </a:t>
            </a:r>
            <a:r>
              <a:rPr lang="en-US" altLang="zh-TW" sz="2000" dirty="0">
                <a:latin typeface="源泉圓體 B" panose="020B0800000000000000" pitchFamily="34" charset="-120"/>
                <a:ea typeface="源泉圓體 B" panose="020B0800000000000000" pitchFamily="34" charset="-120"/>
                <a:cs typeface="Arial" panose="020B0604020202020204" pitchFamily="34" charset="0"/>
              </a:rPr>
              <a:t>(Ch6 &amp; Ch8) </a:t>
            </a:r>
            <a:r>
              <a:rPr lang="en-US" altLang="zh-TW" dirty="0">
                <a:latin typeface="源泉圓體 B" panose="020B0800000000000000" pitchFamily="34" charset="-120"/>
                <a:ea typeface="源泉圓體 B" panose="020B0800000000000000" pitchFamily="34" charset="-120"/>
                <a:cs typeface="Arial" panose="020B0604020202020204" pitchFamily="34" charset="0"/>
              </a:rPr>
              <a:t>: 06/07 (Wed.) </a:t>
            </a:r>
            <a:r>
              <a:rPr lang="en-US" altLang="zh-TW" dirty="0">
                <a:solidFill>
                  <a:srgbClr val="FF0000"/>
                </a:solidFill>
                <a:latin typeface="源泉圓體 B" panose="020B0800000000000000" pitchFamily="34" charset="-120"/>
                <a:ea typeface="源泉圓體 B" panose="020B0800000000000000" pitchFamily="34" charset="-120"/>
                <a:cs typeface="Arial" panose="020B0604020202020204" pitchFamily="34" charset="0"/>
              </a:rPr>
              <a:t>08:10 – 10:00</a:t>
            </a:r>
          </a:p>
          <a:p>
            <a:r>
              <a:rPr lang="zh-TW" altLang="en-US" dirty="0">
                <a:solidFill>
                  <a:srgbClr val="FF0000"/>
                </a:solidFill>
                <a:latin typeface="源泉圓體 B" panose="020B0800000000000000" pitchFamily="34" charset="-120"/>
                <a:ea typeface="源泉圓體 B" panose="020B0800000000000000" pitchFamily="34" charset="-120"/>
                <a:cs typeface="Arial" panose="020B0604020202020204" pitchFamily="34" charset="0"/>
              </a:rPr>
              <a:t>這有點難，短時間內寫不出來，我盡力了</a:t>
            </a:r>
            <a:endParaRPr lang="en-US" altLang="zh-TW" dirty="0">
              <a:solidFill>
                <a:srgbClr val="FF0000"/>
              </a:solidFill>
              <a:latin typeface="源泉圓體 B" panose="020B0800000000000000" pitchFamily="34" charset="-120"/>
              <a:ea typeface="源泉圓體 B" panose="020B0800000000000000" pitchFamily="34" charset="-120"/>
              <a:cs typeface="Arial" panose="020B0604020202020204" pitchFamily="34" charset="0"/>
            </a:endParaRPr>
          </a:p>
          <a:p>
            <a:r>
              <a:rPr lang="zh-TW" altLang="en-US" dirty="0">
                <a:solidFill>
                  <a:srgbClr val="FF0000"/>
                </a:solidFill>
                <a:latin typeface="源泉圓體 B" panose="020B0800000000000000" pitchFamily="34" charset="-120"/>
                <a:ea typeface="源泉圓體 B" panose="020B0800000000000000" pitchFamily="34" charset="-120"/>
                <a:cs typeface="Arial" panose="020B0604020202020204" pitchFamily="34" charset="0"/>
              </a:rPr>
              <a:t>為什麼要拿</a:t>
            </a:r>
            <a:r>
              <a:rPr lang="en-US" altLang="zh-TW" dirty="0">
                <a:solidFill>
                  <a:srgbClr val="FF0000"/>
                </a:solidFill>
                <a:latin typeface="源泉圓體 B" panose="020B0800000000000000" pitchFamily="34" charset="-120"/>
                <a:ea typeface="源泉圓體 B" panose="020B0800000000000000" pitchFamily="34" charset="-120"/>
                <a:cs typeface="Arial" panose="020B0604020202020204" pitchFamily="34" charset="0"/>
              </a:rPr>
              <a:t>dynamic </a:t>
            </a:r>
            <a:r>
              <a:rPr lang="en-US" altLang="zh-TW" dirty="0" err="1">
                <a:solidFill>
                  <a:srgbClr val="FF0000"/>
                </a:solidFill>
                <a:latin typeface="源泉圓體 B" panose="020B0800000000000000" pitchFamily="34" charset="-120"/>
                <a:ea typeface="源泉圓體 B" panose="020B0800000000000000" pitchFamily="34" charset="-120"/>
                <a:cs typeface="Arial" panose="020B0604020202020204" pitchFamily="34" charset="0"/>
              </a:rPr>
              <a:t>meteology</a:t>
            </a:r>
            <a:r>
              <a:rPr lang="zh-TW" altLang="en-US">
                <a:solidFill>
                  <a:srgbClr val="FF0000"/>
                </a:solidFill>
                <a:latin typeface="源泉圓體 B" panose="020B0800000000000000" pitchFamily="34" charset="-120"/>
                <a:ea typeface="源泉圓體 B" panose="020B0800000000000000" pitchFamily="34" charset="-120"/>
                <a:cs typeface="Arial" panose="020B0604020202020204" pitchFamily="34" charset="0"/>
              </a:rPr>
              <a:t>問題來問我們🥹</a:t>
            </a:r>
            <a:endParaRPr lang="zh-TW" altLang="en-US" dirty="0">
              <a:solidFill>
                <a:srgbClr val="FF0000"/>
              </a:solidFill>
              <a:latin typeface="源泉圓體 B" panose="020B0800000000000000" pitchFamily="34" charset="-120"/>
              <a:ea typeface="源泉圓體 B" panose="020B0800000000000000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935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2032</TotalTime>
  <Words>392</Words>
  <Application>Microsoft Macintosh PowerPoint</Application>
  <PresentationFormat>寬螢幕</PresentationFormat>
  <Paragraphs>49</Paragraphs>
  <Slides>20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8" baseType="lpstr">
      <vt:lpstr>源泉圓體 H</vt:lpstr>
      <vt:lpstr>Calibri</vt:lpstr>
      <vt:lpstr>Cambria Math</vt:lpstr>
      <vt:lpstr>源泉圓體 B</vt:lpstr>
      <vt:lpstr>Arial Black</vt:lpstr>
      <vt:lpstr>Calibri Light</vt:lpstr>
      <vt:lpstr>Arial</vt:lpstr>
      <vt:lpstr>Office 佈景主題</vt:lpstr>
      <vt:lpstr>Matlab HW3  2023.06.05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∂p/∂t 取決於 〖∂θ/∂z〗^(-1)和∇_h θ  也就是等位溫上的高度變化和位溫的輻散 因為存在位溫上的高度變化讓氣壓隨時間有變化 像在z=0和x=0上有個突起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Matlab TA class #3</dc:title>
  <dc:creator>user</dc:creator>
  <cp:lastModifiedBy>韋杰 劉</cp:lastModifiedBy>
  <cp:revision>65</cp:revision>
  <dcterms:created xsi:type="dcterms:W3CDTF">2018-12-22T05:28:18Z</dcterms:created>
  <dcterms:modified xsi:type="dcterms:W3CDTF">2023-06-14T14:08:10Z</dcterms:modified>
</cp:coreProperties>
</file>